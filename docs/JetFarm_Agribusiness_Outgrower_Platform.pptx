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0"/>
            <a:ext cx="12188952"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988552" y="0"/>
            <a:ext cx="3200400" cy="6858000"/>
          </a:xfrm>
          <a:prstGeom prst="rect">
            <a:avLst/>
          </a:prstGeom>
          <a:solidFill>
            <a:srgbClr val="033A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0"/>
            <a:ext cx="8229600" cy="822960"/>
          </a:xfrm>
          <a:prstGeom prst="rect">
            <a:avLst/>
          </a:prstGeom>
          <a:noFill/>
        </p:spPr>
        <p:txBody>
          <a:bodyPr wrap="square">
            <a:spAutoFit/>
          </a:bodyPr>
          <a:lstStyle/>
          <a:p>
            <a:pPr algn="l"/>
            <a:r>
              <a:rPr sz="2000" b="1" i="0">
                <a:solidFill>
                  <a:srgbClr val="6EE7B7"/>
                </a:solidFill>
              </a:rPr>
              <a:t>🌾 JetFarm</a:t>
            </a:r>
          </a:p>
        </p:txBody>
      </p:sp>
      <p:sp>
        <p:nvSpPr>
          <p:cNvPr id="6" name="TextBox 5"/>
          <p:cNvSpPr txBox="1"/>
          <p:nvPr/>
        </p:nvSpPr>
        <p:spPr>
          <a:xfrm>
            <a:off x="640080" y="1737360"/>
            <a:ext cx="8229600" cy="1645920"/>
          </a:xfrm>
          <a:prstGeom prst="rect">
            <a:avLst/>
          </a:prstGeom>
          <a:noFill/>
        </p:spPr>
        <p:txBody>
          <a:bodyPr wrap="square">
            <a:spAutoFit/>
          </a:bodyPr>
          <a:lstStyle/>
          <a:p>
            <a:pPr algn="l"/>
            <a:r>
              <a:rPr sz="4600" b="1" i="0">
                <a:solidFill>
                  <a:srgbClr val="FFFFFF"/>
                </a:solidFill>
              </a:rPr>
              <a:t>Agribusiness
Outgrower Platform</a:t>
            </a:r>
          </a:p>
        </p:txBody>
      </p:sp>
      <p:sp>
        <p:nvSpPr>
          <p:cNvPr id="7" name="TextBox 6"/>
          <p:cNvSpPr txBox="1"/>
          <p:nvPr/>
        </p:nvSpPr>
        <p:spPr>
          <a:xfrm>
            <a:off x="640080" y="3429000"/>
            <a:ext cx="7772400" cy="548640"/>
          </a:xfrm>
          <a:prstGeom prst="rect">
            <a:avLst/>
          </a:prstGeom>
          <a:noFill/>
        </p:spPr>
        <p:txBody>
          <a:bodyPr wrap="square">
            <a:spAutoFit/>
          </a:bodyPr>
          <a:lstStyle/>
          <a:p>
            <a:pPr algn="l"/>
            <a:r>
              <a:rPr sz="1700" b="0" i="0">
                <a:solidFill>
                  <a:srgbClr val="A7F3D0"/>
                </a:solidFill>
              </a:rPr>
              <a:t>Step-by-Step Module Training &amp; Operational Guide</a:t>
            </a:r>
          </a:p>
        </p:txBody>
      </p:sp>
      <p:sp>
        <p:nvSpPr>
          <p:cNvPr id="8" name="TextBox 7"/>
          <p:cNvSpPr txBox="1"/>
          <p:nvPr/>
        </p:nvSpPr>
        <p:spPr>
          <a:xfrm>
            <a:off x="640080" y="4069080"/>
            <a:ext cx="7772400" cy="731520"/>
          </a:xfrm>
          <a:prstGeom prst="rect">
            <a:avLst/>
          </a:prstGeom>
          <a:noFill/>
        </p:spPr>
        <p:txBody>
          <a:bodyPr wrap="square">
            <a:spAutoFit/>
          </a:bodyPr>
          <a:lstStyle/>
          <a:p>
            <a:pPr algn="l"/>
            <a:r>
              <a:rPr sz="1150" b="0" i="0">
                <a:solidFill>
                  <a:srgbClr val="6EE7B7"/>
                </a:solidFill>
              </a:rPr>
              <a:t>Land Parcels  •  GPS Mapping  •  Crop Cycles  •  Harvest Scale
Settlements  •  Investor Ledger  •  Labor &amp; Payroll  •  P&amp;L Analytics</a:t>
            </a:r>
          </a:p>
        </p:txBody>
      </p:sp>
      <p:sp>
        <p:nvSpPr>
          <p:cNvPr id="9" name="TextBox 8"/>
          <p:cNvSpPr txBox="1"/>
          <p:nvPr/>
        </p:nvSpPr>
        <p:spPr>
          <a:xfrm>
            <a:off x="640080" y="6126480"/>
            <a:ext cx="7772400" cy="365760"/>
          </a:xfrm>
          <a:prstGeom prst="rect">
            <a:avLst/>
          </a:prstGeom>
          <a:noFill/>
        </p:spPr>
        <p:txBody>
          <a:bodyPr wrap="square">
            <a:spAutoFit/>
          </a:bodyPr>
          <a:lstStyle/>
          <a:p>
            <a:pPr algn="l"/>
            <a:r>
              <a:rPr sz="1000" b="0" i="0">
                <a:solidFill>
                  <a:srgbClr val="6B7280"/>
                </a:solidFill>
              </a:rPr>
              <a:t>Operator: Mr. Jojet Montera  |  Currency: ₱ PHP  |  Oct 2026</a:t>
            </a:r>
          </a:p>
        </p:txBody>
      </p:sp>
      <p:sp>
        <p:nvSpPr>
          <p:cNvPr id="10" name="TextBox 9"/>
          <p:cNvSpPr txBox="1"/>
          <p:nvPr/>
        </p:nvSpPr>
        <p:spPr>
          <a:xfrm>
            <a:off x="9171432" y="457200"/>
            <a:ext cx="2834640" cy="475488"/>
          </a:xfrm>
          <a:prstGeom prst="rect">
            <a:avLst/>
          </a:prstGeom>
          <a:noFill/>
        </p:spPr>
        <p:txBody>
          <a:bodyPr wrap="square">
            <a:spAutoFit/>
          </a:bodyPr>
          <a:lstStyle/>
          <a:p>
            <a:pPr algn="l"/>
            <a:r>
              <a:rPr sz="1000" b="0" i="0">
                <a:solidFill>
                  <a:srgbClr val="A7F3D0"/>
                </a:solidFill>
              </a:rPr>
              <a:t>1. Operator Command Center</a:t>
            </a:r>
          </a:p>
        </p:txBody>
      </p:sp>
      <p:sp>
        <p:nvSpPr>
          <p:cNvPr id="11" name="TextBox 10"/>
          <p:cNvSpPr txBox="1"/>
          <p:nvPr/>
        </p:nvSpPr>
        <p:spPr>
          <a:xfrm>
            <a:off x="9171432" y="1024128"/>
            <a:ext cx="2834640" cy="475488"/>
          </a:xfrm>
          <a:prstGeom prst="rect">
            <a:avLst/>
          </a:prstGeom>
          <a:noFill/>
        </p:spPr>
        <p:txBody>
          <a:bodyPr wrap="square">
            <a:spAutoFit/>
          </a:bodyPr>
          <a:lstStyle/>
          <a:p>
            <a:pPr algn="l"/>
            <a:r>
              <a:rPr sz="1000" b="0" i="0">
                <a:solidFill>
                  <a:srgbClr val="A7F3D0"/>
                </a:solidFill>
              </a:rPr>
              <a:t>2. Land Parcels Registry</a:t>
            </a:r>
          </a:p>
        </p:txBody>
      </p:sp>
      <p:sp>
        <p:nvSpPr>
          <p:cNvPr id="12" name="TextBox 11"/>
          <p:cNvSpPr txBox="1"/>
          <p:nvPr/>
        </p:nvSpPr>
        <p:spPr>
          <a:xfrm>
            <a:off x="9171432" y="1591056"/>
            <a:ext cx="2834640" cy="475488"/>
          </a:xfrm>
          <a:prstGeom prst="rect">
            <a:avLst/>
          </a:prstGeom>
          <a:noFill/>
        </p:spPr>
        <p:txBody>
          <a:bodyPr wrap="square">
            <a:spAutoFit/>
          </a:bodyPr>
          <a:lstStyle/>
          <a:p>
            <a:pPr algn="l"/>
            <a:r>
              <a:rPr sz="1000" b="0" i="0">
                <a:solidFill>
                  <a:srgbClr val="A7F3D0"/>
                </a:solidFill>
              </a:rPr>
              <a:t>3. GPS Boundary Mapping</a:t>
            </a:r>
          </a:p>
        </p:txBody>
      </p:sp>
      <p:sp>
        <p:nvSpPr>
          <p:cNvPr id="13" name="TextBox 12"/>
          <p:cNvSpPr txBox="1"/>
          <p:nvPr/>
        </p:nvSpPr>
        <p:spPr>
          <a:xfrm>
            <a:off x="9171432" y="2157984"/>
            <a:ext cx="2834640" cy="475488"/>
          </a:xfrm>
          <a:prstGeom prst="rect">
            <a:avLst/>
          </a:prstGeom>
          <a:noFill/>
        </p:spPr>
        <p:txBody>
          <a:bodyPr wrap="square">
            <a:spAutoFit/>
          </a:bodyPr>
          <a:lstStyle/>
          <a:p>
            <a:pPr algn="l"/>
            <a:r>
              <a:rPr sz="1000" b="0" i="0">
                <a:solidFill>
                  <a:srgbClr val="A7F3D0"/>
                </a:solidFill>
              </a:rPr>
              <a:t>4. Cassava Crop Cycles</a:t>
            </a:r>
          </a:p>
        </p:txBody>
      </p:sp>
      <p:sp>
        <p:nvSpPr>
          <p:cNvPr id="14" name="TextBox 13"/>
          <p:cNvSpPr txBox="1"/>
          <p:nvPr/>
        </p:nvSpPr>
        <p:spPr>
          <a:xfrm>
            <a:off x="9171432" y="2724912"/>
            <a:ext cx="2834640" cy="475488"/>
          </a:xfrm>
          <a:prstGeom prst="rect">
            <a:avLst/>
          </a:prstGeom>
          <a:noFill/>
        </p:spPr>
        <p:txBody>
          <a:bodyPr wrap="square">
            <a:spAutoFit/>
          </a:bodyPr>
          <a:lstStyle/>
          <a:p>
            <a:pPr algn="l"/>
            <a:r>
              <a:rPr sz="1000" b="0" i="0">
                <a:solidFill>
                  <a:srgbClr val="A7F3D0"/>
                </a:solidFill>
              </a:rPr>
              <a:t>5. Harvest Scale Terminal</a:t>
            </a:r>
          </a:p>
        </p:txBody>
      </p:sp>
      <p:sp>
        <p:nvSpPr>
          <p:cNvPr id="15" name="TextBox 14"/>
          <p:cNvSpPr txBox="1"/>
          <p:nvPr/>
        </p:nvSpPr>
        <p:spPr>
          <a:xfrm>
            <a:off x="9171432" y="3291840"/>
            <a:ext cx="2834640" cy="475488"/>
          </a:xfrm>
          <a:prstGeom prst="rect">
            <a:avLst/>
          </a:prstGeom>
          <a:noFill/>
        </p:spPr>
        <p:txBody>
          <a:bodyPr wrap="square">
            <a:spAutoFit/>
          </a:bodyPr>
          <a:lstStyle/>
          <a:p>
            <a:pPr algn="l"/>
            <a:r>
              <a:rPr sz="1000" b="0" i="0">
                <a:solidFill>
                  <a:srgbClr val="A7F3D0"/>
                </a:solidFill>
              </a:rPr>
              <a:t>6. Land Owner Settlements</a:t>
            </a:r>
          </a:p>
        </p:txBody>
      </p:sp>
      <p:sp>
        <p:nvSpPr>
          <p:cNvPr id="16" name="TextBox 15"/>
          <p:cNvSpPr txBox="1"/>
          <p:nvPr/>
        </p:nvSpPr>
        <p:spPr>
          <a:xfrm>
            <a:off x="9171432" y="3858768"/>
            <a:ext cx="2834640" cy="475488"/>
          </a:xfrm>
          <a:prstGeom prst="rect">
            <a:avLst/>
          </a:prstGeom>
          <a:noFill/>
        </p:spPr>
        <p:txBody>
          <a:bodyPr wrap="square">
            <a:spAutoFit/>
          </a:bodyPr>
          <a:lstStyle/>
          <a:p>
            <a:pPr algn="l"/>
            <a:r>
              <a:rPr sz="1000" b="0" i="0">
                <a:solidFill>
                  <a:srgbClr val="A7F3D0"/>
                </a:solidFill>
              </a:rPr>
              <a:t>7. BioGreen Investor Ledger</a:t>
            </a:r>
          </a:p>
        </p:txBody>
      </p:sp>
      <p:sp>
        <p:nvSpPr>
          <p:cNvPr id="17" name="TextBox 16"/>
          <p:cNvSpPr txBox="1"/>
          <p:nvPr/>
        </p:nvSpPr>
        <p:spPr>
          <a:xfrm>
            <a:off x="9171432" y="4425696"/>
            <a:ext cx="2834640" cy="475488"/>
          </a:xfrm>
          <a:prstGeom prst="rect">
            <a:avLst/>
          </a:prstGeom>
          <a:noFill/>
        </p:spPr>
        <p:txBody>
          <a:bodyPr wrap="square">
            <a:spAutoFit/>
          </a:bodyPr>
          <a:lstStyle/>
          <a:p>
            <a:pPr algn="l"/>
            <a:r>
              <a:rPr sz="1000" b="0" i="0">
                <a:solidFill>
                  <a:srgbClr val="A7F3D0"/>
                </a:solidFill>
              </a:rPr>
              <a:t>8. Farm Labor &amp; Payroll</a:t>
            </a:r>
          </a:p>
        </p:txBody>
      </p:sp>
      <p:sp>
        <p:nvSpPr>
          <p:cNvPr id="18" name="TextBox 17"/>
          <p:cNvSpPr txBox="1"/>
          <p:nvPr/>
        </p:nvSpPr>
        <p:spPr>
          <a:xfrm>
            <a:off x="9171432" y="4992624"/>
            <a:ext cx="2834640" cy="475488"/>
          </a:xfrm>
          <a:prstGeom prst="rect">
            <a:avLst/>
          </a:prstGeom>
          <a:noFill/>
        </p:spPr>
        <p:txBody>
          <a:bodyPr wrap="square">
            <a:spAutoFit/>
          </a:bodyPr>
          <a:lstStyle/>
          <a:p>
            <a:pPr algn="l"/>
            <a:r>
              <a:rPr sz="1000" b="0" i="0">
                <a:solidFill>
                  <a:srgbClr val="A7F3D0"/>
                </a:solidFill>
              </a:rPr>
              <a:t>9. Farm Input Expenses</a:t>
            </a:r>
          </a:p>
        </p:txBody>
      </p:sp>
      <p:sp>
        <p:nvSpPr>
          <p:cNvPr id="19" name="TextBox 18"/>
          <p:cNvSpPr txBox="1"/>
          <p:nvPr/>
        </p:nvSpPr>
        <p:spPr>
          <a:xfrm>
            <a:off x="9171432" y="5559552"/>
            <a:ext cx="2834640" cy="475488"/>
          </a:xfrm>
          <a:prstGeom prst="rect">
            <a:avLst/>
          </a:prstGeom>
          <a:noFill/>
        </p:spPr>
        <p:txBody>
          <a:bodyPr wrap="square">
            <a:spAutoFit/>
          </a:bodyPr>
          <a:lstStyle/>
          <a:p>
            <a:pPr algn="l"/>
            <a:r>
              <a:rPr sz="1000" b="0" i="0">
                <a:solidFill>
                  <a:srgbClr val="A7F3D0"/>
                </a:solidFill>
              </a:rPr>
              <a:t>10. P&amp;L &amp; Yield Analytics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640080"/>
          </a:xfrm>
          <a:prstGeom prst="rect">
            <a:avLst/>
          </a:prstGeom>
          <a:noFill/>
        </p:spPr>
        <p:txBody>
          <a:bodyPr wrap="square">
            <a:spAutoFit/>
          </a:bodyPr>
          <a:lstStyle/>
          <a:p>
            <a:pPr algn="l"/>
            <a:r>
              <a:rPr sz="2800" b="1" i="0">
                <a:solidFill>
                  <a:srgbClr val="FFFFFF"/>
                </a:solidFill>
              </a:rPr>
              <a:t>Platform Overview</a:t>
            </a:r>
          </a:p>
        </p:txBody>
      </p:sp>
      <p:sp>
        <p:nvSpPr>
          <p:cNvPr id="5" name="TextBox 4"/>
          <p:cNvSpPr txBox="1"/>
          <p:nvPr/>
        </p:nvSpPr>
        <p:spPr>
          <a:xfrm>
            <a:off x="457200" y="685800"/>
            <a:ext cx="11274552" cy="457200"/>
          </a:xfrm>
          <a:prstGeom prst="rect">
            <a:avLst/>
          </a:prstGeom>
          <a:noFill/>
        </p:spPr>
        <p:txBody>
          <a:bodyPr wrap="square">
            <a:spAutoFit/>
          </a:bodyPr>
          <a:lstStyle/>
          <a:p>
            <a:pPr algn="l"/>
            <a:r>
              <a:rPr sz="1300" b="0" i="0">
                <a:solidFill>
                  <a:srgbClr val="A7F3D0"/>
                </a:solidFill>
              </a:rPr>
              <a:t>What the Agribusiness Outgrower Platform does</a:t>
            </a:r>
          </a:p>
        </p:txBody>
      </p:sp>
      <p:sp>
        <p:nvSpPr>
          <p:cNvPr id="6" name="Rectangle 5"/>
          <p:cNvSpPr/>
          <p:nvPr/>
        </p:nvSpPr>
        <p:spPr>
          <a:xfrm>
            <a:off x="0" y="6537960"/>
            <a:ext cx="12188952" cy="32004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65392"/>
            <a:ext cx="7315200" cy="274320"/>
          </a:xfrm>
          <a:prstGeom prst="rect">
            <a:avLst/>
          </a:prstGeom>
          <a:noFill/>
        </p:spPr>
        <p:txBody>
          <a:bodyPr wrap="square">
            <a:spAutoFit/>
          </a:bodyPr>
          <a:lstStyle/>
          <a:p>
            <a:pPr algn="l"/>
            <a:r>
              <a:rPr sz="800" b="0" i="0">
                <a:solidFill>
                  <a:srgbClr val="9CA3AF"/>
                </a:solidFill>
              </a:rPr>
              <a:t>JetFarm Agribusiness Outgrower Platform  |  Confidential</a:t>
            </a:r>
          </a:p>
        </p:txBody>
      </p:sp>
      <p:sp>
        <p:nvSpPr>
          <p:cNvPr id="8" name="TextBox 7"/>
          <p:cNvSpPr txBox="1"/>
          <p:nvPr/>
        </p:nvSpPr>
        <p:spPr>
          <a:xfrm>
            <a:off x="10360152" y="6565392"/>
            <a:ext cx="1645920" cy="274320"/>
          </a:xfrm>
          <a:prstGeom prst="rect">
            <a:avLst/>
          </a:prstGeom>
          <a:noFill/>
        </p:spPr>
        <p:txBody>
          <a:bodyPr wrap="square">
            <a:spAutoFit/>
          </a:bodyPr>
          <a:lstStyle/>
          <a:p>
            <a:pPr algn="r"/>
            <a:r>
              <a:rPr sz="800" b="0" i="0">
                <a:solidFill>
                  <a:srgbClr val="9CA3AF"/>
                </a:solidFill>
              </a:rPr>
              <a:t>Slide 2 / 14</a:t>
            </a:r>
          </a:p>
        </p:txBody>
      </p:sp>
      <p:sp>
        <p:nvSpPr>
          <p:cNvPr id="9" name="TextBox 8"/>
          <p:cNvSpPr txBox="1"/>
          <p:nvPr/>
        </p:nvSpPr>
        <p:spPr>
          <a:xfrm>
            <a:off x="457200" y="1371600"/>
            <a:ext cx="11247120" cy="640080"/>
          </a:xfrm>
          <a:prstGeom prst="rect">
            <a:avLst/>
          </a:prstGeom>
          <a:noFill/>
        </p:spPr>
        <p:txBody>
          <a:bodyPr wrap="square">
            <a:spAutoFit/>
          </a:bodyPr>
          <a:lstStyle/>
          <a:p>
            <a:pPr algn="l"/>
            <a:r>
              <a:rPr sz="1200" b="0" i="0">
                <a:solidFill>
                  <a:srgbClr val="4B5563"/>
                </a:solidFill>
              </a:rPr>
              <a:t>The JetFarm Agribusiness Outgrower Platform coordinates landowners, crop managers, farm workers, weigh-in scale terminals, and corporate investors under a single offline-first system designed for Philippine agricultural operations.</a:t>
            </a:r>
          </a:p>
        </p:txBody>
      </p:sp>
      <p:sp>
        <p:nvSpPr>
          <p:cNvPr id="10" name="Rectangle 9"/>
          <p:cNvSpPr/>
          <p:nvPr/>
        </p:nvSpPr>
        <p:spPr>
          <a:xfrm>
            <a:off x="365760" y="2148840"/>
            <a:ext cx="5577840" cy="19202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86000"/>
            <a:ext cx="5212080" cy="365760"/>
          </a:xfrm>
          <a:prstGeom prst="rect">
            <a:avLst/>
          </a:prstGeom>
          <a:noFill/>
        </p:spPr>
        <p:txBody>
          <a:bodyPr wrap="square">
            <a:spAutoFit/>
          </a:bodyPr>
          <a:lstStyle/>
          <a:p>
            <a:pPr algn="l"/>
            <a:r>
              <a:rPr sz="1400" b="1" i="0">
                <a:solidFill>
                  <a:srgbClr val="FFFFFF"/>
                </a:solidFill>
              </a:rPr>
              <a:t>💱 Currency Standard</a:t>
            </a:r>
          </a:p>
        </p:txBody>
      </p:sp>
      <p:sp>
        <p:nvSpPr>
          <p:cNvPr id="12" name="TextBox 11"/>
          <p:cNvSpPr txBox="1"/>
          <p:nvPr/>
        </p:nvSpPr>
        <p:spPr>
          <a:xfrm>
            <a:off x="548640" y="2697480"/>
            <a:ext cx="5212080" cy="1188720"/>
          </a:xfrm>
          <a:prstGeom prst="rect">
            <a:avLst/>
          </a:prstGeom>
          <a:noFill/>
        </p:spPr>
        <p:txBody>
          <a:bodyPr wrap="square">
            <a:spAutoFit/>
          </a:bodyPr>
          <a:lstStyle/>
          <a:p>
            <a:pPr algn="l"/>
            <a:r>
              <a:rPr sz="1150" b="0" i="0">
                <a:solidFill>
                  <a:srgbClr val="D1FAE5"/>
                </a:solidFill>
              </a:rPr>
              <a:t>Strictly Philippine Peso (₱ PHP).
All figures in formatPHP() notation.</a:t>
            </a:r>
          </a:p>
        </p:txBody>
      </p:sp>
      <p:sp>
        <p:nvSpPr>
          <p:cNvPr id="13" name="Rectangle 12"/>
          <p:cNvSpPr/>
          <p:nvPr/>
        </p:nvSpPr>
        <p:spPr>
          <a:xfrm>
            <a:off x="6080760" y="2148840"/>
            <a:ext cx="5577840" cy="19202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2286000"/>
            <a:ext cx="5212080" cy="365760"/>
          </a:xfrm>
          <a:prstGeom prst="rect">
            <a:avLst/>
          </a:prstGeom>
          <a:noFill/>
        </p:spPr>
        <p:txBody>
          <a:bodyPr wrap="square">
            <a:spAutoFit/>
          </a:bodyPr>
          <a:lstStyle/>
          <a:p>
            <a:pPr algn="l"/>
            <a:r>
              <a:rPr sz="1400" b="1" i="0">
                <a:solidFill>
                  <a:srgbClr val="FFFFFF"/>
                </a:solidFill>
              </a:rPr>
              <a:t>🌾 Landowner Guarantee</a:t>
            </a:r>
          </a:p>
        </p:txBody>
      </p:sp>
      <p:sp>
        <p:nvSpPr>
          <p:cNvPr id="15" name="TextBox 14"/>
          <p:cNvSpPr txBox="1"/>
          <p:nvPr/>
        </p:nvSpPr>
        <p:spPr>
          <a:xfrm>
            <a:off x="6263640" y="2697480"/>
            <a:ext cx="5212080" cy="1188720"/>
          </a:xfrm>
          <a:prstGeom prst="rect">
            <a:avLst/>
          </a:prstGeom>
          <a:noFill/>
        </p:spPr>
        <p:txBody>
          <a:bodyPr wrap="square">
            <a:spAutoFit/>
          </a:bodyPr>
          <a:lstStyle/>
          <a:p>
            <a:pPr algn="l"/>
            <a:r>
              <a:rPr sz="1150" b="0" i="0">
                <a:solidFill>
                  <a:srgbClr val="D1FAE5"/>
                </a:solidFill>
              </a:rPr>
              <a:t>₱1.00/kg harvest rate OR ₱25,000.00 guaranteed minimum per cycle — whichever is HIGHER.</a:t>
            </a:r>
          </a:p>
        </p:txBody>
      </p:sp>
      <p:sp>
        <p:nvSpPr>
          <p:cNvPr id="16" name="Rectangle 15"/>
          <p:cNvSpPr/>
          <p:nvPr/>
        </p:nvSpPr>
        <p:spPr>
          <a:xfrm>
            <a:off x="365760" y="4297680"/>
            <a:ext cx="5577840" cy="19202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434840"/>
            <a:ext cx="5212080" cy="365760"/>
          </a:xfrm>
          <a:prstGeom prst="rect">
            <a:avLst/>
          </a:prstGeom>
          <a:noFill/>
        </p:spPr>
        <p:txBody>
          <a:bodyPr wrap="square">
            <a:spAutoFit/>
          </a:bodyPr>
          <a:lstStyle/>
          <a:p>
            <a:pPr algn="l"/>
            <a:r>
              <a:rPr sz="1400" b="1" i="0">
                <a:solidFill>
                  <a:srgbClr val="FFFFFF"/>
                </a:solidFill>
              </a:rPr>
              <a:t>🏭 Corporate Offtake</a:t>
            </a:r>
          </a:p>
        </p:txBody>
      </p:sp>
      <p:sp>
        <p:nvSpPr>
          <p:cNvPr id="18" name="TextBox 17"/>
          <p:cNvSpPr txBox="1"/>
          <p:nvPr/>
        </p:nvSpPr>
        <p:spPr>
          <a:xfrm>
            <a:off x="548640" y="4846320"/>
            <a:ext cx="5212080" cy="1188720"/>
          </a:xfrm>
          <a:prstGeom prst="rect">
            <a:avLst/>
          </a:prstGeom>
          <a:noFill/>
        </p:spPr>
        <p:txBody>
          <a:bodyPr wrap="square">
            <a:spAutoFit/>
          </a:bodyPr>
          <a:lstStyle/>
          <a:p>
            <a:pPr algn="l"/>
            <a:r>
              <a:rPr sz="1150" b="0" i="0">
                <a:solidFill>
                  <a:srgbClr val="D1FAE5"/>
                </a:solidFill>
              </a:rPr>
              <a:t>BioGreen industrial cassava contract baseline:
₱4.00/kg (Yellow Corn ₱16.50/kg).</a:t>
            </a:r>
          </a:p>
        </p:txBody>
      </p:sp>
      <p:sp>
        <p:nvSpPr>
          <p:cNvPr id="19" name="Rectangle 18"/>
          <p:cNvSpPr/>
          <p:nvPr/>
        </p:nvSpPr>
        <p:spPr>
          <a:xfrm>
            <a:off x="6080760" y="4297680"/>
            <a:ext cx="5577840" cy="19202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4434840"/>
            <a:ext cx="5212080" cy="365760"/>
          </a:xfrm>
          <a:prstGeom prst="rect">
            <a:avLst/>
          </a:prstGeom>
          <a:noFill/>
        </p:spPr>
        <p:txBody>
          <a:bodyPr wrap="square">
            <a:spAutoFit/>
          </a:bodyPr>
          <a:lstStyle/>
          <a:p>
            <a:pPr algn="l"/>
            <a:r>
              <a:rPr sz="1400" b="1" i="0">
                <a:solidFill>
                  <a:srgbClr val="FFFFFF"/>
                </a:solidFill>
              </a:rPr>
              <a:t>📶 Offline-First</a:t>
            </a:r>
          </a:p>
        </p:txBody>
      </p:sp>
      <p:sp>
        <p:nvSpPr>
          <p:cNvPr id="21" name="TextBox 20"/>
          <p:cNvSpPr txBox="1"/>
          <p:nvPr/>
        </p:nvSpPr>
        <p:spPr>
          <a:xfrm>
            <a:off x="6263640" y="4846320"/>
            <a:ext cx="5212080" cy="1188720"/>
          </a:xfrm>
          <a:prstGeom prst="rect">
            <a:avLst/>
          </a:prstGeom>
          <a:noFill/>
        </p:spPr>
        <p:txBody>
          <a:bodyPr wrap="square">
            <a:spAutoFit/>
          </a:bodyPr>
          <a:lstStyle/>
          <a:p>
            <a:pPr algn="l"/>
            <a:r>
              <a:rPr sz="1150" b="0" i="0">
                <a:solidFill>
                  <a:srgbClr val="D1FAE5"/>
                </a:solidFill>
              </a:rPr>
              <a:t>Runs fully offline via WatermelonDB.
Auto-syncs to Supabase when connected.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640080"/>
          </a:xfrm>
          <a:prstGeom prst="rect">
            <a:avLst/>
          </a:prstGeom>
          <a:noFill/>
        </p:spPr>
        <p:txBody>
          <a:bodyPr wrap="square">
            <a:spAutoFit/>
          </a:bodyPr>
          <a:lstStyle/>
          <a:p>
            <a:pPr algn="l"/>
            <a:r>
              <a:rPr sz="2800" b="1" i="0">
                <a:solidFill>
                  <a:srgbClr val="FFFFFF"/>
                </a:solidFill>
              </a:rPr>
              <a:t>End-to-End Workflow Pipeline</a:t>
            </a:r>
          </a:p>
        </p:txBody>
      </p:sp>
      <p:sp>
        <p:nvSpPr>
          <p:cNvPr id="5" name="TextBox 4"/>
          <p:cNvSpPr txBox="1"/>
          <p:nvPr/>
        </p:nvSpPr>
        <p:spPr>
          <a:xfrm>
            <a:off x="457200" y="685800"/>
            <a:ext cx="11274552" cy="457200"/>
          </a:xfrm>
          <a:prstGeom prst="rect">
            <a:avLst/>
          </a:prstGeom>
          <a:noFill/>
        </p:spPr>
        <p:txBody>
          <a:bodyPr wrap="square">
            <a:spAutoFit/>
          </a:bodyPr>
          <a:lstStyle/>
          <a:p>
            <a:pPr algn="l"/>
            <a:r>
              <a:rPr sz="1300" b="0" i="0">
                <a:solidFill>
                  <a:srgbClr val="A7F3D0"/>
                </a:solidFill>
              </a:rPr>
              <a:t>How all 10 modules connect from land registration to P&amp;L reporting</a:t>
            </a:r>
          </a:p>
        </p:txBody>
      </p:sp>
      <p:sp>
        <p:nvSpPr>
          <p:cNvPr id="6" name="Rectangle 5"/>
          <p:cNvSpPr/>
          <p:nvPr/>
        </p:nvSpPr>
        <p:spPr>
          <a:xfrm>
            <a:off x="0" y="6537960"/>
            <a:ext cx="12188952" cy="32004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65392"/>
            <a:ext cx="7315200" cy="274320"/>
          </a:xfrm>
          <a:prstGeom prst="rect">
            <a:avLst/>
          </a:prstGeom>
          <a:noFill/>
        </p:spPr>
        <p:txBody>
          <a:bodyPr wrap="square">
            <a:spAutoFit/>
          </a:bodyPr>
          <a:lstStyle/>
          <a:p>
            <a:pPr algn="l"/>
            <a:r>
              <a:rPr sz="800" b="0" i="0">
                <a:solidFill>
                  <a:srgbClr val="9CA3AF"/>
                </a:solidFill>
              </a:rPr>
              <a:t>JetFarm Agribusiness Outgrower Platform  |  Confidential</a:t>
            </a:r>
          </a:p>
        </p:txBody>
      </p:sp>
      <p:sp>
        <p:nvSpPr>
          <p:cNvPr id="8" name="TextBox 7"/>
          <p:cNvSpPr txBox="1"/>
          <p:nvPr/>
        </p:nvSpPr>
        <p:spPr>
          <a:xfrm>
            <a:off x="10360152" y="6565392"/>
            <a:ext cx="1645920" cy="274320"/>
          </a:xfrm>
          <a:prstGeom prst="rect">
            <a:avLst/>
          </a:prstGeom>
          <a:noFill/>
        </p:spPr>
        <p:txBody>
          <a:bodyPr wrap="square">
            <a:spAutoFit/>
          </a:bodyPr>
          <a:lstStyle/>
          <a:p>
            <a:pPr algn="r"/>
            <a:r>
              <a:rPr sz="800" b="0" i="0">
                <a:solidFill>
                  <a:srgbClr val="9CA3AF"/>
                </a:solidFill>
              </a:rPr>
              <a:t>Slide 3 / 14</a:t>
            </a:r>
          </a:p>
        </p:txBody>
      </p:sp>
      <p:sp>
        <p:nvSpPr>
          <p:cNvPr id="9" name="Rectangle 8"/>
          <p:cNvSpPr/>
          <p:nvPr/>
        </p:nvSpPr>
        <p:spPr>
          <a:xfrm>
            <a:off x="320040" y="2926080"/>
            <a:ext cx="1234440" cy="1188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2999232"/>
            <a:ext cx="1234440" cy="411480"/>
          </a:xfrm>
          <a:prstGeom prst="rect">
            <a:avLst/>
          </a:prstGeom>
          <a:noFill/>
        </p:spPr>
        <p:txBody>
          <a:bodyPr wrap="square">
            <a:spAutoFit/>
          </a:bodyPr>
          <a:lstStyle/>
          <a:p>
            <a:pPr algn="ctr"/>
            <a:r>
              <a:rPr sz="2200" b="1" i="0">
                <a:solidFill>
                  <a:srgbClr val="FFFFFF"/>
                </a:solidFill>
              </a:rPr>
              <a:t>1</a:t>
            </a:r>
          </a:p>
        </p:txBody>
      </p:sp>
      <p:sp>
        <p:nvSpPr>
          <p:cNvPr id="11" name="TextBox 10"/>
          <p:cNvSpPr txBox="1"/>
          <p:nvPr/>
        </p:nvSpPr>
        <p:spPr>
          <a:xfrm>
            <a:off x="320040" y="3383280"/>
            <a:ext cx="1234440" cy="640080"/>
          </a:xfrm>
          <a:prstGeom prst="rect">
            <a:avLst/>
          </a:prstGeom>
          <a:noFill/>
        </p:spPr>
        <p:txBody>
          <a:bodyPr wrap="square">
            <a:spAutoFit/>
          </a:bodyPr>
          <a:lstStyle/>
          <a:p>
            <a:pPr algn="ctr"/>
            <a:r>
              <a:rPr sz="1000" b="1" i="0">
                <a:solidFill>
                  <a:srgbClr val="FFFFFF"/>
                </a:solidFill>
              </a:rPr>
              <a:t>Register
Parcel</a:t>
            </a:r>
          </a:p>
        </p:txBody>
      </p:sp>
      <p:sp>
        <p:nvSpPr>
          <p:cNvPr id="12" name="TextBox 11"/>
          <p:cNvSpPr txBox="1"/>
          <p:nvPr/>
        </p:nvSpPr>
        <p:spPr>
          <a:xfrm>
            <a:off x="1591056" y="3291840"/>
            <a:ext cx="201168" cy="457200"/>
          </a:xfrm>
          <a:prstGeom prst="rect">
            <a:avLst/>
          </a:prstGeom>
          <a:noFill/>
        </p:spPr>
        <p:txBody>
          <a:bodyPr wrap="square">
            <a:spAutoFit/>
          </a:bodyPr>
          <a:lstStyle/>
          <a:p>
            <a:pPr algn="ctr"/>
            <a:r>
              <a:rPr sz="1800" b="1" i="0">
                <a:solidFill>
                  <a:srgbClr val="4B5563"/>
                </a:solidFill>
              </a:rPr>
              <a:t>→</a:t>
            </a:r>
          </a:p>
        </p:txBody>
      </p:sp>
      <p:sp>
        <p:nvSpPr>
          <p:cNvPr id="13" name="Rectangle 12"/>
          <p:cNvSpPr/>
          <p:nvPr/>
        </p:nvSpPr>
        <p:spPr>
          <a:xfrm>
            <a:off x="1755648" y="2926080"/>
            <a:ext cx="1234440" cy="11887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55648" y="2999232"/>
            <a:ext cx="1234440" cy="411480"/>
          </a:xfrm>
          <a:prstGeom prst="rect">
            <a:avLst/>
          </a:prstGeom>
          <a:noFill/>
        </p:spPr>
        <p:txBody>
          <a:bodyPr wrap="square">
            <a:spAutoFit/>
          </a:bodyPr>
          <a:lstStyle/>
          <a:p>
            <a:pPr algn="ctr"/>
            <a:r>
              <a:rPr sz="2200" b="1" i="0">
                <a:solidFill>
                  <a:srgbClr val="FFFFFF"/>
                </a:solidFill>
              </a:rPr>
              <a:t>2</a:t>
            </a:r>
          </a:p>
        </p:txBody>
      </p:sp>
      <p:sp>
        <p:nvSpPr>
          <p:cNvPr id="15" name="TextBox 14"/>
          <p:cNvSpPr txBox="1"/>
          <p:nvPr/>
        </p:nvSpPr>
        <p:spPr>
          <a:xfrm>
            <a:off x="1755648" y="3383280"/>
            <a:ext cx="1234440" cy="640080"/>
          </a:xfrm>
          <a:prstGeom prst="rect">
            <a:avLst/>
          </a:prstGeom>
          <a:noFill/>
        </p:spPr>
        <p:txBody>
          <a:bodyPr wrap="square">
            <a:spAutoFit/>
          </a:bodyPr>
          <a:lstStyle/>
          <a:p>
            <a:pPr algn="ctr"/>
            <a:r>
              <a:rPr sz="1000" b="1" i="0">
                <a:solidFill>
                  <a:srgbClr val="FFFFFF"/>
                </a:solidFill>
              </a:rPr>
              <a:t>GPS
Mapping</a:t>
            </a:r>
          </a:p>
        </p:txBody>
      </p:sp>
      <p:sp>
        <p:nvSpPr>
          <p:cNvPr id="16" name="TextBox 15"/>
          <p:cNvSpPr txBox="1"/>
          <p:nvPr/>
        </p:nvSpPr>
        <p:spPr>
          <a:xfrm>
            <a:off x="3026664" y="3291840"/>
            <a:ext cx="201168" cy="457200"/>
          </a:xfrm>
          <a:prstGeom prst="rect">
            <a:avLst/>
          </a:prstGeom>
          <a:noFill/>
        </p:spPr>
        <p:txBody>
          <a:bodyPr wrap="square">
            <a:spAutoFit/>
          </a:bodyPr>
          <a:lstStyle/>
          <a:p>
            <a:pPr algn="ctr"/>
            <a:r>
              <a:rPr sz="1800" b="1" i="0">
                <a:solidFill>
                  <a:srgbClr val="4B5563"/>
                </a:solidFill>
              </a:rPr>
              <a:t>→</a:t>
            </a:r>
          </a:p>
        </p:txBody>
      </p:sp>
      <p:sp>
        <p:nvSpPr>
          <p:cNvPr id="17" name="Rectangle 16"/>
          <p:cNvSpPr/>
          <p:nvPr/>
        </p:nvSpPr>
        <p:spPr>
          <a:xfrm>
            <a:off x="3191256" y="2926080"/>
            <a:ext cx="1234440" cy="1188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91256" y="2999232"/>
            <a:ext cx="1234440" cy="411480"/>
          </a:xfrm>
          <a:prstGeom prst="rect">
            <a:avLst/>
          </a:prstGeom>
          <a:noFill/>
        </p:spPr>
        <p:txBody>
          <a:bodyPr wrap="square">
            <a:spAutoFit/>
          </a:bodyPr>
          <a:lstStyle/>
          <a:p>
            <a:pPr algn="ctr"/>
            <a:r>
              <a:rPr sz="2200" b="1" i="0">
                <a:solidFill>
                  <a:srgbClr val="FFFFFF"/>
                </a:solidFill>
              </a:rPr>
              <a:t>3</a:t>
            </a:r>
          </a:p>
        </p:txBody>
      </p:sp>
      <p:sp>
        <p:nvSpPr>
          <p:cNvPr id="19" name="TextBox 18"/>
          <p:cNvSpPr txBox="1"/>
          <p:nvPr/>
        </p:nvSpPr>
        <p:spPr>
          <a:xfrm>
            <a:off x="3191256" y="3383280"/>
            <a:ext cx="1234440" cy="640080"/>
          </a:xfrm>
          <a:prstGeom prst="rect">
            <a:avLst/>
          </a:prstGeom>
          <a:noFill/>
        </p:spPr>
        <p:txBody>
          <a:bodyPr wrap="square">
            <a:spAutoFit/>
          </a:bodyPr>
          <a:lstStyle/>
          <a:p>
            <a:pPr algn="ctr"/>
            <a:r>
              <a:rPr sz="1000" b="1" i="0">
                <a:solidFill>
                  <a:srgbClr val="FFFFFF"/>
                </a:solidFill>
              </a:rPr>
              <a:t>Crop
Cycle</a:t>
            </a:r>
          </a:p>
        </p:txBody>
      </p:sp>
      <p:sp>
        <p:nvSpPr>
          <p:cNvPr id="20" name="TextBox 19"/>
          <p:cNvSpPr txBox="1"/>
          <p:nvPr/>
        </p:nvSpPr>
        <p:spPr>
          <a:xfrm>
            <a:off x="4462272" y="3291840"/>
            <a:ext cx="201168" cy="457200"/>
          </a:xfrm>
          <a:prstGeom prst="rect">
            <a:avLst/>
          </a:prstGeom>
          <a:noFill/>
        </p:spPr>
        <p:txBody>
          <a:bodyPr wrap="square">
            <a:spAutoFit/>
          </a:bodyPr>
          <a:lstStyle/>
          <a:p>
            <a:pPr algn="ctr"/>
            <a:r>
              <a:rPr sz="1800" b="1" i="0">
                <a:solidFill>
                  <a:srgbClr val="4B5563"/>
                </a:solidFill>
              </a:rPr>
              <a:t>→</a:t>
            </a:r>
          </a:p>
        </p:txBody>
      </p:sp>
      <p:sp>
        <p:nvSpPr>
          <p:cNvPr id="21" name="Rectangle 20"/>
          <p:cNvSpPr/>
          <p:nvPr/>
        </p:nvSpPr>
        <p:spPr>
          <a:xfrm>
            <a:off x="4626864" y="2926080"/>
            <a:ext cx="1234440" cy="1188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26864" y="2999232"/>
            <a:ext cx="1234440" cy="411480"/>
          </a:xfrm>
          <a:prstGeom prst="rect">
            <a:avLst/>
          </a:prstGeom>
          <a:noFill/>
        </p:spPr>
        <p:txBody>
          <a:bodyPr wrap="square">
            <a:spAutoFit/>
          </a:bodyPr>
          <a:lstStyle/>
          <a:p>
            <a:pPr algn="ctr"/>
            <a:r>
              <a:rPr sz="2200" b="1" i="0">
                <a:solidFill>
                  <a:srgbClr val="FFFFFF"/>
                </a:solidFill>
              </a:rPr>
              <a:t>4</a:t>
            </a:r>
          </a:p>
        </p:txBody>
      </p:sp>
      <p:sp>
        <p:nvSpPr>
          <p:cNvPr id="23" name="TextBox 22"/>
          <p:cNvSpPr txBox="1"/>
          <p:nvPr/>
        </p:nvSpPr>
        <p:spPr>
          <a:xfrm>
            <a:off x="4626864" y="3383280"/>
            <a:ext cx="1234440" cy="640080"/>
          </a:xfrm>
          <a:prstGeom prst="rect">
            <a:avLst/>
          </a:prstGeom>
          <a:noFill/>
        </p:spPr>
        <p:txBody>
          <a:bodyPr wrap="square">
            <a:spAutoFit/>
          </a:bodyPr>
          <a:lstStyle/>
          <a:p>
            <a:pPr algn="ctr"/>
            <a:r>
              <a:rPr sz="1000" b="1" i="0">
                <a:solidFill>
                  <a:srgbClr val="FFFFFF"/>
                </a:solidFill>
              </a:rPr>
              <a:t>Log Labor
&amp; Inputs</a:t>
            </a:r>
          </a:p>
        </p:txBody>
      </p:sp>
      <p:sp>
        <p:nvSpPr>
          <p:cNvPr id="24" name="TextBox 23"/>
          <p:cNvSpPr txBox="1"/>
          <p:nvPr/>
        </p:nvSpPr>
        <p:spPr>
          <a:xfrm>
            <a:off x="5897880" y="3291840"/>
            <a:ext cx="201168" cy="457200"/>
          </a:xfrm>
          <a:prstGeom prst="rect">
            <a:avLst/>
          </a:prstGeom>
          <a:noFill/>
        </p:spPr>
        <p:txBody>
          <a:bodyPr wrap="square">
            <a:spAutoFit/>
          </a:bodyPr>
          <a:lstStyle/>
          <a:p>
            <a:pPr algn="ctr"/>
            <a:r>
              <a:rPr sz="1800" b="1" i="0">
                <a:solidFill>
                  <a:srgbClr val="4B5563"/>
                </a:solidFill>
              </a:rPr>
              <a:t>→</a:t>
            </a:r>
          </a:p>
        </p:txBody>
      </p:sp>
      <p:sp>
        <p:nvSpPr>
          <p:cNvPr id="25" name="Rectangle 24"/>
          <p:cNvSpPr/>
          <p:nvPr/>
        </p:nvSpPr>
        <p:spPr>
          <a:xfrm>
            <a:off x="6062472" y="2926080"/>
            <a:ext cx="1234440" cy="1188720"/>
          </a:xfrm>
          <a:prstGeom prst="rect">
            <a:avLst/>
          </a:prstGeom>
          <a:solidFill>
            <a:srgbClr val="D92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62472" y="2999232"/>
            <a:ext cx="1234440" cy="411480"/>
          </a:xfrm>
          <a:prstGeom prst="rect">
            <a:avLst/>
          </a:prstGeom>
          <a:noFill/>
        </p:spPr>
        <p:txBody>
          <a:bodyPr wrap="square">
            <a:spAutoFit/>
          </a:bodyPr>
          <a:lstStyle/>
          <a:p>
            <a:pPr algn="ctr"/>
            <a:r>
              <a:rPr sz="2200" b="1" i="0">
                <a:solidFill>
                  <a:srgbClr val="FFFFFF"/>
                </a:solidFill>
              </a:rPr>
              <a:t>5</a:t>
            </a:r>
          </a:p>
        </p:txBody>
      </p:sp>
      <p:sp>
        <p:nvSpPr>
          <p:cNvPr id="27" name="TextBox 26"/>
          <p:cNvSpPr txBox="1"/>
          <p:nvPr/>
        </p:nvSpPr>
        <p:spPr>
          <a:xfrm>
            <a:off x="6062472" y="3383280"/>
            <a:ext cx="1234440" cy="640080"/>
          </a:xfrm>
          <a:prstGeom prst="rect">
            <a:avLst/>
          </a:prstGeom>
          <a:noFill/>
        </p:spPr>
        <p:txBody>
          <a:bodyPr wrap="square">
            <a:spAutoFit/>
          </a:bodyPr>
          <a:lstStyle/>
          <a:p>
            <a:pPr algn="ctr"/>
            <a:r>
              <a:rPr sz="1000" b="1" i="0">
                <a:solidFill>
                  <a:srgbClr val="FFFFFF"/>
                </a:solidFill>
              </a:rPr>
              <a:t>Harvest
Scale</a:t>
            </a:r>
          </a:p>
        </p:txBody>
      </p:sp>
      <p:sp>
        <p:nvSpPr>
          <p:cNvPr id="28" name="TextBox 27"/>
          <p:cNvSpPr txBox="1"/>
          <p:nvPr/>
        </p:nvSpPr>
        <p:spPr>
          <a:xfrm>
            <a:off x="7333488" y="3291840"/>
            <a:ext cx="201168" cy="457200"/>
          </a:xfrm>
          <a:prstGeom prst="rect">
            <a:avLst/>
          </a:prstGeom>
          <a:noFill/>
        </p:spPr>
        <p:txBody>
          <a:bodyPr wrap="square">
            <a:spAutoFit/>
          </a:bodyPr>
          <a:lstStyle/>
          <a:p>
            <a:pPr algn="ctr"/>
            <a:r>
              <a:rPr sz="1800" b="1" i="0">
                <a:solidFill>
                  <a:srgbClr val="4B5563"/>
                </a:solidFill>
              </a:rPr>
              <a:t>→</a:t>
            </a:r>
          </a:p>
        </p:txBody>
      </p:sp>
      <p:sp>
        <p:nvSpPr>
          <p:cNvPr id="29" name="Rectangle 28"/>
          <p:cNvSpPr/>
          <p:nvPr/>
        </p:nvSpPr>
        <p:spPr>
          <a:xfrm>
            <a:off x="7498080" y="2926080"/>
            <a:ext cx="1234440" cy="118872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0" y="2999232"/>
            <a:ext cx="1234440" cy="411480"/>
          </a:xfrm>
          <a:prstGeom prst="rect">
            <a:avLst/>
          </a:prstGeom>
          <a:noFill/>
        </p:spPr>
        <p:txBody>
          <a:bodyPr wrap="square">
            <a:spAutoFit/>
          </a:bodyPr>
          <a:lstStyle/>
          <a:p>
            <a:pPr algn="ctr"/>
            <a:r>
              <a:rPr sz="2200" b="1" i="0">
                <a:solidFill>
                  <a:srgbClr val="FFFFFF"/>
                </a:solidFill>
              </a:rPr>
              <a:t>6</a:t>
            </a:r>
          </a:p>
        </p:txBody>
      </p:sp>
      <p:sp>
        <p:nvSpPr>
          <p:cNvPr id="31" name="TextBox 30"/>
          <p:cNvSpPr txBox="1"/>
          <p:nvPr/>
        </p:nvSpPr>
        <p:spPr>
          <a:xfrm>
            <a:off x="7498080" y="3383280"/>
            <a:ext cx="1234440" cy="640080"/>
          </a:xfrm>
          <a:prstGeom prst="rect">
            <a:avLst/>
          </a:prstGeom>
          <a:noFill/>
        </p:spPr>
        <p:txBody>
          <a:bodyPr wrap="square">
            <a:spAutoFit/>
          </a:bodyPr>
          <a:lstStyle/>
          <a:p>
            <a:pPr algn="ctr"/>
            <a:r>
              <a:rPr sz="1000" b="1" i="0">
                <a:solidFill>
                  <a:srgbClr val="FFFFFF"/>
                </a:solidFill>
              </a:rPr>
              <a:t>Settlements
&amp; Payouts</a:t>
            </a:r>
          </a:p>
        </p:txBody>
      </p:sp>
      <p:sp>
        <p:nvSpPr>
          <p:cNvPr id="32" name="TextBox 31"/>
          <p:cNvSpPr txBox="1"/>
          <p:nvPr/>
        </p:nvSpPr>
        <p:spPr>
          <a:xfrm>
            <a:off x="8769096" y="3291840"/>
            <a:ext cx="201168" cy="457200"/>
          </a:xfrm>
          <a:prstGeom prst="rect">
            <a:avLst/>
          </a:prstGeom>
          <a:noFill/>
        </p:spPr>
        <p:txBody>
          <a:bodyPr wrap="square">
            <a:spAutoFit/>
          </a:bodyPr>
          <a:lstStyle/>
          <a:p>
            <a:pPr algn="ctr"/>
            <a:r>
              <a:rPr sz="1800" b="1" i="0">
                <a:solidFill>
                  <a:srgbClr val="4B5563"/>
                </a:solidFill>
              </a:rPr>
              <a:t>→</a:t>
            </a:r>
          </a:p>
        </p:txBody>
      </p:sp>
      <p:sp>
        <p:nvSpPr>
          <p:cNvPr id="33" name="Rectangle 32"/>
          <p:cNvSpPr/>
          <p:nvPr/>
        </p:nvSpPr>
        <p:spPr>
          <a:xfrm>
            <a:off x="8933688" y="2926080"/>
            <a:ext cx="1234440" cy="11887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33688" y="2999232"/>
            <a:ext cx="1234440" cy="411480"/>
          </a:xfrm>
          <a:prstGeom prst="rect">
            <a:avLst/>
          </a:prstGeom>
          <a:noFill/>
        </p:spPr>
        <p:txBody>
          <a:bodyPr wrap="square">
            <a:spAutoFit/>
          </a:bodyPr>
          <a:lstStyle/>
          <a:p>
            <a:pPr algn="ctr"/>
            <a:r>
              <a:rPr sz="2200" b="1" i="0">
                <a:solidFill>
                  <a:srgbClr val="FFFFFF"/>
                </a:solidFill>
              </a:rPr>
              <a:t>7</a:t>
            </a:r>
          </a:p>
        </p:txBody>
      </p:sp>
      <p:sp>
        <p:nvSpPr>
          <p:cNvPr id="35" name="TextBox 34"/>
          <p:cNvSpPr txBox="1"/>
          <p:nvPr/>
        </p:nvSpPr>
        <p:spPr>
          <a:xfrm>
            <a:off x="8933688" y="3383280"/>
            <a:ext cx="1234440" cy="640080"/>
          </a:xfrm>
          <a:prstGeom prst="rect">
            <a:avLst/>
          </a:prstGeom>
          <a:noFill/>
        </p:spPr>
        <p:txBody>
          <a:bodyPr wrap="square">
            <a:spAutoFit/>
          </a:bodyPr>
          <a:lstStyle/>
          <a:p>
            <a:pPr algn="ctr"/>
            <a:r>
              <a:rPr sz="1000" b="1" i="0">
                <a:solidFill>
                  <a:srgbClr val="FFFFFF"/>
                </a:solidFill>
              </a:rPr>
              <a:t>Investor
Ledger</a:t>
            </a:r>
          </a:p>
        </p:txBody>
      </p:sp>
      <p:sp>
        <p:nvSpPr>
          <p:cNvPr id="36" name="TextBox 35"/>
          <p:cNvSpPr txBox="1"/>
          <p:nvPr/>
        </p:nvSpPr>
        <p:spPr>
          <a:xfrm>
            <a:off x="10204704" y="3291840"/>
            <a:ext cx="201168" cy="457200"/>
          </a:xfrm>
          <a:prstGeom prst="rect">
            <a:avLst/>
          </a:prstGeom>
          <a:noFill/>
        </p:spPr>
        <p:txBody>
          <a:bodyPr wrap="square">
            <a:spAutoFit/>
          </a:bodyPr>
          <a:lstStyle/>
          <a:p>
            <a:pPr algn="ctr"/>
            <a:r>
              <a:rPr sz="1800" b="1" i="0">
                <a:solidFill>
                  <a:srgbClr val="4B5563"/>
                </a:solidFill>
              </a:rPr>
              <a:t>→</a:t>
            </a:r>
          </a:p>
        </p:txBody>
      </p:sp>
      <p:sp>
        <p:nvSpPr>
          <p:cNvPr id="37" name="Rectangle 36"/>
          <p:cNvSpPr/>
          <p:nvPr/>
        </p:nvSpPr>
        <p:spPr>
          <a:xfrm>
            <a:off x="10369296" y="2926080"/>
            <a:ext cx="1234440" cy="11887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69296" y="2999232"/>
            <a:ext cx="1234440" cy="411480"/>
          </a:xfrm>
          <a:prstGeom prst="rect">
            <a:avLst/>
          </a:prstGeom>
          <a:noFill/>
        </p:spPr>
        <p:txBody>
          <a:bodyPr wrap="square">
            <a:spAutoFit/>
          </a:bodyPr>
          <a:lstStyle/>
          <a:p>
            <a:pPr algn="ctr"/>
            <a:r>
              <a:rPr sz="2200" b="1" i="0">
                <a:solidFill>
                  <a:srgbClr val="FFFFFF"/>
                </a:solidFill>
              </a:rPr>
              <a:t>8</a:t>
            </a:r>
          </a:p>
        </p:txBody>
      </p:sp>
      <p:sp>
        <p:nvSpPr>
          <p:cNvPr id="39" name="TextBox 38"/>
          <p:cNvSpPr txBox="1"/>
          <p:nvPr/>
        </p:nvSpPr>
        <p:spPr>
          <a:xfrm>
            <a:off x="10369296" y="3383280"/>
            <a:ext cx="1234440" cy="640080"/>
          </a:xfrm>
          <a:prstGeom prst="rect">
            <a:avLst/>
          </a:prstGeom>
          <a:noFill/>
        </p:spPr>
        <p:txBody>
          <a:bodyPr wrap="square">
            <a:spAutoFit/>
          </a:bodyPr>
          <a:lstStyle/>
          <a:p>
            <a:pPr algn="ctr"/>
            <a:r>
              <a:rPr sz="1000" b="1" i="0">
                <a:solidFill>
                  <a:srgbClr val="FFFFFF"/>
                </a:solidFill>
              </a:rPr>
              <a:t>P&amp;L
Analytics</a:t>
            </a:r>
          </a:p>
        </p:txBody>
      </p:sp>
      <p:sp>
        <p:nvSpPr>
          <p:cNvPr id="40" name="TextBox 39"/>
          <p:cNvSpPr txBox="1"/>
          <p:nvPr/>
        </p:nvSpPr>
        <p:spPr>
          <a:xfrm>
            <a:off x="457200" y="4572000"/>
            <a:ext cx="11247120" cy="457200"/>
          </a:xfrm>
          <a:prstGeom prst="rect">
            <a:avLst/>
          </a:prstGeom>
          <a:noFill/>
        </p:spPr>
        <p:txBody>
          <a:bodyPr wrap="square">
            <a:spAutoFit/>
          </a:bodyPr>
          <a:lstStyle/>
          <a:p>
            <a:pPr algn="ctr"/>
            <a:r>
              <a:rPr sz="1200" b="0" i="1">
                <a:solidFill>
                  <a:srgbClr val="4B5563"/>
                </a:solidFill>
              </a:rPr>
              <a:t>📌  Every step feeds the next: Parcel area → Crop yield target → Harvest kg → Settlement payout → P&amp;L margin</a:t>
            </a:r>
          </a:p>
        </p:txBody>
      </p:sp>
      <p:sp>
        <p:nvSpPr>
          <p:cNvPr id="41" name="Rectangle 40"/>
          <p:cNvSpPr/>
          <p:nvPr/>
        </p:nvSpPr>
        <p:spPr>
          <a:xfrm>
            <a:off x="1371600" y="5166360"/>
            <a:ext cx="9418320" cy="132588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554480" y="5257800"/>
            <a:ext cx="9144000" cy="320040"/>
          </a:xfrm>
          <a:prstGeom prst="rect">
            <a:avLst/>
          </a:prstGeom>
          <a:noFill/>
        </p:spPr>
        <p:txBody>
          <a:bodyPr wrap="square">
            <a:spAutoFit/>
          </a:bodyPr>
          <a:lstStyle/>
          <a:p>
            <a:pPr algn="l"/>
            <a:r>
              <a:rPr sz="1100" b="1" i="0">
                <a:solidFill>
                  <a:srgbClr val="F59E0B"/>
                </a:solidFill>
              </a:rPr>
              <a:t>Settlement Formula:</a:t>
            </a:r>
          </a:p>
        </p:txBody>
      </p:sp>
      <p:sp>
        <p:nvSpPr>
          <p:cNvPr id="43" name="TextBox 42"/>
          <p:cNvSpPr txBox="1"/>
          <p:nvPr/>
        </p:nvSpPr>
        <p:spPr>
          <a:xfrm>
            <a:off x="1554480" y="5577840"/>
            <a:ext cx="9144000" cy="777240"/>
          </a:xfrm>
          <a:prstGeom prst="rect">
            <a:avLst/>
          </a:prstGeom>
          <a:noFill/>
        </p:spPr>
        <p:txBody>
          <a:bodyPr wrap="square">
            <a:spAutoFit/>
          </a:bodyPr>
          <a:lstStyle/>
          <a:p>
            <a:pPr algn="l"/>
            <a:r>
              <a:rPr sz="1200" b="0" i="0">
                <a:solidFill>
                  <a:srgbClr val="FFFFFF"/>
                </a:solidFill>
              </a:rPr>
              <a:t>Raw Earnings = Cumulative Kilos × ₱1.00/kg  →  Target = MAX(Raw Earnings, ₱25,000 Guarantee)  →  Net Due = Target − Previous Weeks Paid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640080"/>
          </a:xfrm>
          <a:prstGeom prst="rect">
            <a:avLst/>
          </a:prstGeom>
          <a:noFill/>
        </p:spPr>
        <p:txBody>
          <a:bodyPr wrap="square">
            <a:spAutoFit/>
          </a:bodyPr>
          <a:lstStyle/>
          <a:p>
            <a:pPr algn="l"/>
            <a:r>
              <a:rPr sz="2800" b="1" i="0">
                <a:solidFill>
                  <a:srgbClr val="FFFFFF"/>
                </a:solidFill>
              </a:rPr>
              <a:t>Module 1 — Operator Command Center</a:t>
            </a:r>
          </a:p>
        </p:txBody>
      </p:sp>
      <p:sp>
        <p:nvSpPr>
          <p:cNvPr id="5" name="TextBox 4"/>
          <p:cNvSpPr txBox="1"/>
          <p:nvPr/>
        </p:nvSpPr>
        <p:spPr>
          <a:xfrm>
            <a:off x="457200" y="685800"/>
            <a:ext cx="11274552" cy="457200"/>
          </a:xfrm>
          <a:prstGeom prst="rect">
            <a:avLst/>
          </a:prstGeom>
          <a:noFill/>
        </p:spPr>
        <p:txBody>
          <a:bodyPr wrap="square">
            <a:spAutoFit/>
          </a:bodyPr>
          <a:lstStyle/>
          <a:p>
            <a:pPr algn="l"/>
            <a:r>
              <a:rPr sz="1300" b="0" i="0">
                <a:solidFill>
                  <a:srgbClr val="A7F3D0"/>
                </a:solidFill>
              </a:rPr>
              <a:t>The high-level operational flight deck for the entire agribusiness</a:t>
            </a:r>
          </a:p>
        </p:txBody>
      </p:sp>
      <p:sp>
        <p:nvSpPr>
          <p:cNvPr id="6" name="Rectangle 5"/>
          <p:cNvSpPr/>
          <p:nvPr/>
        </p:nvSpPr>
        <p:spPr>
          <a:xfrm>
            <a:off x="0" y="6537960"/>
            <a:ext cx="12188952" cy="32004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65392"/>
            <a:ext cx="7315200" cy="274320"/>
          </a:xfrm>
          <a:prstGeom prst="rect">
            <a:avLst/>
          </a:prstGeom>
          <a:noFill/>
        </p:spPr>
        <p:txBody>
          <a:bodyPr wrap="square">
            <a:spAutoFit/>
          </a:bodyPr>
          <a:lstStyle/>
          <a:p>
            <a:pPr algn="l"/>
            <a:r>
              <a:rPr sz="800" b="0" i="0">
                <a:solidFill>
                  <a:srgbClr val="9CA3AF"/>
                </a:solidFill>
              </a:rPr>
              <a:t>JetFarm Agribusiness Outgrower Platform  |  Confidential</a:t>
            </a:r>
          </a:p>
        </p:txBody>
      </p:sp>
      <p:sp>
        <p:nvSpPr>
          <p:cNvPr id="8" name="TextBox 7"/>
          <p:cNvSpPr txBox="1"/>
          <p:nvPr/>
        </p:nvSpPr>
        <p:spPr>
          <a:xfrm>
            <a:off x="10360152" y="6565392"/>
            <a:ext cx="1645920" cy="274320"/>
          </a:xfrm>
          <a:prstGeom prst="rect">
            <a:avLst/>
          </a:prstGeom>
          <a:noFill/>
        </p:spPr>
        <p:txBody>
          <a:bodyPr wrap="square">
            <a:spAutoFit/>
          </a:bodyPr>
          <a:lstStyle/>
          <a:p>
            <a:pPr algn="r"/>
            <a:r>
              <a:rPr sz="800" b="0" i="0">
                <a:solidFill>
                  <a:srgbClr val="9CA3AF"/>
                </a:solidFill>
              </a:rPr>
              <a:t>Slide 4 / 14</a:t>
            </a:r>
          </a:p>
        </p:txBody>
      </p:sp>
      <p:sp>
        <p:nvSpPr>
          <p:cNvPr id="9" name="TextBox 8"/>
          <p:cNvSpPr txBox="1"/>
          <p:nvPr/>
        </p:nvSpPr>
        <p:spPr>
          <a:xfrm>
            <a:off x="457200" y="1371600"/>
            <a:ext cx="11247120" cy="502920"/>
          </a:xfrm>
          <a:prstGeom prst="rect">
            <a:avLst/>
          </a:prstGeom>
          <a:noFill/>
        </p:spPr>
        <p:txBody>
          <a:bodyPr wrap="square">
            <a:spAutoFit/>
          </a:bodyPr>
          <a:lstStyle/>
          <a:p>
            <a:pPr algn="l"/>
            <a:r>
              <a:rPr sz="1200" b="0" i="0">
                <a:solidFill>
                  <a:srgbClr val="4B5563"/>
                </a:solidFill>
              </a:rPr>
              <a:t>🖥️  Purpose: The first screen the operator opens every morning. Shows real-time KPIs, pending alerts, and quick-access shortcuts to all sub-modules.</a:t>
            </a:r>
          </a:p>
        </p:txBody>
      </p:sp>
      <p:sp>
        <p:nvSpPr>
          <p:cNvPr id="10" name="Rectangle 9"/>
          <p:cNvSpPr/>
          <p:nvPr/>
        </p:nvSpPr>
        <p:spPr>
          <a:xfrm>
            <a:off x="365760" y="2011680"/>
            <a:ext cx="2743200" cy="1600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057400"/>
            <a:ext cx="2743200" cy="868680"/>
          </a:xfrm>
          <a:prstGeom prst="rect">
            <a:avLst/>
          </a:prstGeom>
          <a:noFill/>
        </p:spPr>
        <p:txBody>
          <a:bodyPr wrap="square">
            <a:spAutoFit/>
          </a:bodyPr>
          <a:lstStyle/>
          <a:p>
            <a:pPr algn="ctr"/>
            <a:r>
              <a:rPr sz="1200" b="1" i="0">
                <a:solidFill>
                  <a:srgbClr val="FFFFFF"/>
                </a:solidFill>
              </a:rPr>
              <a:t>🗺️
Managed
Land (ha)</a:t>
            </a:r>
          </a:p>
        </p:txBody>
      </p:sp>
      <p:sp>
        <p:nvSpPr>
          <p:cNvPr id="12" name="TextBox 11"/>
          <p:cNvSpPr txBox="1"/>
          <p:nvPr/>
        </p:nvSpPr>
        <p:spPr>
          <a:xfrm>
            <a:off x="457200" y="2926080"/>
            <a:ext cx="2560320" cy="640080"/>
          </a:xfrm>
          <a:prstGeom prst="rect">
            <a:avLst/>
          </a:prstGeom>
          <a:noFill/>
        </p:spPr>
        <p:txBody>
          <a:bodyPr wrap="square">
            <a:spAutoFit/>
          </a:bodyPr>
          <a:lstStyle/>
          <a:p>
            <a:pPr algn="l"/>
            <a:r>
              <a:rPr sz="950" b="0" i="0">
                <a:solidFill>
                  <a:srgbClr val="D1FAE5"/>
                </a:solidFill>
              </a:rPr>
              <a:t>Total hectares across all active registered parcels</a:t>
            </a:r>
          </a:p>
        </p:txBody>
      </p:sp>
      <p:sp>
        <p:nvSpPr>
          <p:cNvPr id="13" name="Rectangle 12"/>
          <p:cNvSpPr/>
          <p:nvPr/>
        </p:nvSpPr>
        <p:spPr>
          <a:xfrm>
            <a:off x="3246120" y="2011680"/>
            <a:ext cx="2743200" cy="16002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6120" y="2057400"/>
            <a:ext cx="2743200" cy="868680"/>
          </a:xfrm>
          <a:prstGeom prst="rect">
            <a:avLst/>
          </a:prstGeom>
          <a:noFill/>
        </p:spPr>
        <p:txBody>
          <a:bodyPr wrap="square">
            <a:spAutoFit/>
          </a:bodyPr>
          <a:lstStyle/>
          <a:p>
            <a:pPr algn="ctr"/>
            <a:r>
              <a:rPr sz="1200" b="1" i="0">
                <a:solidFill>
                  <a:srgbClr val="FFFFFF"/>
                </a:solidFill>
              </a:rPr>
              <a:t>🌱
Active
Cycles</a:t>
            </a:r>
          </a:p>
        </p:txBody>
      </p:sp>
      <p:sp>
        <p:nvSpPr>
          <p:cNvPr id="15" name="TextBox 14"/>
          <p:cNvSpPr txBox="1"/>
          <p:nvPr/>
        </p:nvSpPr>
        <p:spPr>
          <a:xfrm>
            <a:off x="3337560" y="2926080"/>
            <a:ext cx="2560320" cy="640080"/>
          </a:xfrm>
          <a:prstGeom prst="rect">
            <a:avLst/>
          </a:prstGeom>
          <a:noFill/>
        </p:spPr>
        <p:txBody>
          <a:bodyPr wrap="square">
            <a:spAutoFit/>
          </a:bodyPr>
          <a:lstStyle/>
          <a:p>
            <a:pPr algn="l"/>
            <a:r>
              <a:rPr sz="950" b="0" i="0">
                <a:solidFill>
                  <a:srgbClr val="D1FAE5"/>
                </a:solidFill>
              </a:rPr>
              <a:t>Crop cycles currently in 'growing' or 'harvesting' status</a:t>
            </a:r>
          </a:p>
        </p:txBody>
      </p:sp>
      <p:sp>
        <p:nvSpPr>
          <p:cNvPr id="16" name="Rectangle 15"/>
          <p:cNvSpPr/>
          <p:nvPr/>
        </p:nvSpPr>
        <p:spPr>
          <a:xfrm>
            <a:off x="6126480" y="2011680"/>
            <a:ext cx="2743200" cy="1600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2057400"/>
            <a:ext cx="2743200" cy="868680"/>
          </a:xfrm>
          <a:prstGeom prst="rect">
            <a:avLst/>
          </a:prstGeom>
          <a:noFill/>
        </p:spPr>
        <p:txBody>
          <a:bodyPr wrap="square">
            <a:spAutoFit/>
          </a:bodyPr>
          <a:lstStyle/>
          <a:p>
            <a:pPr algn="ctr"/>
            <a:r>
              <a:rPr sz="1200" b="1" i="0">
                <a:solidFill>
                  <a:srgbClr val="FFFFFF"/>
                </a:solidFill>
              </a:rPr>
              <a:t>⚖️
Total
Harvest</a:t>
            </a:r>
          </a:p>
        </p:txBody>
      </p:sp>
      <p:sp>
        <p:nvSpPr>
          <p:cNvPr id="18" name="TextBox 17"/>
          <p:cNvSpPr txBox="1"/>
          <p:nvPr/>
        </p:nvSpPr>
        <p:spPr>
          <a:xfrm>
            <a:off x="6217920" y="2926080"/>
            <a:ext cx="2560320" cy="640080"/>
          </a:xfrm>
          <a:prstGeom prst="rect">
            <a:avLst/>
          </a:prstGeom>
          <a:noFill/>
        </p:spPr>
        <p:txBody>
          <a:bodyPr wrap="square">
            <a:spAutoFit/>
          </a:bodyPr>
          <a:lstStyle/>
          <a:p>
            <a:pPr algn="l"/>
            <a:r>
              <a:rPr sz="950" b="0" i="0">
                <a:solidFill>
                  <a:srgbClr val="D1FAE5"/>
                </a:solidFill>
              </a:rPr>
              <a:t>Cumulative net kg logged at scale terminals</a:t>
            </a:r>
          </a:p>
        </p:txBody>
      </p:sp>
      <p:sp>
        <p:nvSpPr>
          <p:cNvPr id="19" name="Rectangle 18"/>
          <p:cNvSpPr/>
          <p:nvPr/>
        </p:nvSpPr>
        <p:spPr>
          <a:xfrm>
            <a:off x="9006840" y="2011680"/>
            <a:ext cx="2743200" cy="16002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06840" y="2057400"/>
            <a:ext cx="2743200" cy="868680"/>
          </a:xfrm>
          <a:prstGeom prst="rect">
            <a:avLst/>
          </a:prstGeom>
          <a:noFill/>
        </p:spPr>
        <p:txBody>
          <a:bodyPr wrap="square">
            <a:spAutoFit/>
          </a:bodyPr>
          <a:lstStyle/>
          <a:p>
            <a:pPr algn="ctr"/>
            <a:r>
              <a:rPr sz="1200" b="1" i="0">
                <a:solidFill>
                  <a:srgbClr val="FFFFFF"/>
                </a:solidFill>
              </a:rPr>
              <a:t>💰
Settlements
Paid (₱)</a:t>
            </a:r>
          </a:p>
        </p:txBody>
      </p:sp>
      <p:sp>
        <p:nvSpPr>
          <p:cNvPr id="21" name="TextBox 20"/>
          <p:cNvSpPr txBox="1"/>
          <p:nvPr/>
        </p:nvSpPr>
        <p:spPr>
          <a:xfrm>
            <a:off x="9098280" y="2926080"/>
            <a:ext cx="2560320" cy="640080"/>
          </a:xfrm>
          <a:prstGeom prst="rect">
            <a:avLst/>
          </a:prstGeom>
          <a:noFill/>
        </p:spPr>
        <p:txBody>
          <a:bodyPr wrap="square">
            <a:spAutoFit/>
          </a:bodyPr>
          <a:lstStyle/>
          <a:p>
            <a:pPr algn="l"/>
            <a:r>
              <a:rPr sz="950" b="0" i="0">
                <a:solidFill>
                  <a:srgbClr val="D1FAE5"/>
                </a:solidFill>
              </a:rPr>
              <a:t>Funds already disbursed to landowners</a:t>
            </a:r>
          </a:p>
        </p:txBody>
      </p:sp>
      <p:sp>
        <p:nvSpPr>
          <p:cNvPr id="22" name="TextBox 21"/>
          <p:cNvSpPr txBox="1"/>
          <p:nvPr/>
        </p:nvSpPr>
        <p:spPr>
          <a:xfrm>
            <a:off x="457200" y="3794760"/>
            <a:ext cx="5029200" cy="365760"/>
          </a:xfrm>
          <a:prstGeom prst="rect">
            <a:avLst/>
          </a:prstGeom>
          <a:noFill/>
        </p:spPr>
        <p:txBody>
          <a:bodyPr wrap="square">
            <a:spAutoFit/>
          </a:bodyPr>
          <a:lstStyle/>
          <a:p>
            <a:pPr algn="l"/>
            <a:r>
              <a:rPr sz="1400" b="1" i="0">
                <a:solidFill>
                  <a:srgbClr val="064E3B"/>
                </a:solidFill>
              </a:rPr>
              <a:t>Daily Operator Steps</a:t>
            </a:r>
          </a:p>
        </p:txBody>
      </p:sp>
      <p:sp>
        <p:nvSpPr>
          <p:cNvPr id="23" name="Rectangle 22"/>
          <p:cNvSpPr/>
          <p:nvPr/>
        </p:nvSpPr>
        <p:spPr>
          <a:xfrm>
            <a:off x="365760" y="4206240"/>
            <a:ext cx="530352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34340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315968"/>
            <a:ext cx="411480" cy="411480"/>
          </a:xfrm>
          <a:prstGeom prst="rect">
            <a:avLst/>
          </a:prstGeom>
          <a:noFill/>
        </p:spPr>
        <p:txBody>
          <a:bodyPr wrap="square">
            <a:spAutoFit/>
          </a:bodyPr>
          <a:lstStyle/>
          <a:p>
            <a:pPr algn="ctr"/>
            <a:r>
              <a:rPr sz="1400" b="1" i="0">
                <a:solidFill>
                  <a:srgbClr val="FFFFFF"/>
                </a:solidFill>
              </a:rPr>
              <a:t>1</a:t>
            </a:r>
          </a:p>
        </p:txBody>
      </p:sp>
      <p:sp>
        <p:nvSpPr>
          <p:cNvPr id="26" name="TextBox 25"/>
          <p:cNvSpPr txBox="1"/>
          <p:nvPr/>
        </p:nvSpPr>
        <p:spPr>
          <a:xfrm>
            <a:off x="960120" y="4279392"/>
            <a:ext cx="4617720" cy="274320"/>
          </a:xfrm>
          <a:prstGeom prst="rect">
            <a:avLst/>
          </a:prstGeom>
          <a:noFill/>
        </p:spPr>
        <p:txBody>
          <a:bodyPr wrap="square">
            <a:spAutoFit/>
          </a:bodyPr>
          <a:lstStyle/>
          <a:p>
            <a:pPr algn="l"/>
            <a:r>
              <a:rPr sz="1100" b="1" i="0">
                <a:solidFill>
                  <a:srgbClr val="064E3B"/>
                </a:solidFill>
              </a:rPr>
              <a:t>Open app → review the 4 KPI cards</a:t>
            </a:r>
          </a:p>
        </p:txBody>
      </p:sp>
      <p:sp>
        <p:nvSpPr>
          <p:cNvPr id="27" name="TextBox 26"/>
          <p:cNvSpPr txBox="1"/>
          <p:nvPr/>
        </p:nvSpPr>
        <p:spPr>
          <a:xfrm>
            <a:off x="960120" y="4553712"/>
            <a:ext cx="4617720" cy="384048"/>
          </a:xfrm>
          <a:prstGeom prst="rect">
            <a:avLst/>
          </a:prstGeom>
          <a:noFill/>
        </p:spPr>
        <p:txBody>
          <a:bodyPr wrap="square">
            <a:spAutoFit/>
          </a:bodyPr>
          <a:lstStyle/>
          <a:p>
            <a:pPr algn="l"/>
            <a:r>
              <a:rPr sz="950" b="0" i="0">
                <a:solidFill>
                  <a:srgbClr val="4B5563"/>
                </a:solidFill>
              </a:rPr>
              <a:t/>
            </a:r>
          </a:p>
        </p:txBody>
      </p:sp>
      <p:sp>
        <p:nvSpPr>
          <p:cNvPr id="28" name="Rectangle 27"/>
          <p:cNvSpPr/>
          <p:nvPr/>
        </p:nvSpPr>
        <p:spPr>
          <a:xfrm>
            <a:off x="365760" y="4773168"/>
            <a:ext cx="530352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4910328"/>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4882896"/>
            <a:ext cx="411480" cy="411480"/>
          </a:xfrm>
          <a:prstGeom prst="rect">
            <a:avLst/>
          </a:prstGeom>
          <a:noFill/>
        </p:spPr>
        <p:txBody>
          <a:bodyPr wrap="square">
            <a:spAutoFit/>
          </a:bodyPr>
          <a:lstStyle/>
          <a:p>
            <a:pPr algn="ctr"/>
            <a:r>
              <a:rPr sz="1400" b="1" i="0">
                <a:solidFill>
                  <a:srgbClr val="FFFFFF"/>
                </a:solidFill>
              </a:rPr>
              <a:t>2</a:t>
            </a:r>
          </a:p>
        </p:txBody>
      </p:sp>
      <p:sp>
        <p:nvSpPr>
          <p:cNvPr id="31" name="TextBox 30"/>
          <p:cNvSpPr txBox="1"/>
          <p:nvPr/>
        </p:nvSpPr>
        <p:spPr>
          <a:xfrm>
            <a:off x="960120" y="4846320"/>
            <a:ext cx="4617720" cy="274320"/>
          </a:xfrm>
          <a:prstGeom prst="rect">
            <a:avLst/>
          </a:prstGeom>
          <a:noFill/>
        </p:spPr>
        <p:txBody>
          <a:bodyPr wrap="square">
            <a:spAutoFit/>
          </a:bodyPr>
          <a:lstStyle/>
          <a:p>
            <a:pPr algn="l"/>
            <a:r>
              <a:rPr sz="1100" b="1" i="0">
                <a:solidFill>
                  <a:srgbClr val="064E3B"/>
                </a:solidFill>
              </a:rPr>
              <a:t>Check amber alert banner for pending settlements</a:t>
            </a:r>
          </a:p>
        </p:txBody>
      </p:sp>
      <p:sp>
        <p:nvSpPr>
          <p:cNvPr id="32" name="TextBox 31"/>
          <p:cNvSpPr txBox="1"/>
          <p:nvPr/>
        </p:nvSpPr>
        <p:spPr>
          <a:xfrm>
            <a:off x="960120" y="5120640"/>
            <a:ext cx="4617720" cy="384048"/>
          </a:xfrm>
          <a:prstGeom prst="rect">
            <a:avLst/>
          </a:prstGeom>
          <a:noFill/>
        </p:spPr>
        <p:txBody>
          <a:bodyPr wrap="square">
            <a:spAutoFit/>
          </a:bodyPr>
          <a:lstStyle/>
          <a:p>
            <a:pPr algn="l"/>
            <a:r>
              <a:rPr sz="950" b="0" i="0">
                <a:solidFill>
                  <a:srgbClr val="4B5563"/>
                </a:solidFill>
              </a:rPr>
              <a:t/>
            </a:r>
          </a:p>
        </p:txBody>
      </p:sp>
      <p:sp>
        <p:nvSpPr>
          <p:cNvPr id="33" name="Rectangle 32"/>
          <p:cNvSpPr/>
          <p:nvPr/>
        </p:nvSpPr>
        <p:spPr>
          <a:xfrm>
            <a:off x="365760" y="5340096"/>
            <a:ext cx="530352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5477256"/>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5449824"/>
            <a:ext cx="411480" cy="411480"/>
          </a:xfrm>
          <a:prstGeom prst="rect">
            <a:avLst/>
          </a:prstGeom>
          <a:noFill/>
        </p:spPr>
        <p:txBody>
          <a:bodyPr wrap="square">
            <a:spAutoFit/>
          </a:bodyPr>
          <a:lstStyle/>
          <a:p>
            <a:pPr algn="ctr"/>
            <a:r>
              <a:rPr sz="1400" b="1" i="0">
                <a:solidFill>
                  <a:srgbClr val="FFFFFF"/>
                </a:solidFill>
              </a:rPr>
              <a:t>3</a:t>
            </a:r>
          </a:p>
        </p:txBody>
      </p:sp>
      <p:sp>
        <p:nvSpPr>
          <p:cNvPr id="36" name="TextBox 35"/>
          <p:cNvSpPr txBox="1"/>
          <p:nvPr/>
        </p:nvSpPr>
        <p:spPr>
          <a:xfrm>
            <a:off x="960120" y="5413248"/>
            <a:ext cx="4617720" cy="274320"/>
          </a:xfrm>
          <a:prstGeom prst="rect">
            <a:avLst/>
          </a:prstGeom>
          <a:noFill/>
        </p:spPr>
        <p:txBody>
          <a:bodyPr wrap="square">
            <a:spAutoFit/>
          </a:bodyPr>
          <a:lstStyle/>
          <a:p>
            <a:pPr algn="l"/>
            <a:r>
              <a:rPr sz="1100" b="1" i="0">
                <a:solidFill>
                  <a:srgbClr val="064E3B"/>
                </a:solidFill>
              </a:rPr>
              <a:t>Tap Operational Hub shortcut to jump to a sub-module</a:t>
            </a:r>
          </a:p>
        </p:txBody>
      </p:sp>
      <p:sp>
        <p:nvSpPr>
          <p:cNvPr id="37" name="TextBox 36"/>
          <p:cNvSpPr txBox="1"/>
          <p:nvPr/>
        </p:nvSpPr>
        <p:spPr>
          <a:xfrm>
            <a:off x="960120" y="5687568"/>
            <a:ext cx="4617720" cy="384048"/>
          </a:xfrm>
          <a:prstGeom prst="rect">
            <a:avLst/>
          </a:prstGeom>
          <a:noFill/>
        </p:spPr>
        <p:txBody>
          <a:bodyPr wrap="square">
            <a:spAutoFit/>
          </a:bodyPr>
          <a:lstStyle/>
          <a:p>
            <a:pPr algn="l"/>
            <a:r>
              <a:rPr sz="950" b="0" i="0">
                <a:solidFill>
                  <a:srgbClr val="4B5563"/>
                </a:solidFill>
              </a:rPr>
              <a:t/>
            </a:r>
          </a:p>
        </p:txBody>
      </p:sp>
      <p:sp>
        <p:nvSpPr>
          <p:cNvPr id="38" name="Rectangle 37"/>
          <p:cNvSpPr/>
          <p:nvPr/>
        </p:nvSpPr>
        <p:spPr>
          <a:xfrm>
            <a:off x="365760" y="5907024"/>
            <a:ext cx="530352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 y="6044184"/>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6016752"/>
            <a:ext cx="411480" cy="411480"/>
          </a:xfrm>
          <a:prstGeom prst="rect">
            <a:avLst/>
          </a:prstGeom>
          <a:noFill/>
        </p:spPr>
        <p:txBody>
          <a:bodyPr wrap="square">
            <a:spAutoFit/>
          </a:bodyPr>
          <a:lstStyle/>
          <a:p>
            <a:pPr algn="ctr"/>
            <a:r>
              <a:rPr sz="1400" b="1" i="0">
                <a:solidFill>
                  <a:srgbClr val="FFFFFF"/>
                </a:solidFill>
              </a:rPr>
              <a:t>4</a:t>
            </a:r>
          </a:p>
        </p:txBody>
      </p:sp>
      <p:sp>
        <p:nvSpPr>
          <p:cNvPr id="41" name="TextBox 40"/>
          <p:cNvSpPr txBox="1"/>
          <p:nvPr/>
        </p:nvSpPr>
        <p:spPr>
          <a:xfrm>
            <a:off x="960120" y="5980176"/>
            <a:ext cx="4617720" cy="274320"/>
          </a:xfrm>
          <a:prstGeom prst="rect">
            <a:avLst/>
          </a:prstGeom>
          <a:noFill/>
        </p:spPr>
        <p:txBody>
          <a:bodyPr wrap="square">
            <a:spAutoFit/>
          </a:bodyPr>
          <a:lstStyle/>
          <a:p>
            <a:pPr algn="l"/>
            <a:r>
              <a:rPr sz="1100" b="1" i="0">
                <a:solidFill>
                  <a:srgbClr val="064E3B"/>
                </a:solidFill>
              </a:rPr>
              <a:t>Pull down to refresh and trigger cloud sync</a:t>
            </a:r>
          </a:p>
        </p:txBody>
      </p:sp>
      <p:sp>
        <p:nvSpPr>
          <p:cNvPr id="42" name="TextBox 41"/>
          <p:cNvSpPr txBox="1"/>
          <p:nvPr/>
        </p:nvSpPr>
        <p:spPr>
          <a:xfrm>
            <a:off x="960120" y="6254496"/>
            <a:ext cx="4617720" cy="384048"/>
          </a:xfrm>
          <a:prstGeom prst="rect">
            <a:avLst/>
          </a:prstGeom>
          <a:noFill/>
        </p:spPr>
        <p:txBody>
          <a:bodyPr wrap="square">
            <a:spAutoFit/>
          </a:bodyPr>
          <a:lstStyle/>
          <a:p>
            <a:pPr algn="l"/>
            <a:r>
              <a:rPr sz="950" b="0" i="0">
                <a:solidFill>
                  <a:srgbClr val="4B5563"/>
                </a:solidFill>
              </a:rPr>
              <a:t/>
            </a:r>
          </a:p>
        </p:txBody>
      </p:sp>
      <p:sp>
        <p:nvSpPr>
          <p:cNvPr id="43" name="Rectangle 42"/>
          <p:cNvSpPr/>
          <p:nvPr/>
        </p:nvSpPr>
        <p:spPr>
          <a:xfrm>
            <a:off x="6035040" y="3794760"/>
            <a:ext cx="5760720" cy="265176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17920" y="3886200"/>
            <a:ext cx="5394960" cy="365760"/>
          </a:xfrm>
          <a:prstGeom prst="rect">
            <a:avLst/>
          </a:prstGeom>
          <a:noFill/>
        </p:spPr>
        <p:txBody>
          <a:bodyPr wrap="square">
            <a:spAutoFit/>
          </a:bodyPr>
          <a:lstStyle/>
          <a:p>
            <a:pPr algn="l"/>
            <a:r>
              <a:rPr sz="1200" b="1" i="0">
                <a:solidFill>
                  <a:srgbClr val="D97706"/>
                </a:solidFill>
              </a:rPr>
              <a:t>⚠️  Settlement Alert Banner</a:t>
            </a:r>
          </a:p>
        </p:txBody>
      </p:sp>
      <p:sp>
        <p:nvSpPr>
          <p:cNvPr id="45" name="TextBox 44"/>
          <p:cNvSpPr txBox="1"/>
          <p:nvPr/>
        </p:nvSpPr>
        <p:spPr>
          <a:xfrm>
            <a:off x="6217920" y="4297680"/>
            <a:ext cx="5394960" cy="1828800"/>
          </a:xfrm>
          <a:prstGeom prst="rect">
            <a:avLst/>
          </a:prstGeom>
          <a:noFill/>
        </p:spPr>
        <p:txBody>
          <a:bodyPr wrap="square">
            <a:spAutoFit/>
          </a:bodyPr>
          <a:lstStyle/>
          <a:p>
            <a:pPr algn="l"/>
            <a:r>
              <a:rPr sz="1100" b="0" i="0">
                <a:solidFill>
                  <a:srgbClr val="783500"/>
                </a:solidFill>
              </a:rPr>
              <a:t>If any weekly settlement is in 'draft' or 'approved' status, an amber banner appears at the top of the command center.
Tapping it navigates directly to the Land Owner Settlements module to review and disburse pending payouts.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640080"/>
          </a:xfrm>
          <a:prstGeom prst="rect">
            <a:avLst/>
          </a:prstGeom>
          <a:noFill/>
        </p:spPr>
        <p:txBody>
          <a:bodyPr wrap="square">
            <a:spAutoFit/>
          </a:bodyPr>
          <a:lstStyle/>
          <a:p>
            <a:pPr algn="l"/>
            <a:r>
              <a:rPr sz="2800" b="1" i="0">
                <a:solidFill>
                  <a:srgbClr val="FFFFFF"/>
                </a:solidFill>
              </a:rPr>
              <a:t>Module 2 — Land Parcels Registry</a:t>
            </a:r>
          </a:p>
        </p:txBody>
      </p:sp>
      <p:sp>
        <p:nvSpPr>
          <p:cNvPr id="5" name="TextBox 4"/>
          <p:cNvSpPr txBox="1"/>
          <p:nvPr/>
        </p:nvSpPr>
        <p:spPr>
          <a:xfrm>
            <a:off x="457200" y="685800"/>
            <a:ext cx="11274552" cy="457200"/>
          </a:xfrm>
          <a:prstGeom prst="rect">
            <a:avLst/>
          </a:prstGeom>
          <a:noFill/>
        </p:spPr>
        <p:txBody>
          <a:bodyPr wrap="square">
            <a:spAutoFit/>
          </a:bodyPr>
          <a:lstStyle/>
          <a:p>
            <a:pPr algn="l"/>
            <a:r>
              <a:rPr sz="1300" b="0" i="0">
                <a:solidFill>
                  <a:srgbClr val="A7F3D0"/>
                </a:solidFill>
              </a:rPr>
              <a:t>The official land asset master list with landowner associations</a:t>
            </a:r>
          </a:p>
        </p:txBody>
      </p:sp>
      <p:sp>
        <p:nvSpPr>
          <p:cNvPr id="6" name="Rectangle 5"/>
          <p:cNvSpPr/>
          <p:nvPr/>
        </p:nvSpPr>
        <p:spPr>
          <a:xfrm>
            <a:off x="0" y="6537960"/>
            <a:ext cx="12188952" cy="32004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65392"/>
            <a:ext cx="7315200" cy="274320"/>
          </a:xfrm>
          <a:prstGeom prst="rect">
            <a:avLst/>
          </a:prstGeom>
          <a:noFill/>
        </p:spPr>
        <p:txBody>
          <a:bodyPr wrap="square">
            <a:spAutoFit/>
          </a:bodyPr>
          <a:lstStyle/>
          <a:p>
            <a:pPr algn="l"/>
            <a:r>
              <a:rPr sz="800" b="0" i="0">
                <a:solidFill>
                  <a:srgbClr val="9CA3AF"/>
                </a:solidFill>
              </a:rPr>
              <a:t>JetFarm Agribusiness Outgrower Platform  |  Confidential</a:t>
            </a:r>
          </a:p>
        </p:txBody>
      </p:sp>
      <p:sp>
        <p:nvSpPr>
          <p:cNvPr id="8" name="TextBox 7"/>
          <p:cNvSpPr txBox="1"/>
          <p:nvPr/>
        </p:nvSpPr>
        <p:spPr>
          <a:xfrm>
            <a:off x="10360152" y="6565392"/>
            <a:ext cx="1645920" cy="274320"/>
          </a:xfrm>
          <a:prstGeom prst="rect">
            <a:avLst/>
          </a:prstGeom>
          <a:noFill/>
        </p:spPr>
        <p:txBody>
          <a:bodyPr wrap="square">
            <a:spAutoFit/>
          </a:bodyPr>
          <a:lstStyle/>
          <a:p>
            <a:pPr algn="r"/>
            <a:r>
              <a:rPr sz="800" b="0" i="0">
                <a:solidFill>
                  <a:srgbClr val="9CA3AF"/>
                </a:solidFill>
              </a:rPr>
              <a:t>Slide 5 / 14</a:t>
            </a:r>
          </a:p>
        </p:txBody>
      </p:sp>
      <p:sp>
        <p:nvSpPr>
          <p:cNvPr id="9" name="TextBox 8"/>
          <p:cNvSpPr txBox="1"/>
          <p:nvPr/>
        </p:nvSpPr>
        <p:spPr>
          <a:xfrm>
            <a:off x="457200" y="1371600"/>
            <a:ext cx="11247120" cy="457200"/>
          </a:xfrm>
          <a:prstGeom prst="rect">
            <a:avLst/>
          </a:prstGeom>
          <a:noFill/>
        </p:spPr>
        <p:txBody>
          <a:bodyPr wrap="square">
            <a:spAutoFit/>
          </a:bodyPr>
          <a:lstStyle/>
          <a:p>
            <a:pPr algn="l"/>
            <a:r>
              <a:rPr sz="1200" b="0" i="0">
                <a:solidFill>
                  <a:srgbClr val="4B5563"/>
                </a:solidFill>
              </a:rPr>
              <a:t>🏞️  Purpose: Maintains all contracted farm parcels with landowners, soil profiles, addresses, and current planting status.</a:t>
            </a:r>
          </a:p>
        </p:txBody>
      </p:sp>
      <p:sp>
        <p:nvSpPr>
          <p:cNvPr id="10" name="TextBox 9"/>
          <p:cNvSpPr txBox="1"/>
          <p:nvPr/>
        </p:nvSpPr>
        <p:spPr>
          <a:xfrm>
            <a:off x="365760" y="1920240"/>
            <a:ext cx="5943600" cy="365760"/>
          </a:xfrm>
          <a:prstGeom prst="rect">
            <a:avLst/>
          </a:prstGeom>
          <a:noFill/>
        </p:spPr>
        <p:txBody>
          <a:bodyPr wrap="square">
            <a:spAutoFit/>
          </a:bodyPr>
          <a:lstStyle/>
          <a:p>
            <a:pPr algn="l"/>
            <a:r>
              <a:rPr sz="1400" b="1" i="0">
                <a:solidFill>
                  <a:srgbClr val="064E3B"/>
                </a:solidFill>
              </a:rPr>
              <a:t>Steps to Register a New Parcel</a:t>
            </a:r>
          </a:p>
        </p:txBody>
      </p:sp>
      <p:sp>
        <p:nvSpPr>
          <p:cNvPr id="11" name="Rectangle 10"/>
          <p:cNvSpPr/>
          <p:nvPr/>
        </p:nvSpPr>
        <p:spPr>
          <a:xfrm>
            <a:off x="365760" y="237744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51460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87168"/>
            <a:ext cx="411480" cy="411480"/>
          </a:xfrm>
          <a:prstGeom prst="rect">
            <a:avLst/>
          </a:prstGeom>
          <a:noFill/>
        </p:spPr>
        <p:txBody>
          <a:bodyPr wrap="square">
            <a:spAutoFit/>
          </a:bodyPr>
          <a:lstStyle/>
          <a:p>
            <a:pPr algn="ctr"/>
            <a:r>
              <a:rPr sz="1400" b="1" i="0">
                <a:solidFill>
                  <a:srgbClr val="FFFFFF"/>
                </a:solidFill>
              </a:rPr>
              <a:t>1</a:t>
            </a:r>
          </a:p>
        </p:txBody>
      </p:sp>
      <p:sp>
        <p:nvSpPr>
          <p:cNvPr id="14" name="TextBox 13"/>
          <p:cNvSpPr txBox="1"/>
          <p:nvPr/>
        </p:nvSpPr>
        <p:spPr>
          <a:xfrm>
            <a:off x="960120" y="2450592"/>
            <a:ext cx="4800600" cy="274320"/>
          </a:xfrm>
          <a:prstGeom prst="rect">
            <a:avLst/>
          </a:prstGeom>
          <a:noFill/>
        </p:spPr>
        <p:txBody>
          <a:bodyPr wrap="square">
            <a:spAutoFit/>
          </a:bodyPr>
          <a:lstStyle/>
          <a:p>
            <a:pPr algn="l"/>
            <a:r>
              <a:rPr sz="1100" b="1" i="0">
                <a:solidFill>
                  <a:srgbClr val="064E3B"/>
                </a:solidFill>
              </a:rPr>
              <a:t>Tap '+ New Parcel'</a:t>
            </a:r>
          </a:p>
        </p:txBody>
      </p:sp>
      <p:sp>
        <p:nvSpPr>
          <p:cNvPr id="15" name="TextBox 14"/>
          <p:cNvSpPr txBox="1"/>
          <p:nvPr/>
        </p:nvSpPr>
        <p:spPr>
          <a:xfrm>
            <a:off x="960120" y="2724912"/>
            <a:ext cx="4800600" cy="384048"/>
          </a:xfrm>
          <a:prstGeom prst="rect">
            <a:avLst/>
          </a:prstGeom>
          <a:noFill/>
        </p:spPr>
        <p:txBody>
          <a:bodyPr wrap="square">
            <a:spAutoFit/>
          </a:bodyPr>
          <a:lstStyle/>
          <a:p>
            <a:pPr algn="l"/>
            <a:r>
              <a:rPr sz="950" b="0" i="0">
                <a:solidFill>
                  <a:srgbClr val="4B5563"/>
                </a:solidFill>
              </a:rPr>
              <a:t>Open the registration modal</a:t>
            </a:r>
          </a:p>
        </p:txBody>
      </p:sp>
      <p:sp>
        <p:nvSpPr>
          <p:cNvPr id="16" name="Rectangle 15"/>
          <p:cNvSpPr/>
          <p:nvPr/>
        </p:nvSpPr>
        <p:spPr>
          <a:xfrm>
            <a:off x="365760" y="297180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10896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081528"/>
            <a:ext cx="411480" cy="411480"/>
          </a:xfrm>
          <a:prstGeom prst="rect">
            <a:avLst/>
          </a:prstGeom>
          <a:noFill/>
        </p:spPr>
        <p:txBody>
          <a:bodyPr wrap="square">
            <a:spAutoFit/>
          </a:bodyPr>
          <a:lstStyle/>
          <a:p>
            <a:pPr algn="ctr"/>
            <a:r>
              <a:rPr sz="1400" b="1" i="0">
                <a:solidFill>
                  <a:srgbClr val="FFFFFF"/>
                </a:solidFill>
              </a:rPr>
              <a:t>2</a:t>
            </a:r>
          </a:p>
        </p:txBody>
      </p:sp>
      <p:sp>
        <p:nvSpPr>
          <p:cNvPr id="19" name="TextBox 18"/>
          <p:cNvSpPr txBox="1"/>
          <p:nvPr/>
        </p:nvSpPr>
        <p:spPr>
          <a:xfrm>
            <a:off x="960120" y="3044952"/>
            <a:ext cx="4800600" cy="274320"/>
          </a:xfrm>
          <a:prstGeom prst="rect">
            <a:avLst/>
          </a:prstGeom>
          <a:noFill/>
        </p:spPr>
        <p:txBody>
          <a:bodyPr wrap="square">
            <a:spAutoFit/>
          </a:bodyPr>
          <a:lstStyle/>
          <a:p>
            <a:pPr algn="l"/>
            <a:r>
              <a:rPr sz="1100" b="1" i="0">
                <a:solidFill>
                  <a:srgbClr val="064E3B"/>
                </a:solidFill>
              </a:rPr>
              <a:t>Enter Parcel Name &amp; Code</a:t>
            </a:r>
          </a:p>
        </p:txBody>
      </p:sp>
      <p:sp>
        <p:nvSpPr>
          <p:cNvPr id="20" name="TextBox 19"/>
          <p:cNvSpPr txBox="1"/>
          <p:nvPr/>
        </p:nvSpPr>
        <p:spPr>
          <a:xfrm>
            <a:off x="960120" y="3319272"/>
            <a:ext cx="4800600" cy="384048"/>
          </a:xfrm>
          <a:prstGeom prst="rect">
            <a:avLst/>
          </a:prstGeom>
          <a:noFill/>
        </p:spPr>
        <p:txBody>
          <a:bodyPr wrap="square">
            <a:spAutoFit/>
          </a:bodyPr>
          <a:lstStyle/>
          <a:p>
            <a:pPr algn="l"/>
            <a:r>
              <a:rPr sz="950" b="0" i="0">
                <a:solidFill>
                  <a:srgbClr val="4B5563"/>
                </a:solidFill>
              </a:rPr>
              <a:t>e.g., 'Sunrise Valley Parcel A' / 'PARCEL-SV-01'</a:t>
            </a:r>
          </a:p>
        </p:txBody>
      </p:sp>
      <p:sp>
        <p:nvSpPr>
          <p:cNvPr id="21" name="Rectangle 20"/>
          <p:cNvSpPr/>
          <p:nvPr/>
        </p:nvSpPr>
        <p:spPr>
          <a:xfrm>
            <a:off x="365760" y="356616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70332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3675888"/>
            <a:ext cx="411480" cy="411480"/>
          </a:xfrm>
          <a:prstGeom prst="rect">
            <a:avLst/>
          </a:prstGeom>
          <a:noFill/>
        </p:spPr>
        <p:txBody>
          <a:bodyPr wrap="square">
            <a:spAutoFit/>
          </a:bodyPr>
          <a:lstStyle/>
          <a:p>
            <a:pPr algn="ctr"/>
            <a:r>
              <a:rPr sz="1400" b="1" i="0">
                <a:solidFill>
                  <a:srgbClr val="FFFFFF"/>
                </a:solidFill>
              </a:rPr>
              <a:t>3</a:t>
            </a:r>
          </a:p>
        </p:txBody>
      </p:sp>
      <p:sp>
        <p:nvSpPr>
          <p:cNvPr id="24" name="TextBox 23"/>
          <p:cNvSpPr txBox="1"/>
          <p:nvPr/>
        </p:nvSpPr>
        <p:spPr>
          <a:xfrm>
            <a:off x="960120" y="3639312"/>
            <a:ext cx="4800600" cy="274320"/>
          </a:xfrm>
          <a:prstGeom prst="rect">
            <a:avLst/>
          </a:prstGeom>
          <a:noFill/>
        </p:spPr>
        <p:txBody>
          <a:bodyPr wrap="square">
            <a:spAutoFit/>
          </a:bodyPr>
          <a:lstStyle/>
          <a:p>
            <a:pPr algn="l"/>
            <a:r>
              <a:rPr sz="1100" b="1" i="0">
                <a:solidFill>
                  <a:srgbClr val="064E3B"/>
                </a:solidFill>
              </a:rPr>
              <a:t>Enter Landowner Details</a:t>
            </a:r>
          </a:p>
        </p:txBody>
      </p:sp>
      <p:sp>
        <p:nvSpPr>
          <p:cNvPr id="25" name="TextBox 24"/>
          <p:cNvSpPr txBox="1"/>
          <p:nvPr/>
        </p:nvSpPr>
        <p:spPr>
          <a:xfrm>
            <a:off x="960120" y="3913632"/>
            <a:ext cx="4800600" cy="384048"/>
          </a:xfrm>
          <a:prstGeom prst="rect">
            <a:avLst/>
          </a:prstGeom>
          <a:noFill/>
        </p:spPr>
        <p:txBody>
          <a:bodyPr wrap="square">
            <a:spAutoFit/>
          </a:bodyPr>
          <a:lstStyle/>
          <a:p>
            <a:pPr algn="l"/>
            <a:r>
              <a:rPr sz="950" b="0" i="0">
                <a:solidFill>
                  <a:srgbClr val="4B5563"/>
                </a:solidFill>
              </a:rPr>
              <a:t>Full name, contact number (09XX-XXX-XXXX)</a:t>
            </a:r>
          </a:p>
        </p:txBody>
      </p:sp>
      <p:sp>
        <p:nvSpPr>
          <p:cNvPr id="26" name="Rectangle 25"/>
          <p:cNvSpPr/>
          <p:nvPr/>
        </p:nvSpPr>
        <p:spPr>
          <a:xfrm>
            <a:off x="365760" y="416052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429768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4270248"/>
            <a:ext cx="411480" cy="411480"/>
          </a:xfrm>
          <a:prstGeom prst="rect">
            <a:avLst/>
          </a:prstGeom>
          <a:noFill/>
        </p:spPr>
        <p:txBody>
          <a:bodyPr wrap="square">
            <a:spAutoFit/>
          </a:bodyPr>
          <a:lstStyle/>
          <a:p>
            <a:pPr algn="ctr"/>
            <a:r>
              <a:rPr sz="1400" b="1" i="0">
                <a:solidFill>
                  <a:srgbClr val="FFFFFF"/>
                </a:solidFill>
              </a:rPr>
              <a:t>4</a:t>
            </a:r>
          </a:p>
        </p:txBody>
      </p:sp>
      <p:sp>
        <p:nvSpPr>
          <p:cNvPr id="29" name="TextBox 28"/>
          <p:cNvSpPr txBox="1"/>
          <p:nvPr/>
        </p:nvSpPr>
        <p:spPr>
          <a:xfrm>
            <a:off x="960120" y="4233672"/>
            <a:ext cx="4800600" cy="274320"/>
          </a:xfrm>
          <a:prstGeom prst="rect">
            <a:avLst/>
          </a:prstGeom>
          <a:noFill/>
        </p:spPr>
        <p:txBody>
          <a:bodyPr wrap="square">
            <a:spAutoFit/>
          </a:bodyPr>
          <a:lstStyle/>
          <a:p>
            <a:pPr algn="l"/>
            <a:r>
              <a:rPr sz="1100" b="1" i="0">
                <a:solidFill>
                  <a:srgbClr val="064E3B"/>
                </a:solidFill>
              </a:rPr>
              <a:t>Set Area in Hectares</a:t>
            </a:r>
          </a:p>
        </p:txBody>
      </p:sp>
      <p:sp>
        <p:nvSpPr>
          <p:cNvPr id="30" name="TextBox 29"/>
          <p:cNvSpPr txBox="1"/>
          <p:nvPr/>
        </p:nvSpPr>
        <p:spPr>
          <a:xfrm>
            <a:off x="960120" y="4507992"/>
            <a:ext cx="4800600" cy="384048"/>
          </a:xfrm>
          <a:prstGeom prst="rect">
            <a:avLst/>
          </a:prstGeom>
          <a:noFill/>
        </p:spPr>
        <p:txBody>
          <a:bodyPr wrap="square">
            <a:spAutoFit/>
          </a:bodyPr>
          <a:lstStyle/>
          <a:p>
            <a:pPr algn="l"/>
            <a:r>
              <a:rPr sz="950" b="0" i="0">
                <a:solidFill>
                  <a:srgbClr val="4B5563"/>
                </a:solidFill>
              </a:rPr>
              <a:t>e.g., 4.5 ha (net plantable area)</a:t>
            </a:r>
          </a:p>
        </p:txBody>
      </p:sp>
      <p:sp>
        <p:nvSpPr>
          <p:cNvPr id="31" name="Rectangle 30"/>
          <p:cNvSpPr/>
          <p:nvPr/>
        </p:nvSpPr>
        <p:spPr>
          <a:xfrm>
            <a:off x="365760" y="475488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489204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864608"/>
            <a:ext cx="411480" cy="411480"/>
          </a:xfrm>
          <a:prstGeom prst="rect">
            <a:avLst/>
          </a:prstGeom>
          <a:noFill/>
        </p:spPr>
        <p:txBody>
          <a:bodyPr wrap="square">
            <a:spAutoFit/>
          </a:bodyPr>
          <a:lstStyle/>
          <a:p>
            <a:pPr algn="ctr"/>
            <a:r>
              <a:rPr sz="1400" b="1" i="0">
                <a:solidFill>
                  <a:srgbClr val="FFFFFF"/>
                </a:solidFill>
              </a:rPr>
              <a:t>5</a:t>
            </a:r>
          </a:p>
        </p:txBody>
      </p:sp>
      <p:sp>
        <p:nvSpPr>
          <p:cNvPr id="34" name="TextBox 33"/>
          <p:cNvSpPr txBox="1"/>
          <p:nvPr/>
        </p:nvSpPr>
        <p:spPr>
          <a:xfrm>
            <a:off x="960120" y="4828032"/>
            <a:ext cx="4800600" cy="274320"/>
          </a:xfrm>
          <a:prstGeom prst="rect">
            <a:avLst/>
          </a:prstGeom>
          <a:noFill/>
        </p:spPr>
        <p:txBody>
          <a:bodyPr wrap="square">
            <a:spAutoFit/>
          </a:bodyPr>
          <a:lstStyle/>
          <a:p>
            <a:pPr algn="l"/>
            <a:r>
              <a:rPr sz="1100" b="1" i="0">
                <a:solidFill>
                  <a:srgbClr val="064E3B"/>
                </a:solidFill>
              </a:rPr>
              <a:t>Select Soil Type</a:t>
            </a:r>
          </a:p>
        </p:txBody>
      </p:sp>
      <p:sp>
        <p:nvSpPr>
          <p:cNvPr id="35" name="TextBox 34"/>
          <p:cNvSpPr txBox="1"/>
          <p:nvPr/>
        </p:nvSpPr>
        <p:spPr>
          <a:xfrm>
            <a:off x="960120" y="5102352"/>
            <a:ext cx="4800600" cy="384048"/>
          </a:xfrm>
          <a:prstGeom prst="rect">
            <a:avLst/>
          </a:prstGeom>
          <a:noFill/>
        </p:spPr>
        <p:txBody>
          <a:bodyPr wrap="square">
            <a:spAutoFit/>
          </a:bodyPr>
          <a:lstStyle/>
          <a:p>
            <a:pPr algn="l"/>
            <a:r>
              <a:rPr sz="950" b="0" i="0">
                <a:solidFill>
                  <a:srgbClr val="4B5563"/>
                </a:solidFill>
              </a:rPr>
              <a:t>Sandy Loam / Clay Loam / Loam / Silty Loam</a:t>
            </a:r>
          </a:p>
        </p:txBody>
      </p:sp>
      <p:sp>
        <p:nvSpPr>
          <p:cNvPr id="36" name="Rectangle 35"/>
          <p:cNvSpPr/>
          <p:nvPr/>
        </p:nvSpPr>
        <p:spPr>
          <a:xfrm>
            <a:off x="365760" y="534924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 y="548640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5458968"/>
            <a:ext cx="411480" cy="411480"/>
          </a:xfrm>
          <a:prstGeom prst="rect">
            <a:avLst/>
          </a:prstGeom>
          <a:noFill/>
        </p:spPr>
        <p:txBody>
          <a:bodyPr wrap="square">
            <a:spAutoFit/>
          </a:bodyPr>
          <a:lstStyle/>
          <a:p>
            <a:pPr algn="ctr"/>
            <a:r>
              <a:rPr sz="1400" b="1" i="0">
                <a:solidFill>
                  <a:srgbClr val="FFFFFF"/>
                </a:solidFill>
              </a:rPr>
              <a:t>6</a:t>
            </a:r>
          </a:p>
        </p:txBody>
      </p:sp>
      <p:sp>
        <p:nvSpPr>
          <p:cNvPr id="39" name="TextBox 38"/>
          <p:cNvSpPr txBox="1"/>
          <p:nvPr/>
        </p:nvSpPr>
        <p:spPr>
          <a:xfrm>
            <a:off x="960120" y="5422392"/>
            <a:ext cx="4800600" cy="274320"/>
          </a:xfrm>
          <a:prstGeom prst="rect">
            <a:avLst/>
          </a:prstGeom>
          <a:noFill/>
        </p:spPr>
        <p:txBody>
          <a:bodyPr wrap="square">
            <a:spAutoFit/>
          </a:bodyPr>
          <a:lstStyle/>
          <a:p>
            <a:pPr algn="l"/>
            <a:r>
              <a:rPr sz="1100" b="1" i="0">
                <a:solidFill>
                  <a:srgbClr val="064E3B"/>
                </a:solidFill>
              </a:rPr>
              <a:t>Enter Location Address</a:t>
            </a:r>
          </a:p>
        </p:txBody>
      </p:sp>
      <p:sp>
        <p:nvSpPr>
          <p:cNvPr id="40" name="TextBox 39"/>
          <p:cNvSpPr txBox="1"/>
          <p:nvPr/>
        </p:nvSpPr>
        <p:spPr>
          <a:xfrm>
            <a:off x="960120" y="5696712"/>
            <a:ext cx="4800600" cy="384048"/>
          </a:xfrm>
          <a:prstGeom prst="rect">
            <a:avLst/>
          </a:prstGeom>
          <a:noFill/>
        </p:spPr>
        <p:txBody>
          <a:bodyPr wrap="square">
            <a:spAutoFit/>
          </a:bodyPr>
          <a:lstStyle/>
          <a:p>
            <a:pPr algn="l"/>
            <a:r>
              <a:rPr sz="950" b="0" i="0">
                <a:solidFill>
                  <a:srgbClr val="4B5563"/>
                </a:solidFill>
              </a:rPr>
              <a:t>Barangay, Municipality, Province</a:t>
            </a:r>
          </a:p>
        </p:txBody>
      </p:sp>
      <p:sp>
        <p:nvSpPr>
          <p:cNvPr id="41" name="Rectangle 40"/>
          <p:cNvSpPr/>
          <p:nvPr/>
        </p:nvSpPr>
        <p:spPr>
          <a:xfrm>
            <a:off x="365760" y="594360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57200" y="608076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6053328"/>
            <a:ext cx="411480" cy="411480"/>
          </a:xfrm>
          <a:prstGeom prst="rect">
            <a:avLst/>
          </a:prstGeom>
          <a:noFill/>
        </p:spPr>
        <p:txBody>
          <a:bodyPr wrap="square">
            <a:spAutoFit/>
          </a:bodyPr>
          <a:lstStyle/>
          <a:p>
            <a:pPr algn="ctr"/>
            <a:r>
              <a:rPr sz="1400" b="1" i="0">
                <a:solidFill>
                  <a:srgbClr val="FFFFFF"/>
                </a:solidFill>
              </a:rPr>
              <a:t>7</a:t>
            </a:r>
          </a:p>
        </p:txBody>
      </p:sp>
      <p:sp>
        <p:nvSpPr>
          <p:cNvPr id="44" name="TextBox 43"/>
          <p:cNvSpPr txBox="1"/>
          <p:nvPr/>
        </p:nvSpPr>
        <p:spPr>
          <a:xfrm>
            <a:off x="960120" y="6016752"/>
            <a:ext cx="4800600" cy="274320"/>
          </a:xfrm>
          <a:prstGeom prst="rect">
            <a:avLst/>
          </a:prstGeom>
          <a:noFill/>
        </p:spPr>
        <p:txBody>
          <a:bodyPr wrap="square">
            <a:spAutoFit/>
          </a:bodyPr>
          <a:lstStyle/>
          <a:p>
            <a:pPr algn="l"/>
            <a:r>
              <a:rPr sz="1100" b="1" i="0">
                <a:solidFill>
                  <a:srgbClr val="064E3B"/>
                </a:solidFill>
              </a:rPr>
              <a:t>Tap 'Register Parcel'</a:t>
            </a:r>
          </a:p>
        </p:txBody>
      </p:sp>
      <p:sp>
        <p:nvSpPr>
          <p:cNvPr id="45" name="TextBox 44"/>
          <p:cNvSpPr txBox="1"/>
          <p:nvPr/>
        </p:nvSpPr>
        <p:spPr>
          <a:xfrm>
            <a:off x="960120" y="6291072"/>
            <a:ext cx="4800600" cy="384048"/>
          </a:xfrm>
          <a:prstGeom prst="rect">
            <a:avLst/>
          </a:prstGeom>
          <a:noFill/>
        </p:spPr>
        <p:txBody>
          <a:bodyPr wrap="square">
            <a:spAutoFit/>
          </a:bodyPr>
          <a:lstStyle/>
          <a:p>
            <a:pPr algn="l"/>
            <a:r>
              <a:rPr sz="950" b="0" i="0">
                <a:solidFill>
                  <a:srgbClr val="4B5563"/>
                </a:solidFill>
              </a:rPr>
              <a:t>Auto-initializes ₱1.00/kg rate + ₱25,000 guarantee</a:t>
            </a:r>
          </a:p>
        </p:txBody>
      </p:sp>
      <p:sp>
        <p:nvSpPr>
          <p:cNvPr id="46" name="Rectangle 45"/>
          <p:cNvSpPr/>
          <p:nvPr/>
        </p:nvSpPr>
        <p:spPr>
          <a:xfrm>
            <a:off x="6217920" y="1920240"/>
            <a:ext cx="5577840" cy="4572000"/>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0" y="2011680"/>
            <a:ext cx="5212080" cy="365760"/>
          </a:xfrm>
          <a:prstGeom prst="rect">
            <a:avLst/>
          </a:prstGeom>
          <a:noFill/>
        </p:spPr>
        <p:txBody>
          <a:bodyPr wrap="square">
            <a:spAutoFit/>
          </a:bodyPr>
          <a:lstStyle/>
          <a:p>
            <a:pPr algn="l"/>
            <a:r>
              <a:rPr sz="1300" b="1" i="0">
                <a:solidFill>
                  <a:srgbClr val="064E3B"/>
                </a:solidFill>
              </a:rPr>
              <a:t>📋  Parcel Status Types</a:t>
            </a:r>
          </a:p>
        </p:txBody>
      </p:sp>
      <p:sp>
        <p:nvSpPr>
          <p:cNvPr id="48" name="Rectangle 47"/>
          <p:cNvSpPr/>
          <p:nvPr/>
        </p:nvSpPr>
        <p:spPr>
          <a:xfrm>
            <a:off x="6400800" y="2514600"/>
            <a:ext cx="50292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37960" y="2560320"/>
            <a:ext cx="4572000" cy="274320"/>
          </a:xfrm>
          <a:prstGeom prst="rect">
            <a:avLst/>
          </a:prstGeom>
          <a:noFill/>
        </p:spPr>
        <p:txBody>
          <a:bodyPr wrap="square">
            <a:spAutoFit/>
          </a:bodyPr>
          <a:lstStyle/>
          <a:p>
            <a:pPr algn="l"/>
            <a:r>
              <a:rPr sz="1100" b="1" i="0">
                <a:solidFill>
                  <a:srgbClr val="064E3B"/>
                </a:solidFill>
              </a:rPr>
              <a:t>Available</a:t>
            </a:r>
          </a:p>
        </p:txBody>
      </p:sp>
      <p:sp>
        <p:nvSpPr>
          <p:cNvPr id="50" name="TextBox 49"/>
          <p:cNvSpPr txBox="1"/>
          <p:nvPr/>
        </p:nvSpPr>
        <p:spPr>
          <a:xfrm>
            <a:off x="6537960" y="2834640"/>
            <a:ext cx="4572000" cy="292608"/>
          </a:xfrm>
          <a:prstGeom prst="rect">
            <a:avLst/>
          </a:prstGeom>
          <a:noFill/>
        </p:spPr>
        <p:txBody>
          <a:bodyPr wrap="square">
            <a:spAutoFit/>
          </a:bodyPr>
          <a:lstStyle/>
          <a:p>
            <a:pPr algn="l"/>
            <a:r>
              <a:rPr sz="1000" b="0" i="0">
                <a:solidFill>
                  <a:srgbClr val="4B5563"/>
                </a:solidFill>
              </a:rPr>
              <a:t>Land is registered but no active crop cycle</a:t>
            </a:r>
          </a:p>
        </p:txBody>
      </p:sp>
      <p:sp>
        <p:nvSpPr>
          <p:cNvPr id="51" name="Rectangle 50"/>
          <p:cNvSpPr/>
          <p:nvPr/>
        </p:nvSpPr>
        <p:spPr>
          <a:xfrm>
            <a:off x="6400800" y="3273552"/>
            <a:ext cx="50292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37960" y="3319272"/>
            <a:ext cx="4572000" cy="274320"/>
          </a:xfrm>
          <a:prstGeom prst="rect">
            <a:avLst/>
          </a:prstGeom>
          <a:noFill/>
        </p:spPr>
        <p:txBody>
          <a:bodyPr wrap="square">
            <a:spAutoFit/>
          </a:bodyPr>
          <a:lstStyle/>
          <a:p>
            <a:pPr algn="l"/>
            <a:r>
              <a:rPr sz="1100" b="1" i="0">
                <a:solidFill>
                  <a:srgbClr val="064E3B"/>
                </a:solidFill>
              </a:rPr>
              <a:t>Planted</a:t>
            </a:r>
          </a:p>
        </p:txBody>
      </p:sp>
      <p:sp>
        <p:nvSpPr>
          <p:cNvPr id="53" name="TextBox 52"/>
          <p:cNvSpPr txBox="1"/>
          <p:nvPr/>
        </p:nvSpPr>
        <p:spPr>
          <a:xfrm>
            <a:off x="6537960" y="3593592"/>
            <a:ext cx="4572000" cy="292608"/>
          </a:xfrm>
          <a:prstGeom prst="rect">
            <a:avLst/>
          </a:prstGeom>
          <a:noFill/>
        </p:spPr>
        <p:txBody>
          <a:bodyPr wrap="square">
            <a:spAutoFit/>
          </a:bodyPr>
          <a:lstStyle/>
          <a:p>
            <a:pPr algn="l"/>
            <a:r>
              <a:rPr sz="1000" b="0" i="0">
                <a:solidFill>
                  <a:srgbClr val="4B5563"/>
                </a:solidFill>
              </a:rPr>
              <a:t>Seeds / cuttings in the ground, growing</a:t>
            </a:r>
          </a:p>
        </p:txBody>
      </p:sp>
      <p:sp>
        <p:nvSpPr>
          <p:cNvPr id="54" name="Rectangle 53"/>
          <p:cNvSpPr/>
          <p:nvPr/>
        </p:nvSpPr>
        <p:spPr>
          <a:xfrm>
            <a:off x="6400800" y="4032504"/>
            <a:ext cx="50292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37960" y="4078224"/>
            <a:ext cx="4572000" cy="274320"/>
          </a:xfrm>
          <a:prstGeom prst="rect">
            <a:avLst/>
          </a:prstGeom>
          <a:noFill/>
        </p:spPr>
        <p:txBody>
          <a:bodyPr wrap="square">
            <a:spAutoFit/>
          </a:bodyPr>
          <a:lstStyle/>
          <a:p>
            <a:pPr algn="l"/>
            <a:r>
              <a:rPr sz="1100" b="1" i="0">
                <a:solidFill>
                  <a:srgbClr val="064E3B"/>
                </a:solidFill>
              </a:rPr>
              <a:t>Harvesting</a:t>
            </a:r>
          </a:p>
        </p:txBody>
      </p:sp>
      <p:sp>
        <p:nvSpPr>
          <p:cNvPr id="56" name="TextBox 55"/>
          <p:cNvSpPr txBox="1"/>
          <p:nvPr/>
        </p:nvSpPr>
        <p:spPr>
          <a:xfrm>
            <a:off x="6537960" y="4352544"/>
            <a:ext cx="4572000" cy="292608"/>
          </a:xfrm>
          <a:prstGeom prst="rect">
            <a:avLst/>
          </a:prstGeom>
          <a:noFill/>
        </p:spPr>
        <p:txBody>
          <a:bodyPr wrap="square">
            <a:spAutoFit/>
          </a:bodyPr>
          <a:lstStyle/>
          <a:p>
            <a:pPr algn="l"/>
            <a:r>
              <a:rPr sz="1000" b="0" i="0">
                <a:solidFill>
                  <a:srgbClr val="4B5563"/>
                </a:solidFill>
              </a:rPr>
              <a:t>Active harvest operations underway</a:t>
            </a:r>
          </a:p>
        </p:txBody>
      </p:sp>
      <p:sp>
        <p:nvSpPr>
          <p:cNvPr id="57" name="Rectangle 56"/>
          <p:cNvSpPr/>
          <p:nvPr/>
        </p:nvSpPr>
        <p:spPr>
          <a:xfrm>
            <a:off x="6400800" y="4791456"/>
            <a:ext cx="50292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37960" y="4837176"/>
            <a:ext cx="4572000" cy="274320"/>
          </a:xfrm>
          <a:prstGeom prst="rect">
            <a:avLst/>
          </a:prstGeom>
          <a:noFill/>
        </p:spPr>
        <p:txBody>
          <a:bodyPr wrap="square">
            <a:spAutoFit/>
          </a:bodyPr>
          <a:lstStyle/>
          <a:p>
            <a:pPr algn="l"/>
            <a:r>
              <a:rPr sz="1100" b="1" i="0">
                <a:solidFill>
                  <a:srgbClr val="064E3B"/>
                </a:solidFill>
              </a:rPr>
              <a:t>Fallow</a:t>
            </a:r>
          </a:p>
        </p:txBody>
      </p:sp>
      <p:sp>
        <p:nvSpPr>
          <p:cNvPr id="59" name="TextBox 58"/>
          <p:cNvSpPr txBox="1"/>
          <p:nvPr/>
        </p:nvSpPr>
        <p:spPr>
          <a:xfrm>
            <a:off x="6537960" y="5111496"/>
            <a:ext cx="4572000" cy="292608"/>
          </a:xfrm>
          <a:prstGeom prst="rect">
            <a:avLst/>
          </a:prstGeom>
          <a:noFill/>
        </p:spPr>
        <p:txBody>
          <a:bodyPr wrap="square">
            <a:spAutoFit/>
          </a:bodyPr>
          <a:lstStyle/>
          <a:p>
            <a:pPr algn="l"/>
            <a:r>
              <a:rPr sz="1000" b="0" i="0">
                <a:solidFill>
                  <a:srgbClr val="4B5563"/>
                </a:solidFill>
              </a:rPr>
              <a:t>Rest period after harvest, soil recovery</a:t>
            </a:r>
          </a:p>
        </p:txBody>
      </p:sp>
      <p:sp>
        <p:nvSpPr>
          <p:cNvPr id="60" name="TextBox 59"/>
          <p:cNvSpPr txBox="1"/>
          <p:nvPr/>
        </p:nvSpPr>
        <p:spPr>
          <a:xfrm>
            <a:off x="6400800" y="5349240"/>
            <a:ext cx="5212080" cy="1005840"/>
          </a:xfrm>
          <a:prstGeom prst="rect">
            <a:avLst/>
          </a:prstGeom>
          <a:noFill/>
        </p:spPr>
        <p:txBody>
          <a:bodyPr wrap="square">
            <a:spAutoFit/>
          </a:bodyPr>
          <a:lstStyle/>
          <a:p>
            <a:pPr algn="l"/>
            <a:r>
              <a:rPr sz="1050" b="0" i="1">
                <a:solidFill>
                  <a:srgbClr val="064E3B"/>
                </a:solidFill>
              </a:rPr>
              <a:t>💡  Auto-Initialized Settlement Terms
On save, the system automatically sets the default
landowner rate to ₱1.00/kg and guaranteed minimum
to ₱25,000.00 per crop cycle.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640080"/>
          </a:xfrm>
          <a:prstGeom prst="rect">
            <a:avLst/>
          </a:prstGeom>
          <a:noFill/>
        </p:spPr>
        <p:txBody>
          <a:bodyPr wrap="square">
            <a:spAutoFit/>
          </a:bodyPr>
          <a:lstStyle/>
          <a:p>
            <a:pPr algn="l"/>
            <a:r>
              <a:rPr sz="2800" b="1" i="0">
                <a:solidFill>
                  <a:srgbClr val="FFFFFF"/>
                </a:solidFill>
              </a:rPr>
              <a:t>Module 3 — GPS Boundary Mapping</a:t>
            </a:r>
          </a:p>
        </p:txBody>
      </p:sp>
      <p:sp>
        <p:nvSpPr>
          <p:cNvPr id="5" name="TextBox 4"/>
          <p:cNvSpPr txBox="1"/>
          <p:nvPr/>
        </p:nvSpPr>
        <p:spPr>
          <a:xfrm>
            <a:off x="457200" y="685800"/>
            <a:ext cx="11274552" cy="457200"/>
          </a:xfrm>
          <a:prstGeom prst="rect">
            <a:avLst/>
          </a:prstGeom>
          <a:noFill/>
        </p:spPr>
        <p:txBody>
          <a:bodyPr wrap="square">
            <a:spAutoFit/>
          </a:bodyPr>
          <a:lstStyle/>
          <a:p>
            <a:pPr algn="l"/>
            <a:r>
              <a:rPr sz="1300" b="0" i="0">
                <a:solidFill>
                  <a:srgbClr val="A7F3D0"/>
                </a:solidFill>
              </a:rPr>
              <a:t>Plots exact geospatial perimeters for each farm parcel</a:t>
            </a:r>
          </a:p>
        </p:txBody>
      </p:sp>
      <p:sp>
        <p:nvSpPr>
          <p:cNvPr id="6" name="Rectangle 5"/>
          <p:cNvSpPr/>
          <p:nvPr/>
        </p:nvSpPr>
        <p:spPr>
          <a:xfrm>
            <a:off x="0" y="6537960"/>
            <a:ext cx="12188952" cy="32004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65392"/>
            <a:ext cx="7315200" cy="274320"/>
          </a:xfrm>
          <a:prstGeom prst="rect">
            <a:avLst/>
          </a:prstGeom>
          <a:noFill/>
        </p:spPr>
        <p:txBody>
          <a:bodyPr wrap="square">
            <a:spAutoFit/>
          </a:bodyPr>
          <a:lstStyle/>
          <a:p>
            <a:pPr algn="l"/>
            <a:r>
              <a:rPr sz="800" b="0" i="0">
                <a:solidFill>
                  <a:srgbClr val="9CA3AF"/>
                </a:solidFill>
              </a:rPr>
              <a:t>JetFarm Agribusiness Outgrower Platform  |  Confidential</a:t>
            </a:r>
          </a:p>
        </p:txBody>
      </p:sp>
      <p:sp>
        <p:nvSpPr>
          <p:cNvPr id="8" name="TextBox 7"/>
          <p:cNvSpPr txBox="1"/>
          <p:nvPr/>
        </p:nvSpPr>
        <p:spPr>
          <a:xfrm>
            <a:off x="10360152" y="6565392"/>
            <a:ext cx="1645920" cy="274320"/>
          </a:xfrm>
          <a:prstGeom prst="rect">
            <a:avLst/>
          </a:prstGeom>
          <a:noFill/>
        </p:spPr>
        <p:txBody>
          <a:bodyPr wrap="square">
            <a:spAutoFit/>
          </a:bodyPr>
          <a:lstStyle/>
          <a:p>
            <a:pPr algn="r"/>
            <a:r>
              <a:rPr sz="800" b="0" i="0">
                <a:solidFill>
                  <a:srgbClr val="9CA3AF"/>
                </a:solidFill>
              </a:rPr>
              <a:t>Slide 6 / 14</a:t>
            </a:r>
          </a:p>
        </p:txBody>
      </p:sp>
      <p:sp>
        <p:nvSpPr>
          <p:cNvPr id="9" name="TextBox 8"/>
          <p:cNvSpPr txBox="1"/>
          <p:nvPr/>
        </p:nvSpPr>
        <p:spPr>
          <a:xfrm>
            <a:off x="457200" y="1371600"/>
            <a:ext cx="11247120" cy="502920"/>
          </a:xfrm>
          <a:prstGeom prst="rect">
            <a:avLst/>
          </a:prstGeom>
          <a:noFill/>
        </p:spPr>
        <p:txBody>
          <a:bodyPr wrap="square">
            <a:spAutoFit/>
          </a:bodyPr>
          <a:lstStyle/>
          <a:p>
            <a:pPr algn="l"/>
            <a:r>
              <a:rPr sz="1200" b="0" i="0">
                <a:solidFill>
                  <a:srgbClr val="4B5563"/>
                </a:solidFill>
              </a:rPr>
              <a:t>🗺️  Purpose: Records GPS polygon boundaries for each parcel — prevents land disputes, computes accurate GPS-derived hectarage, and generates shareable field maps.</a:t>
            </a:r>
          </a:p>
        </p:txBody>
      </p:sp>
      <p:sp>
        <p:nvSpPr>
          <p:cNvPr id="10" name="Rectangle 9"/>
          <p:cNvSpPr/>
          <p:nvPr/>
        </p:nvSpPr>
        <p:spPr>
          <a:xfrm>
            <a:off x="365760" y="2011680"/>
            <a:ext cx="5577840" cy="42976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103120"/>
            <a:ext cx="5212080" cy="365760"/>
          </a:xfrm>
          <a:prstGeom prst="rect">
            <a:avLst/>
          </a:prstGeom>
          <a:noFill/>
        </p:spPr>
        <p:txBody>
          <a:bodyPr wrap="square">
            <a:spAutoFit/>
          </a:bodyPr>
          <a:lstStyle/>
          <a:p>
            <a:pPr algn="l"/>
            <a:r>
              <a:rPr sz="1400" b="1" i="0">
                <a:solidFill>
                  <a:srgbClr val="FFFFFF"/>
                </a:solidFill>
              </a:rPr>
              <a:t>📱 Method A — Live GPS Walk</a:t>
            </a:r>
          </a:p>
        </p:txBody>
      </p:sp>
      <p:sp>
        <p:nvSpPr>
          <p:cNvPr id="12" name="TextBox 11"/>
          <p:cNvSpPr txBox="1"/>
          <p:nvPr/>
        </p:nvSpPr>
        <p:spPr>
          <a:xfrm>
            <a:off x="548640" y="2514600"/>
            <a:ext cx="5212080" cy="320040"/>
          </a:xfrm>
          <a:prstGeom prst="rect">
            <a:avLst/>
          </a:prstGeom>
          <a:noFill/>
        </p:spPr>
        <p:txBody>
          <a:bodyPr wrap="square">
            <a:spAutoFit/>
          </a:bodyPr>
          <a:lstStyle/>
          <a:p>
            <a:pPr algn="l"/>
            <a:r>
              <a:rPr sz="1000" b="0" i="1">
                <a:solidFill>
                  <a:srgbClr val="93C5FD"/>
                </a:solidFill>
              </a:rPr>
              <a:t>Use for: Mobile device in the field with GPS signal</a:t>
            </a:r>
          </a:p>
        </p:txBody>
      </p:sp>
      <p:sp>
        <p:nvSpPr>
          <p:cNvPr id="13" name="TextBox 12"/>
          <p:cNvSpPr txBox="1"/>
          <p:nvPr/>
        </p:nvSpPr>
        <p:spPr>
          <a:xfrm>
            <a:off x="594360" y="2880360"/>
            <a:ext cx="5120640" cy="347472"/>
          </a:xfrm>
          <a:prstGeom prst="rect">
            <a:avLst/>
          </a:prstGeom>
          <a:noFill/>
        </p:spPr>
        <p:txBody>
          <a:bodyPr wrap="square">
            <a:spAutoFit/>
          </a:bodyPr>
          <a:lstStyle/>
          <a:p>
            <a:pPr algn="l"/>
            <a:r>
              <a:rPr sz="1050" b="0" i="0">
                <a:solidFill>
                  <a:srgbClr val="FFFFFF"/>
                </a:solidFill>
              </a:rPr>
              <a:t>1.  Select parcel from dropdown</a:t>
            </a:r>
          </a:p>
        </p:txBody>
      </p:sp>
      <p:sp>
        <p:nvSpPr>
          <p:cNvPr id="14" name="TextBox 13"/>
          <p:cNvSpPr txBox="1"/>
          <p:nvPr/>
        </p:nvSpPr>
        <p:spPr>
          <a:xfrm>
            <a:off x="594360" y="3282696"/>
            <a:ext cx="5120640" cy="347472"/>
          </a:xfrm>
          <a:prstGeom prst="rect">
            <a:avLst/>
          </a:prstGeom>
          <a:noFill/>
        </p:spPr>
        <p:txBody>
          <a:bodyPr wrap="square">
            <a:spAutoFit/>
          </a:bodyPr>
          <a:lstStyle/>
          <a:p>
            <a:pPr algn="l"/>
            <a:r>
              <a:rPr sz="1050" b="0" i="0">
                <a:solidFill>
                  <a:srgbClr val="FFFFFF"/>
                </a:solidFill>
              </a:rPr>
              <a:t>2.  Walk to the first corner stake</a:t>
            </a:r>
          </a:p>
        </p:txBody>
      </p:sp>
      <p:sp>
        <p:nvSpPr>
          <p:cNvPr id="15" name="TextBox 14"/>
          <p:cNvSpPr txBox="1"/>
          <p:nvPr/>
        </p:nvSpPr>
        <p:spPr>
          <a:xfrm>
            <a:off x="594360" y="3685032"/>
            <a:ext cx="5120640" cy="347472"/>
          </a:xfrm>
          <a:prstGeom prst="rect">
            <a:avLst/>
          </a:prstGeom>
          <a:noFill/>
        </p:spPr>
        <p:txBody>
          <a:bodyPr wrap="square">
            <a:spAutoFit/>
          </a:bodyPr>
          <a:lstStyle/>
          <a:p>
            <a:pPr algn="l"/>
            <a:r>
              <a:rPr sz="1050" b="0" i="0">
                <a:solidFill>
                  <a:srgbClr val="FFFFFF"/>
                </a:solidFill>
              </a:rPr>
              <a:t>3.  Tap 'Start Boundary Walk' → GPS activates</a:t>
            </a:r>
          </a:p>
        </p:txBody>
      </p:sp>
      <p:sp>
        <p:nvSpPr>
          <p:cNvPr id="16" name="TextBox 15"/>
          <p:cNvSpPr txBox="1"/>
          <p:nvPr/>
        </p:nvSpPr>
        <p:spPr>
          <a:xfrm>
            <a:off x="594360" y="4087368"/>
            <a:ext cx="5120640" cy="347472"/>
          </a:xfrm>
          <a:prstGeom prst="rect">
            <a:avLst/>
          </a:prstGeom>
          <a:noFill/>
        </p:spPr>
        <p:txBody>
          <a:bodyPr wrap="square">
            <a:spAutoFit/>
          </a:bodyPr>
          <a:lstStyle/>
          <a:p>
            <a:pPr algn="l"/>
            <a:r>
              <a:rPr sz="1050" b="0" i="0">
                <a:solidFill>
                  <a:srgbClr val="FFFFFF"/>
                </a:solidFill>
              </a:rPr>
              <a:t>4.  Walk the perimeter — vertices auto-record</a:t>
            </a:r>
          </a:p>
        </p:txBody>
      </p:sp>
      <p:sp>
        <p:nvSpPr>
          <p:cNvPr id="17" name="TextBox 16"/>
          <p:cNvSpPr txBox="1"/>
          <p:nvPr/>
        </p:nvSpPr>
        <p:spPr>
          <a:xfrm>
            <a:off x="594360" y="4489704"/>
            <a:ext cx="5120640" cy="347472"/>
          </a:xfrm>
          <a:prstGeom prst="rect">
            <a:avLst/>
          </a:prstGeom>
          <a:noFill/>
        </p:spPr>
        <p:txBody>
          <a:bodyPr wrap="square">
            <a:spAutoFit/>
          </a:bodyPr>
          <a:lstStyle/>
          <a:p>
            <a:pPr algn="l"/>
            <a:r>
              <a:rPr sz="1050" b="0" i="0">
                <a:solidFill>
                  <a:srgbClr val="FFFFFF"/>
                </a:solidFill>
              </a:rPr>
              <a:t>5.  Return to start → 'Stop &amp; Close Polygon'</a:t>
            </a:r>
          </a:p>
        </p:txBody>
      </p:sp>
      <p:sp>
        <p:nvSpPr>
          <p:cNvPr id="18" name="TextBox 17"/>
          <p:cNvSpPr txBox="1"/>
          <p:nvPr/>
        </p:nvSpPr>
        <p:spPr>
          <a:xfrm>
            <a:off x="594360" y="4892040"/>
            <a:ext cx="5120640" cy="347472"/>
          </a:xfrm>
          <a:prstGeom prst="rect">
            <a:avLst/>
          </a:prstGeom>
          <a:noFill/>
        </p:spPr>
        <p:txBody>
          <a:bodyPr wrap="square">
            <a:spAutoFit/>
          </a:bodyPr>
          <a:lstStyle/>
          <a:p>
            <a:pPr algn="l"/>
            <a:r>
              <a:rPr sz="1050" b="0" i="0">
                <a:solidFill>
                  <a:srgbClr val="FFFFFF"/>
                </a:solidFill>
              </a:rPr>
              <a:t>6.  Tap 'Save GPS Boundaries'</a:t>
            </a:r>
          </a:p>
        </p:txBody>
      </p:sp>
      <p:sp>
        <p:nvSpPr>
          <p:cNvPr id="19" name="Rectangle 18"/>
          <p:cNvSpPr/>
          <p:nvPr/>
        </p:nvSpPr>
        <p:spPr>
          <a:xfrm>
            <a:off x="6217920" y="2011680"/>
            <a:ext cx="5577840" cy="429768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103120"/>
            <a:ext cx="5212080" cy="365760"/>
          </a:xfrm>
          <a:prstGeom prst="rect">
            <a:avLst/>
          </a:prstGeom>
          <a:noFill/>
        </p:spPr>
        <p:txBody>
          <a:bodyPr wrap="square">
            <a:spAutoFit/>
          </a:bodyPr>
          <a:lstStyle/>
          <a:p>
            <a:pPr algn="l"/>
            <a:r>
              <a:rPr sz="1400" b="1" i="0">
                <a:solidFill>
                  <a:srgbClr val="FFFFFF"/>
                </a:solidFill>
              </a:rPr>
              <a:t>⌨️  Method B — Manual Coordinates</a:t>
            </a:r>
          </a:p>
        </p:txBody>
      </p:sp>
      <p:sp>
        <p:nvSpPr>
          <p:cNvPr id="21" name="TextBox 20"/>
          <p:cNvSpPr txBox="1"/>
          <p:nvPr/>
        </p:nvSpPr>
        <p:spPr>
          <a:xfrm>
            <a:off x="6400800" y="2514600"/>
            <a:ext cx="5212080" cy="320040"/>
          </a:xfrm>
          <a:prstGeom prst="rect">
            <a:avLst/>
          </a:prstGeom>
          <a:noFill/>
        </p:spPr>
        <p:txBody>
          <a:bodyPr wrap="square">
            <a:spAutoFit/>
          </a:bodyPr>
          <a:lstStyle/>
          <a:p>
            <a:pPr algn="l"/>
            <a:r>
              <a:rPr sz="1000" b="0" i="1">
                <a:solidFill>
                  <a:srgbClr val="6EE7B7"/>
                </a:solidFill>
              </a:rPr>
              <a:t>Use for: Office entry from surveyor's coordinate sheet</a:t>
            </a:r>
          </a:p>
        </p:txBody>
      </p:sp>
      <p:sp>
        <p:nvSpPr>
          <p:cNvPr id="22" name="TextBox 21"/>
          <p:cNvSpPr txBox="1"/>
          <p:nvPr/>
        </p:nvSpPr>
        <p:spPr>
          <a:xfrm>
            <a:off x="6446520" y="2880360"/>
            <a:ext cx="5120640" cy="347472"/>
          </a:xfrm>
          <a:prstGeom prst="rect">
            <a:avLst/>
          </a:prstGeom>
          <a:noFill/>
        </p:spPr>
        <p:txBody>
          <a:bodyPr wrap="square">
            <a:spAutoFit/>
          </a:bodyPr>
          <a:lstStyle/>
          <a:p>
            <a:pPr algn="l"/>
            <a:r>
              <a:rPr sz="1050" b="0" i="0">
                <a:solidFill>
                  <a:srgbClr val="FFFFFF"/>
                </a:solidFill>
              </a:rPr>
              <a:t>1.  Select parcel from dropdown</a:t>
            </a:r>
          </a:p>
        </p:txBody>
      </p:sp>
      <p:sp>
        <p:nvSpPr>
          <p:cNvPr id="23" name="TextBox 22"/>
          <p:cNvSpPr txBox="1"/>
          <p:nvPr/>
        </p:nvSpPr>
        <p:spPr>
          <a:xfrm>
            <a:off x="6446520" y="3282696"/>
            <a:ext cx="5120640" cy="347472"/>
          </a:xfrm>
          <a:prstGeom prst="rect">
            <a:avLst/>
          </a:prstGeom>
          <a:noFill/>
        </p:spPr>
        <p:txBody>
          <a:bodyPr wrap="square">
            <a:spAutoFit/>
          </a:bodyPr>
          <a:lstStyle/>
          <a:p>
            <a:pPr algn="l"/>
            <a:r>
              <a:rPr sz="1050" b="0" i="0">
                <a:solidFill>
                  <a:srgbClr val="FFFFFF"/>
                </a:solidFill>
              </a:rPr>
              <a:t>2.  Enter Latitude (e.g., 6.491200)</a:t>
            </a:r>
          </a:p>
        </p:txBody>
      </p:sp>
      <p:sp>
        <p:nvSpPr>
          <p:cNvPr id="24" name="TextBox 23"/>
          <p:cNvSpPr txBox="1"/>
          <p:nvPr/>
        </p:nvSpPr>
        <p:spPr>
          <a:xfrm>
            <a:off x="6446520" y="3685032"/>
            <a:ext cx="5120640" cy="347472"/>
          </a:xfrm>
          <a:prstGeom prst="rect">
            <a:avLst/>
          </a:prstGeom>
          <a:noFill/>
        </p:spPr>
        <p:txBody>
          <a:bodyPr wrap="square">
            <a:spAutoFit/>
          </a:bodyPr>
          <a:lstStyle/>
          <a:p>
            <a:pPr algn="l"/>
            <a:r>
              <a:rPr sz="1050" b="0" i="0">
                <a:solidFill>
                  <a:srgbClr val="FFFFFF"/>
                </a:solidFill>
              </a:rPr>
              <a:t>3.  Enter Longitude (e.g., 124.675400)</a:t>
            </a:r>
          </a:p>
        </p:txBody>
      </p:sp>
      <p:sp>
        <p:nvSpPr>
          <p:cNvPr id="25" name="TextBox 24"/>
          <p:cNvSpPr txBox="1"/>
          <p:nvPr/>
        </p:nvSpPr>
        <p:spPr>
          <a:xfrm>
            <a:off x="6446520" y="4087368"/>
            <a:ext cx="5120640" cy="347472"/>
          </a:xfrm>
          <a:prstGeom prst="rect">
            <a:avLst/>
          </a:prstGeom>
          <a:noFill/>
        </p:spPr>
        <p:txBody>
          <a:bodyPr wrap="square">
            <a:spAutoFit/>
          </a:bodyPr>
          <a:lstStyle/>
          <a:p>
            <a:pPr algn="l"/>
            <a:r>
              <a:rPr sz="1050" b="0" i="0">
                <a:solidFill>
                  <a:srgbClr val="FFFFFF"/>
                </a:solidFill>
              </a:rPr>
              <a:t>4.  Tap '+ Add Vertex' for each corner</a:t>
            </a:r>
          </a:p>
        </p:txBody>
      </p:sp>
      <p:sp>
        <p:nvSpPr>
          <p:cNvPr id="26" name="TextBox 25"/>
          <p:cNvSpPr txBox="1"/>
          <p:nvPr/>
        </p:nvSpPr>
        <p:spPr>
          <a:xfrm>
            <a:off x="6446520" y="4489704"/>
            <a:ext cx="5120640" cy="347472"/>
          </a:xfrm>
          <a:prstGeom prst="rect">
            <a:avLst/>
          </a:prstGeom>
          <a:noFill/>
        </p:spPr>
        <p:txBody>
          <a:bodyPr wrap="square">
            <a:spAutoFit/>
          </a:bodyPr>
          <a:lstStyle/>
          <a:p>
            <a:pPr algn="l"/>
            <a:r>
              <a:rPr sz="1050" b="0" i="0">
                <a:solidFill>
                  <a:srgbClr val="FFFFFF"/>
                </a:solidFill>
              </a:rPr>
              <a:t>5.  Visual polygon updates live on map</a:t>
            </a:r>
          </a:p>
        </p:txBody>
      </p:sp>
      <p:sp>
        <p:nvSpPr>
          <p:cNvPr id="27" name="TextBox 26"/>
          <p:cNvSpPr txBox="1"/>
          <p:nvPr/>
        </p:nvSpPr>
        <p:spPr>
          <a:xfrm>
            <a:off x="6446520" y="4892040"/>
            <a:ext cx="5120640" cy="347472"/>
          </a:xfrm>
          <a:prstGeom prst="rect">
            <a:avLst/>
          </a:prstGeom>
          <a:noFill/>
        </p:spPr>
        <p:txBody>
          <a:bodyPr wrap="square">
            <a:spAutoFit/>
          </a:bodyPr>
          <a:lstStyle/>
          <a:p>
            <a:pPr algn="l"/>
            <a:r>
              <a:rPr sz="1050" b="0" i="0">
                <a:solidFill>
                  <a:srgbClr val="FFFFFF"/>
                </a:solidFill>
              </a:rPr>
              <a:t>6.  Tap 'Save GPS Boundaries'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640080"/>
          </a:xfrm>
          <a:prstGeom prst="rect">
            <a:avLst/>
          </a:prstGeom>
          <a:noFill/>
        </p:spPr>
        <p:txBody>
          <a:bodyPr wrap="square">
            <a:spAutoFit/>
          </a:bodyPr>
          <a:lstStyle/>
          <a:p>
            <a:pPr algn="l"/>
            <a:r>
              <a:rPr sz="2800" b="1" i="0">
                <a:solidFill>
                  <a:srgbClr val="FFFFFF"/>
                </a:solidFill>
              </a:rPr>
              <a:t>Module 4 — Cassava Crop Cycles</a:t>
            </a:r>
          </a:p>
        </p:txBody>
      </p:sp>
      <p:sp>
        <p:nvSpPr>
          <p:cNvPr id="5" name="TextBox 4"/>
          <p:cNvSpPr txBox="1"/>
          <p:nvPr/>
        </p:nvSpPr>
        <p:spPr>
          <a:xfrm>
            <a:off x="457200" y="685800"/>
            <a:ext cx="11274552" cy="457200"/>
          </a:xfrm>
          <a:prstGeom prst="rect">
            <a:avLst/>
          </a:prstGeom>
          <a:noFill/>
        </p:spPr>
        <p:txBody>
          <a:bodyPr wrap="square">
            <a:spAutoFit/>
          </a:bodyPr>
          <a:lstStyle/>
          <a:p>
            <a:pPr algn="l"/>
            <a:r>
              <a:rPr sz="1300" b="0" i="0">
                <a:solidFill>
                  <a:srgbClr val="A7F3D0"/>
                </a:solidFill>
              </a:rPr>
              <a:t>Schedule, monitor, and close planting-to-harvest agricultural campaigns</a:t>
            </a:r>
          </a:p>
        </p:txBody>
      </p:sp>
      <p:sp>
        <p:nvSpPr>
          <p:cNvPr id="6" name="Rectangle 5"/>
          <p:cNvSpPr/>
          <p:nvPr/>
        </p:nvSpPr>
        <p:spPr>
          <a:xfrm>
            <a:off x="0" y="6537960"/>
            <a:ext cx="12188952" cy="32004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65392"/>
            <a:ext cx="7315200" cy="274320"/>
          </a:xfrm>
          <a:prstGeom prst="rect">
            <a:avLst/>
          </a:prstGeom>
          <a:noFill/>
        </p:spPr>
        <p:txBody>
          <a:bodyPr wrap="square">
            <a:spAutoFit/>
          </a:bodyPr>
          <a:lstStyle/>
          <a:p>
            <a:pPr algn="l"/>
            <a:r>
              <a:rPr sz="800" b="0" i="0">
                <a:solidFill>
                  <a:srgbClr val="9CA3AF"/>
                </a:solidFill>
              </a:rPr>
              <a:t>JetFarm Agribusiness Outgrower Platform  |  Confidential</a:t>
            </a:r>
          </a:p>
        </p:txBody>
      </p:sp>
      <p:sp>
        <p:nvSpPr>
          <p:cNvPr id="8" name="TextBox 7"/>
          <p:cNvSpPr txBox="1"/>
          <p:nvPr/>
        </p:nvSpPr>
        <p:spPr>
          <a:xfrm>
            <a:off x="10360152" y="6565392"/>
            <a:ext cx="1645920" cy="274320"/>
          </a:xfrm>
          <a:prstGeom prst="rect">
            <a:avLst/>
          </a:prstGeom>
          <a:noFill/>
        </p:spPr>
        <p:txBody>
          <a:bodyPr wrap="square">
            <a:spAutoFit/>
          </a:bodyPr>
          <a:lstStyle/>
          <a:p>
            <a:pPr algn="r"/>
            <a:r>
              <a:rPr sz="800" b="0" i="0">
                <a:solidFill>
                  <a:srgbClr val="9CA3AF"/>
                </a:solidFill>
              </a:rPr>
              <a:t>Slide 7 / 14</a:t>
            </a:r>
          </a:p>
        </p:txBody>
      </p:sp>
      <p:sp>
        <p:nvSpPr>
          <p:cNvPr id="9" name="TextBox 8"/>
          <p:cNvSpPr txBox="1"/>
          <p:nvPr/>
        </p:nvSpPr>
        <p:spPr>
          <a:xfrm>
            <a:off x="457200" y="1371600"/>
            <a:ext cx="11247120" cy="457200"/>
          </a:xfrm>
          <a:prstGeom prst="rect">
            <a:avLst/>
          </a:prstGeom>
          <a:noFill/>
        </p:spPr>
        <p:txBody>
          <a:bodyPr wrap="square">
            <a:spAutoFit/>
          </a:bodyPr>
          <a:lstStyle/>
          <a:p>
            <a:pPr algn="l"/>
            <a:r>
              <a:rPr sz="1200" b="0" i="0">
                <a:solidFill>
                  <a:srgbClr val="4B5563"/>
                </a:solidFill>
              </a:rPr>
              <a:t>🌱  Purpose: Coordinates crop variety selection, planting dates, investor allocation, growth monitoring, and harvest readiness per parcel.</a:t>
            </a:r>
          </a:p>
        </p:txBody>
      </p:sp>
      <p:sp>
        <p:nvSpPr>
          <p:cNvPr id="10" name="TextBox 9"/>
          <p:cNvSpPr txBox="1"/>
          <p:nvPr/>
        </p:nvSpPr>
        <p:spPr>
          <a:xfrm>
            <a:off x="365760" y="1920240"/>
            <a:ext cx="5760720" cy="347472"/>
          </a:xfrm>
          <a:prstGeom prst="rect">
            <a:avLst/>
          </a:prstGeom>
          <a:noFill/>
        </p:spPr>
        <p:txBody>
          <a:bodyPr wrap="square">
            <a:spAutoFit/>
          </a:bodyPr>
          <a:lstStyle/>
          <a:p>
            <a:pPr algn="l"/>
            <a:r>
              <a:rPr sz="1300" b="1" i="0">
                <a:solidFill>
                  <a:srgbClr val="064E3B"/>
                </a:solidFill>
              </a:rPr>
              <a:t>Launching a New Crop Cycle</a:t>
            </a:r>
          </a:p>
        </p:txBody>
      </p:sp>
      <p:sp>
        <p:nvSpPr>
          <p:cNvPr id="11" name="Rectangle 10"/>
          <p:cNvSpPr/>
          <p:nvPr/>
        </p:nvSpPr>
        <p:spPr>
          <a:xfrm>
            <a:off x="365760" y="2331720"/>
            <a:ext cx="566928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46888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41448"/>
            <a:ext cx="411480" cy="411480"/>
          </a:xfrm>
          <a:prstGeom prst="rect">
            <a:avLst/>
          </a:prstGeom>
          <a:noFill/>
        </p:spPr>
        <p:txBody>
          <a:bodyPr wrap="square">
            <a:spAutoFit/>
          </a:bodyPr>
          <a:lstStyle/>
          <a:p>
            <a:pPr algn="ctr"/>
            <a:r>
              <a:rPr sz="1400" b="1" i="0">
                <a:solidFill>
                  <a:srgbClr val="FFFFFF"/>
                </a:solidFill>
              </a:rPr>
              <a:t>1</a:t>
            </a:r>
          </a:p>
        </p:txBody>
      </p:sp>
      <p:sp>
        <p:nvSpPr>
          <p:cNvPr id="14" name="TextBox 13"/>
          <p:cNvSpPr txBox="1"/>
          <p:nvPr/>
        </p:nvSpPr>
        <p:spPr>
          <a:xfrm>
            <a:off x="960120" y="2404872"/>
            <a:ext cx="4983480" cy="274320"/>
          </a:xfrm>
          <a:prstGeom prst="rect">
            <a:avLst/>
          </a:prstGeom>
          <a:noFill/>
        </p:spPr>
        <p:txBody>
          <a:bodyPr wrap="square">
            <a:spAutoFit/>
          </a:bodyPr>
          <a:lstStyle/>
          <a:p>
            <a:pPr algn="l"/>
            <a:r>
              <a:rPr sz="1100" b="1" i="0">
                <a:solidFill>
                  <a:srgbClr val="064E3B"/>
                </a:solidFill>
              </a:rPr>
              <a:t>Select Parcel</a:t>
            </a:r>
          </a:p>
        </p:txBody>
      </p:sp>
      <p:sp>
        <p:nvSpPr>
          <p:cNvPr id="15" name="TextBox 14"/>
          <p:cNvSpPr txBox="1"/>
          <p:nvPr/>
        </p:nvSpPr>
        <p:spPr>
          <a:xfrm>
            <a:off x="960120" y="2679192"/>
            <a:ext cx="4983480" cy="384048"/>
          </a:xfrm>
          <a:prstGeom prst="rect">
            <a:avLst/>
          </a:prstGeom>
          <a:noFill/>
        </p:spPr>
        <p:txBody>
          <a:bodyPr wrap="square">
            <a:spAutoFit/>
          </a:bodyPr>
          <a:lstStyle/>
          <a:p>
            <a:pPr algn="l"/>
            <a:r>
              <a:rPr sz="950" b="0" i="0">
                <a:solidFill>
                  <a:srgbClr val="4B5563"/>
                </a:solidFill>
              </a:rPr>
              <a:t>Choose a registered available or fallow parcel</a:t>
            </a:r>
          </a:p>
        </p:txBody>
      </p:sp>
      <p:sp>
        <p:nvSpPr>
          <p:cNvPr id="16" name="Rectangle 15"/>
          <p:cNvSpPr/>
          <p:nvPr/>
        </p:nvSpPr>
        <p:spPr>
          <a:xfrm>
            <a:off x="365760" y="2953512"/>
            <a:ext cx="566928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090672"/>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063240"/>
            <a:ext cx="411480" cy="411480"/>
          </a:xfrm>
          <a:prstGeom prst="rect">
            <a:avLst/>
          </a:prstGeom>
          <a:noFill/>
        </p:spPr>
        <p:txBody>
          <a:bodyPr wrap="square">
            <a:spAutoFit/>
          </a:bodyPr>
          <a:lstStyle/>
          <a:p>
            <a:pPr algn="ctr"/>
            <a:r>
              <a:rPr sz="1400" b="1" i="0">
                <a:solidFill>
                  <a:srgbClr val="FFFFFF"/>
                </a:solidFill>
              </a:rPr>
              <a:t>2</a:t>
            </a:r>
          </a:p>
        </p:txBody>
      </p:sp>
      <p:sp>
        <p:nvSpPr>
          <p:cNvPr id="19" name="TextBox 18"/>
          <p:cNvSpPr txBox="1"/>
          <p:nvPr/>
        </p:nvSpPr>
        <p:spPr>
          <a:xfrm>
            <a:off x="960120" y="3026664"/>
            <a:ext cx="4983480" cy="274320"/>
          </a:xfrm>
          <a:prstGeom prst="rect">
            <a:avLst/>
          </a:prstGeom>
          <a:noFill/>
        </p:spPr>
        <p:txBody>
          <a:bodyPr wrap="square">
            <a:spAutoFit/>
          </a:bodyPr>
          <a:lstStyle/>
          <a:p>
            <a:pPr algn="l"/>
            <a:r>
              <a:rPr sz="1100" b="1" i="0">
                <a:solidFill>
                  <a:srgbClr val="064E3B"/>
                </a:solidFill>
              </a:rPr>
              <a:t>Assign Investor</a:t>
            </a:r>
          </a:p>
        </p:txBody>
      </p:sp>
      <p:sp>
        <p:nvSpPr>
          <p:cNvPr id="20" name="TextBox 19"/>
          <p:cNvSpPr txBox="1"/>
          <p:nvPr/>
        </p:nvSpPr>
        <p:spPr>
          <a:xfrm>
            <a:off x="960120" y="3300984"/>
            <a:ext cx="4983480" cy="384048"/>
          </a:xfrm>
          <a:prstGeom prst="rect">
            <a:avLst/>
          </a:prstGeom>
          <a:noFill/>
        </p:spPr>
        <p:txBody>
          <a:bodyPr wrap="square">
            <a:spAutoFit/>
          </a:bodyPr>
          <a:lstStyle/>
          <a:p>
            <a:pPr algn="l"/>
            <a:r>
              <a:rPr sz="950" b="0" i="0">
                <a:solidFill>
                  <a:srgbClr val="4B5563"/>
                </a:solidFill>
              </a:rPr>
              <a:t>e.g., BioGreen Agri Solutions</a:t>
            </a:r>
          </a:p>
        </p:txBody>
      </p:sp>
      <p:sp>
        <p:nvSpPr>
          <p:cNvPr id="21" name="Rectangle 20"/>
          <p:cNvSpPr/>
          <p:nvPr/>
        </p:nvSpPr>
        <p:spPr>
          <a:xfrm>
            <a:off x="365760" y="3575304"/>
            <a:ext cx="566928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712464"/>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3685032"/>
            <a:ext cx="411480" cy="411480"/>
          </a:xfrm>
          <a:prstGeom prst="rect">
            <a:avLst/>
          </a:prstGeom>
          <a:noFill/>
        </p:spPr>
        <p:txBody>
          <a:bodyPr wrap="square">
            <a:spAutoFit/>
          </a:bodyPr>
          <a:lstStyle/>
          <a:p>
            <a:pPr algn="ctr"/>
            <a:r>
              <a:rPr sz="1400" b="1" i="0">
                <a:solidFill>
                  <a:srgbClr val="FFFFFF"/>
                </a:solidFill>
              </a:rPr>
              <a:t>3</a:t>
            </a:r>
          </a:p>
        </p:txBody>
      </p:sp>
      <p:sp>
        <p:nvSpPr>
          <p:cNvPr id="24" name="TextBox 23"/>
          <p:cNvSpPr txBox="1"/>
          <p:nvPr/>
        </p:nvSpPr>
        <p:spPr>
          <a:xfrm>
            <a:off x="960120" y="3648456"/>
            <a:ext cx="4983480" cy="274320"/>
          </a:xfrm>
          <a:prstGeom prst="rect">
            <a:avLst/>
          </a:prstGeom>
          <a:noFill/>
        </p:spPr>
        <p:txBody>
          <a:bodyPr wrap="square">
            <a:spAutoFit/>
          </a:bodyPr>
          <a:lstStyle/>
          <a:p>
            <a:pPr algn="l"/>
            <a:r>
              <a:rPr sz="1100" b="1" i="0">
                <a:solidFill>
                  <a:srgbClr val="064E3B"/>
                </a:solidFill>
              </a:rPr>
              <a:t>Select Crop Variety</a:t>
            </a:r>
          </a:p>
        </p:txBody>
      </p:sp>
      <p:sp>
        <p:nvSpPr>
          <p:cNvPr id="25" name="TextBox 24"/>
          <p:cNvSpPr txBox="1"/>
          <p:nvPr/>
        </p:nvSpPr>
        <p:spPr>
          <a:xfrm>
            <a:off x="960120" y="3922776"/>
            <a:ext cx="4983480" cy="384048"/>
          </a:xfrm>
          <a:prstGeom prst="rect">
            <a:avLst/>
          </a:prstGeom>
          <a:noFill/>
        </p:spPr>
        <p:txBody>
          <a:bodyPr wrap="square">
            <a:spAutoFit/>
          </a:bodyPr>
          <a:lstStyle/>
          <a:p>
            <a:pPr algn="l"/>
            <a:r>
              <a:rPr sz="950" b="0" i="0">
                <a:solidFill>
                  <a:srgbClr val="4B5563"/>
                </a:solidFill>
              </a:rPr>
              <a:t>KU50 Cassava / Pioneer 30T80 Hybrid Corn / Golden Yellow</a:t>
            </a:r>
          </a:p>
        </p:txBody>
      </p:sp>
      <p:sp>
        <p:nvSpPr>
          <p:cNvPr id="26" name="Rectangle 25"/>
          <p:cNvSpPr/>
          <p:nvPr/>
        </p:nvSpPr>
        <p:spPr>
          <a:xfrm>
            <a:off x="365760" y="4197096"/>
            <a:ext cx="566928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4334256"/>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4306824"/>
            <a:ext cx="411480" cy="411480"/>
          </a:xfrm>
          <a:prstGeom prst="rect">
            <a:avLst/>
          </a:prstGeom>
          <a:noFill/>
        </p:spPr>
        <p:txBody>
          <a:bodyPr wrap="square">
            <a:spAutoFit/>
          </a:bodyPr>
          <a:lstStyle/>
          <a:p>
            <a:pPr algn="ctr"/>
            <a:r>
              <a:rPr sz="1400" b="1" i="0">
                <a:solidFill>
                  <a:srgbClr val="FFFFFF"/>
                </a:solidFill>
              </a:rPr>
              <a:t>4</a:t>
            </a:r>
          </a:p>
        </p:txBody>
      </p:sp>
      <p:sp>
        <p:nvSpPr>
          <p:cNvPr id="29" name="TextBox 28"/>
          <p:cNvSpPr txBox="1"/>
          <p:nvPr/>
        </p:nvSpPr>
        <p:spPr>
          <a:xfrm>
            <a:off x="960120" y="4270248"/>
            <a:ext cx="4983480" cy="274320"/>
          </a:xfrm>
          <a:prstGeom prst="rect">
            <a:avLst/>
          </a:prstGeom>
          <a:noFill/>
        </p:spPr>
        <p:txBody>
          <a:bodyPr wrap="square">
            <a:spAutoFit/>
          </a:bodyPr>
          <a:lstStyle/>
          <a:p>
            <a:pPr algn="l"/>
            <a:r>
              <a:rPr sz="1100" b="1" i="0">
                <a:solidFill>
                  <a:srgbClr val="064E3B"/>
                </a:solidFill>
              </a:rPr>
              <a:t>Confirm Planted Area</a:t>
            </a:r>
          </a:p>
        </p:txBody>
      </p:sp>
      <p:sp>
        <p:nvSpPr>
          <p:cNvPr id="30" name="TextBox 29"/>
          <p:cNvSpPr txBox="1"/>
          <p:nvPr/>
        </p:nvSpPr>
        <p:spPr>
          <a:xfrm>
            <a:off x="960120" y="4544568"/>
            <a:ext cx="4983480" cy="384048"/>
          </a:xfrm>
          <a:prstGeom prst="rect">
            <a:avLst/>
          </a:prstGeom>
          <a:noFill/>
        </p:spPr>
        <p:txBody>
          <a:bodyPr wrap="square">
            <a:spAutoFit/>
          </a:bodyPr>
          <a:lstStyle/>
          <a:p>
            <a:pPr algn="l"/>
            <a:r>
              <a:rPr sz="950" b="0" i="0">
                <a:solidFill>
                  <a:srgbClr val="4B5563"/>
                </a:solidFill>
              </a:rPr>
              <a:t>Verify hectares match parcel registry</a:t>
            </a:r>
          </a:p>
        </p:txBody>
      </p:sp>
      <p:sp>
        <p:nvSpPr>
          <p:cNvPr id="31" name="Rectangle 30"/>
          <p:cNvSpPr/>
          <p:nvPr/>
        </p:nvSpPr>
        <p:spPr>
          <a:xfrm>
            <a:off x="365760" y="4818888"/>
            <a:ext cx="566928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4956048"/>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928616"/>
            <a:ext cx="411480" cy="411480"/>
          </a:xfrm>
          <a:prstGeom prst="rect">
            <a:avLst/>
          </a:prstGeom>
          <a:noFill/>
        </p:spPr>
        <p:txBody>
          <a:bodyPr wrap="square">
            <a:spAutoFit/>
          </a:bodyPr>
          <a:lstStyle/>
          <a:p>
            <a:pPr algn="ctr"/>
            <a:r>
              <a:rPr sz="1400" b="1" i="0">
                <a:solidFill>
                  <a:srgbClr val="FFFFFF"/>
                </a:solidFill>
              </a:rPr>
              <a:t>5</a:t>
            </a:r>
          </a:p>
        </p:txBody>
      </p:sp>
      <p:sp>
        <p:nvSpPr>
          <p:cNvPr id="34" name="TextBox 33"/>
          <p:cNvSpPr txBox="1"/>
          <p:nvPr/>
        </p:nvSpPr>
        <p:spPr>
          <a:xfrm>
            <a:off x="960120" y="4892040"/>
            <a:ext cx="4983480" cy="274320"/>
          </a:xfrm>
          <a:prstGeom prst="rect">
            <a:avLst/>
          </a:prstGeom>
          <a:noFill/>
        </p:spPr>
        <p:txBody>
          <a:bodyPr wrap="square">
            <a:spAutoFit/>
          </a:bodyPr>
          <a:lstStyle/>
          <a:p>
            <a:pPr algn="l"/>
            <a:r>
              <a:rPr sz="1100" b="1" i="0">
                <a:solidFill>
                  <a:srgbClr val="064E3B"/>
                </a:solidFill>
              </a:rPr>
              <a:t>Set Offtake Price</a:t>
            </a:r>
          </a:p>
        </p:txBody>
      </p:sp>
      <p:sp>
        <p:nvSpPr>
          <p:cNvPr id="35" name="TextBox 34"/>
          <p:cNvSpPr txBox="1"/>
          <p:nvPr/>
        </p:nvSpPr>
        <p:spPr>
          <a:xfrm>
            <a:off x="960120" y="5166360"/>
            <a:ext cx="4983480" cy="384048"/>
          </a:xfrm>
          <a:prstGeom prst="rect">
            <a:avLst/>
          </a:prstGeom>
          <a:noFill/>
        </p:spPr>
        <p:txBody>
          <a:bodyPr wrap="square">
            <a:spAutoFit/>
          </a:bodyPr>
          <a:lstStyle/>
          <a:p>
            <a:pPr algn="l"/>
            <a:r>
              <a:rPr sz="950" b="0" i="0">
                <a:solidFill>
                  <a:srgbClr val="4B5563"/>
                </a:solidFill>
              </a:rPr>
              <a:t>e.g., ₱4.00/kg (cassava), ₱16.50/kg (corn)</a:t>
            </a:r>
          </a:p>
        </p:txBody>
      </p:sp>
      <p:sp>
        <p:nvSpPr>
          <p:cNvPr id="36" name="Rectangle 35"/>
          <p:cNvSpPr/>
          <p:nvPr/>
        </p:nvSpPr>
        <p:spPr>
          <a:xfrm>
            <a:off x="365760" y="5440680"/>
            <a:ext cx="566928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 y="557784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5550408"/>
            <a:ext cx="411480" cy="411480"/>
          </a:xfrm>
          <a:prstGeom prst="rect">
            <a:avLst/>
          </a:prstGeom>
          <a:noFill/>
        </p:spPr>
        <p:txBody>
          <a:bodyPr wrap="square">
            <a:spAutoFit/>
          </a:bodyPr>
          <a:lstStyle/>
          <a:p>
            <a:pPr algn="ctr"/>
            <a:r>
              <a:rPr sz="1400" b="1" i="0">
                <a:solidFill>
                  <a:srgbClr val="FFFFFF"/>
                </a:solidFill>
              </a:rPr>
              <a:t>6</a:t>
            </a:r>
          </a:p>
        </p:txBody>
      </p:sp>
      <p:sp>
        <p:nvSpPr>
          <p:cNvPr id="39" name="TextBox 38"/>
          <p:cNvSpPr txBox="1"/>
          <p:nvPr/>
        </p:nvSpPr>
        <p:spPr>
          <a:xfrm>
            <a:off x="960120" y="5513832"/>
            <a:ext cx="4983480" cy="274320"/>
          </a:xfrm>
          <a:prstGeom prst="rect">
            <a:avLst/>
          </a:prstGeom>
          <a:noFill/>
        </p:spPr>
        <p:txBody>
          <a:bodyPr wrap="square">
            <a:spAutoFit/>
          </a:bodyPr>
          <a:lstStyle/>
          <a:p>
            <a:pPr algn="l"/>
            <a:r>
              <a:rPr sz="1100" b="1" i="0">
                <a:solidFill>
                  <a:srgbClr val="064E3B"/>
                </a:solidFill>
              </a:rPr>
              <a:t>Tap 'Schedule Crop Cycle'</a:t>
            </a:r>
          </a:p>
        </p:txBody>
      </p:sp>
      <p:sp>
        <p:nvSpPr>
          <p:cNvPr id="40" name="TextBox 39"/>
          <p:cNvSpPr txBox="1"/>
          <p:nvPr/>
        </p:nvSpPr>
        <p:spPr>
          <a:xfrm>
            <a:off x="960120" y="5788152"/>
            <a:ext cx="4983480" cy="384048"/>
          </a:xfrm>
          <a:prstGeom prst="rect">
            <a:avLst/>
          </a:prstGeom>
          <a:noFill/>
        </p:spPr>
        <p:txBody>
          <a:bodyPr wrap="square">
            <a:spAutoFit/>
          </a:bodyPr>
          <a:lstStyle/>
          <a:p>
            <a:pPr algn="l"/>
            <a:r>
              <a:rPr sz="950" b="0" i="0">
                <a:solidFill>
                  <a:srgbClr val="4B5563"/>
                </a:solidFill>
              </a:rPr>
              <a:t>Auto-assigns CYCLE-2026-CAS-01, status: growing</a:t>
            </a:r>
          </a:p>
        </p:txBody>
      </p:sp>
      <p:sp>
        <p:nvSpPr>
          <p:cNvPr id="41" name="TextBox 40"/>
          <p:cNvSpPr txBox="1"/>
          <p:nvPr/>
        </p:nvSpPr>
        <p:spPr>
          <a:xfrm>
            <a:off x="6309360" y="1920240"/>
            <a:ext cx="5486400" cy="347472"/>
          </a:xfrm>
          <a:prstGeom prst="rect">
            <a:avLst/>
          </a:prstGeom>
          <a:noFill/>
        </p:spPr>
        <p:txBody>
          <a:bodyPr wrap="square">
            <a:spAutoFit/>
          </a:bodyPr>
          <a:lstStyle/>
          <a:p>
            <a:pPr algn="l"/>
            <a:r>
              <a:rPr sz="1300" b="1" i="0">
                <a:solidFill>
                  <a:srgbClr val="1E3A8A"/>
                </a:solidFill>
              </a:rPr>
              <a:t>Logging a Growth Check-In</a:t>
            </a:r>
          </a:p>
        </p:txBody>
      </p:sp>
      <p:sp>
        <p:nvSpPr>
          <p:cNvPr id="42" name="Rectangle 41"/>
          <p:cNvSpPr/>
          <p:nvPr/>
        </p:nvSpPr>
        <p:spPr>
          <a:xfrm>
            <a:off x="6217920" y="2331720"/>
            <a:ext cx="557784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309360" y="2468880"/>
            <a:ext cx="41148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09360" y="2441448"/>
            <a:ext cx="411480" cy="411480"/>
          </a:xfrm>
          <a:prstGeom prst="rect">
            <a:avLst/>
          </a:prstGeom>
          <a:noFill/>
        </p:spPr>
        <p:txBody>
          <a:bodyPr wrap="square">
            <a:spAutoFit/>
          </a:bodyPr>
          <a:lstStyle/>
          <a:p>
            <a:pPr algn="ctr"/>
            <a:r>
              <a:rPr sz="1400" b="1" i="0">
                <a:solidFill>
                  <a:srgbClr val="FFFFFF"/>
                </a:solidFill>
              </a:rPr>
              <a:t>1</a:t>
            </a:r>
          </a:p>
        </p:txBody>
      </p:sp>
      <p:sp>
        <p:nvSpPr>
          <p:cNvPr id="45" name="TextBox 44"/>
          <p:cNvSpPr txBox="1"/>
          <p:nvPr/>
        </p:nvSpPr>
        <p:spPr>
          <a:xfrm>
            <a:off x="6812280" y="2404872"/>
            <a:ext cx="4892040" cy="274320"/>
          </a:xfrm>
          <a:prstGeom prst="rect">
            <a:avLst/>
          </a:prstGeom>
          <a:noFill/>
        </p:spPr>
        <p:txBody>
          <a:bodyPr wrap="square">
            <a:spAutoFit/>
          </a:bodyPr>
          <a:lstStyle/>
          <a:p>
            <a:pPr algn="l"/>
            <a:r>
              <a:rPr sz="1100" b="1" i="0">
                <a:solidFill>
                  <a:srgbClr val="064E3B"/>
                </a:solidFill>
              </a:rPr>
              <a:t>Tap 'Growth Check-in'</a:t>
            </a:r>
          </a:p>
        </p:txBody>
      </p:sp>
      <p:sp>
        <p:nvSpPr>
          <p:cNvPr id="46" name="TextBox 45"/>
          <p:cNvSpPr txBox="1"/>
          <p:nvPr/>
        </p:nvSpPr>
        <p:spPr>
          <a:xfrm>
            <a:off x="6812280" y="2679192"/>
            <a:ext cx="4892040" cy="384048"/>
          </a:xfrm>
          <a:prstGeom prst="rect">
            <a:avLst/>
          </a:prstGeom>
          <a:noFill/>
        </p:spPr>
        <p:txBody>
          <a:bodyPr wrap="square">
            <a:spAutoFit/>
          </a:bodyPr>
          <a:lstStyle/>
          <a:p>
            <a:pPr algn="l"/>
            <a:r>
              <a:rPr sz="950" b="0" i="0">
                <a:solidFill>
                  <a:srgbClr val="4B5563"/>
                </a:solidFill>
              </a:rPr>
              <a:t>On any active cycle card</a:t>
            </a:r>
          </a:p>
        </p:txBody>
      </p:sp>
      <p:sp>
        <p:nvSpPr>
          <p:cNvPr id="47" name="Rectangle 46"/>
          <p:cNvSpPr/>
          <p:nvPr/>
        </p:nvSpPr>
        <p:spPr>
          <a:xfrm>
            <a:off x="6217920" y="2953512"/>
            <a:ext cx="557784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309360" y="3090672"/>
            <a:ext cx="41148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09360" y="3063240"/>
            <a:ext cx="411480" cy="411480"/>
          </a:xfrm>
          <a:prstGeom prst="rect">
            <a:avLst/>
          </a:prstGeom>
          <a:noFill/>
        </p:spPr>
        <p:txBody>
          <a:bodyPr wrap="square">
            <a:spAutoFit/>
          </a:bodyPr>
          <a:lstStyle/>
          <a:p>
            <a:pPr algn="ctr"/>
            <a:r>
              <a:rPr sz="1400" b="1" i="0">
                <a:solidFill>
                  <a:srgbClr val="FFFFFF"/>
                </a:solidFill>
              </a:rPr>
              <a:t>2</a:t>
            </a:r>
          </a:p>
        </p:txBody>
      </p:sp>
      <p:sp>
        <p:nvSpPr>
          <p:cNvPr id="50" name="TextBox 49"/>
          <p:cNvSpPr txBox="1"/>
          <p:nvPr/>
        </p:nvSpPr>
        <p:spPr>
          <a:xfrm>
            <a:off x="6812280" y="3026664"/>
            <a:ext cx="4892040" cy="274320"/>
          </a:xfrm>
          <a:prstGeom prst="rect">
            <a:avLst/>
          </a:prstGeom>
          <a:noFill/>
        </p:spPr>
        <p:txBody>
          <a:bodyPr wrap="square">
            <a:spAutoFit/>
          </a:bodyPr>
          <a:lstStyle/>
          <a:p>
            <a:pPr algn="l"/>
            <a:r>
              <a:rPr sz="1100" b="1" i="0">
                <a:solidFill>
                  <a:srgbClr val="064E3B"/>
                </a:solidFill>
              </a:rPr>
              <a:t>Select Growth Stage</a:t>
            </a:r>
          </a:p>
        </p:txBody>
      </p:sp>
      <p:sp>
        <p:nvSpPr>
          <p:cNvPr id="51" name="TextBox 50"/>
          <p:cNvSpPr txBox="1"/>
          <p:nvPr/>
        </p:nvSpPr>
        <p:spPr>
          <a:xfrm>
            <a:off x="6812280" y="3300984"/>
            <a:ext cx="4892040" cy="384048"/>
          </a:xfrm>
          <a:prstGeom prst="rect">
            <a:avLst/>
          </a:prstGeom>
          <a:noFill/>
        </p:spPr>
        <p:txBody>
          <a:bodyPr wrap="square">
            <a:spAutoFit/>
          </a:bodyPr>
          <a:lstStyle/>
          <a:p>
            <a:pPr algn="l"/>
            <a:r>
              <a:rPr sz="950" b="0" i="0">
                <a:solidFill>
                  <a:srgbClr val="4B5563"/>
                </a:solidFill>
              </a:rPr>
              <a:t>Sprouting / Vegetative / Root Bulking / Maturity</a:t>
            </a:r>
          </a:p>
        </p:txBody>
      </p:sp>
      <p:sp>
        <p:nvSpPr>
          <p:cNvPr id="52" name="Rectangle 51"/>
          <p:cNvSpPr/>
          <p:nvPr/>
        </p:nvSpPr>
        <p:spPr>
          <a:xfrm>
            <a:off x="6217920" y="3575304"/>
            <a:ext cx="557784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09360" y="3712464"/>
            <a:ext cx="41148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09360" y="3685032"/>
            <a:ext cx="411480" cy="411480"/>
          </a:xfrm>
          <a:prstGeom prst="rect">
            <a:avLst/>
          </a:prstGeom>
          <a:noFill/>
        </p:spPr>
        <p:txBody>
          <a:bodyPr wrap="square">
            <a:spAutoFit/>
          </a:bodyPr>
          <a:lstStyle/>
          <a:p>
            <a:pPr algn="ctr"/>
            <a:r>
              <a:rPr sz="1400" b="1" i="0">
                <a:solidFill>
                  <a:srgbClr val="FFFFFF"/>
                </a:solidFill>
              </a:rPr>
              <a:t>3</a:t>
            </a:r>
          </a:p>
        </p:txBody>
      </p:sp>
      <p:sp>
        <p:nvSpPr>
          <p:cNvPr id="55" name="TextBox 54"/>
          <p:cNvSpPr txBox="1"/>
          <p:nvPr/>
        </p:nvSpPr>
        <p:spPr>
          <a:xfrm>
            <a:off x="6812280" y="3648456"/>
            <a:ext cx="4892040" cy="274320"/>
          </a:xfrm>
          <a:prstGeom prst="rect">
            <a:avLst/>
          </a:prstGeom>
          <a:noFill/>
        </p:spPr>
        <p:txBody>
          <a:bodyPr wrap="square">
            <a:spAutoFit/>
          </a:bodyPr>
          <a:lstStyle/>
          <a:p>
            <a:pPr algn="l"/>
            <a:r>
              <a:rPr sz="1100" b="1" i="0">
                <a:solidFill>
                  <a:srgbClr val="064E3B"/>
                </a:solidFill>
              </a:rPr>
              <a:t>Record Plant Height (cm)</a:t>
            </a:r>
          </a:p>
        </p:txBody>
      </p:sp>
      <p:sp>
        <p:nvSpPr>
          <p:cNvPr id="56" name="TextBox 55"/>
          <p:cNvSpPr txBox="1"/>
          <p:nvPr/>
        </p:nvSpPr>
        <p:spPr>
          <a:xfrm>
            <a:off x="6812280" y="3922776"/>
            <a:ext cx="4892040" cy="384048"/>
          </a:xfrm>
          <a:prstGeom prst="rect">
            <a:avLst/>
          </a:prstGeom>
          <a:noFill/>
        </p:spPr>
        <p:txBody>
          <a:bodyPr wrap="square">
            <a:spAutoFit/>
          </a:bodyPr>
          <a:lstStyle/>
          <a:p>
            <a:pPr algn="l"/>
            <a:r>
              <a:rPr sz="950" b="0" i="0">
                <a:solidFill>
                  <a:srgbClr val="4B5563"/>
                </a:solidFill>
              </a:rPr>
              <a:t>e.g., 120 cm average stand</a:t>
            </a:r>
          </a:p>
        </p:txBody>
      </p:sp>
      <p:sp>
        <p:nvSpPr>
          <p:cNvPr id="57" name="Rectangle 56"/>
          <p:cNvSpPr/>
          <p:nvPr/>
        </p:nvSpPr>
        <p:spPr>
          <a:xfrm>
            <a:off x="6217920" y="4197096"/>
            <a:ext cx="557784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309360" y="4334256"/>
            <a:ext cx="41148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0" y="4306824"/>
            <a:ext cx="411480" cy="411480"/>
          </a:xfrm>
          <a:prstGeom prst="rect">
            <a:avLst/>
          </a:prstGeom>
          <a:noFill/>
        </p:spPr>
        <p:txBody>
          <a:bodyPr wrap="square">
            <a:spAutoFit/>
          </a:bodyPr>
          <a:lstStyle/>
          <a:p>
            <a:pPr algn="ctr"/>
            <a:r>
              <a:rPr sz="1400" b="1" i="0">
                <a:solidFill>
                  <a:srgbClr val="FFFFFF"/>
                </a:solidFill>
              </a:rPr>
              <a:t>4</a:t>
            </a:r>
          </a:p>
        </p:txBody>
      </p:sp>
      <p:sp>
        <p:nvSpPr>
          <p:cNvPr id="60" name="TextBox 59"/>
          <p:cNvSpPr txBox="1"/>
          <p:nvPr/>
        </p:nvSpPr>
        <p:spPr>
          <a:xfrm>
            <a:off x="6812280" y="4270248"/>
            <a:ext cx="4892040" cy="274320"/>
          </a:xfrm>
          <a:prstGeom prst="rect">
            <a:avLst/>
          </a:prstGeom>
          <a:noFill/>
        </p:spPr>
        <p:txBody>
          <a:bodyPr wrap="square">
            <a:spAutoFit/>
          </a:bodyPr>
          <a:lstStyle/>
          <a:p>
            <a:pPr algn="l"/>
            <a:r>
              <a:rPr sz="1100" b="1" i="0">
                <a:solidFill>
                  <a:srgbClr val="064E3B"/>
                </a:solidFill>
              </a:rPr>
              <a:t>Set Health Status</a:t>
            </a:r>
          </a:p>
        </p:txBody>
      </p:sp>
      <p:sp>
        <p:nvSpPr>
          <p:cNvPr id="61" name="TextBox 60"/>
          <p:cNvSpPr txBox="1"/>
          <p:nvPr/>
        </p:nvSpPr>
        <p:spPr>
          <a:xfrm>
            <a:off x="6812280" y="4544568"/>
            <a:ext cx="4892040" cy="384048"/>
          </a:xfrm>
          <a:prstGeom prst="rect">
            <a:avLst/>
          </a:prstGeom>
          <a:noFill/>
        </p:spPr>
        <p:txBody>
          <a:bodyPr wrap="square">
            <a:spAutoFit/>
          </a:bodyPr>
          <a:lstStyle/>
          <a:p>
            <a:pPr algn="l"/>
            <a:r>
              <a:rPr sz="950" b="0" i="0">
                <a:solidFill>
                  <a:srgbClr val="4B5563"/>
                </a:solidFill>
              </a:rPr>
              <a:t>Excellent / Good / Needs Attention / Pest Infested</a:t>
            </a:r>
          </a:p>
        </p:txBody>
      </p:sp>
      <p:sp>
        <p:nvSpPr>
          <p:cNvPr id="62" name="Rectangle 61"/>
          <p:cNvSpPr/>
          <p:nvPr/>
        </p:nvSpPr>
        <p:spPr>
          <a:xfrm>
            <a:off x="6217920" y="4818888"/>
            <a:ext cx="557784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309360" y="4956048"/>
            <a:ext cx="41148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309360" y="4928616"/>
            <a:ext cx="411480" cy="411480"/>
          </a:xfrm>
          <a:prstGeom prst="rect">
            <a:avLst/>
          </a:prstGeom>
          <a:noFill/>
        </p:spPr>
        <p:txBody>
          <a:bodyPr wrap="square">
            <a:spAutoFit/>
          </a:bodyPr>
          <a:lstStyle/>
          <a:p>
            <a:pPr algn="ctr"/>
            <a:r>
              <a:rPr sz="1400" b="1" i="0">
                <a:solidFill>
                  <a:srgbClr val="FFFFFF"/>
                </a:solidFill>
              </a:rPr>
              <a:t>5</a:t>
            </a:r>
          </a:p>
        </p:txBody>
      </p:sp>
      <p:sp>
        <p:nvSpPr>
          <p:cNvPr id="65" name="TextBox 64"/>
          <p:cNvSpPr txBox="1"/>
          <p:nvPr/>
        </p:nvSpPr>
        <p:spPr>
          <a:xfrm>
            <a:off x="6812280" y="4892040"/>
            <a:ext cx="4892040" cy="274320"/>
          </a:xfrm>
          <a:prstGeom prst="rect">
            <a:avLst/>
          </a:prstGeom>
          <a:noFill/>
        </p:spPr>
        <p:txBody>
          <a:bodyPr wrap="square">
            <a:spAutoFit/>
          </a:bodyPr>
          <a:lstStyle/>
          <a:p>
            <a:pPr algn="l"/>
            <a:r>
              <a:rPr sz="1100" b="1" i="0">
                <a:solidFill>
                  <a:srgbClr val="064E3B"/>
                </a:solidFill>
              </a:rPr>
              <a:t>Add Field Notes</a:t>
            </a:r>
          </a:p>
        </p:txBody>
      </p:sp>
      <p:sp>
        <p:nvSpPr>
          <p:cNvPr id="66" name="TextBox 65"/>
          <p:cNvSpPr txBox="1"/>
          <p:nvPr/>
        </p:nvSpPr>
        <p:spPr>
          <a:xfrm>
            <a:off x="6812280" y="5166360"/>
            <a:ext cx="4892040" cy="384048"/>
          </a:xfrm>
          <a:prstGeom prst="rect">
            <a:avLst/>
          </a:prstGeom>
          <a:noFill/>
        </p:spPr>
        <p:txBody>
          <a:bodyPr wrap="square">
            <a:spAutoFit/>
          </a:bodyPr>
          <a:lstStyle/>
          <a:p>
            <a:pPr algn="l"/>
            <a:r>
              <a:rPr sz="950" b="0" i="0">
                <a:solidFill>
                  <a:srgbClr val="4B5563"/>
                </a:solidFill>
              </a:rPr>
              <a:t>e.g., 'Second fertilizer application done, zero root rot'</a:t>
            </a:r>
          </a:p>
        </p:txBody>
      </p:sp>
      <p:sp>
        <p:nvSpPr>
          <p:cNvPr id="67" name="Rectangle 66"/>
          <p:cNvSpPr/>
          <p:nvPr/>
        </p:nvSpPr>
        <p:spPr>
          <a:xfrm>
            <a:off x="6217920" y="5440680"/>
            <a:ext cx="557784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309360" y="5577840"/>
            <a:ext cx="41148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309360" y="5550408"/>
            <a:ext cx="411480" cy="411480"/>
          </a:xfrm>
          <a:prstGeom prst="rect">
            <a:avLst/>
          </a:prstGeom>
          <a:noFill/>
        </p:spPr>
        <p:txBody>
          <a:bodyPr wrap="square">
            <a:spAutoFit/>
          </a:bodyPr>
          <a:lstStyle/>
          <a:p>
            <a:pPr algn="ctr"/>
            <a:r>
              <a:rPr sz="1400" b="1" i="0">
                <a:solidFill>
                  <a:srgbClr val="FFFFFF"/>
                </a:solidFill>
              </a:rPr>
              <a:t>6</a:t>
            </a:r>
          </a:p>
        </p:txBody>
      </p:sp>
      <p:sp>
        <p:nvSpPr>
          <p:cNvPr id="70" name="TextBox 69"/>
          <p:cNvSpPr txBox="1"/>
          <p:nvPr/>
        </p:nvSpPr>
        <p:spPr>
          <a:xfrm>
            <a:off x="6812280" y="5513832"/>
            <a:ext cx="4892040" cy="274320"/>
          </a:xfrm>
          <a:prstGeom prst="rect">
            <a:avLst/>
          </a:prstGeom>
          <a:noFill/>
        </p:spPr>
        <p:txBody>
          <a:bodyPr wrap="square">
            <a:spAutoFit/>
          </a:bodyPr>
          <a:lstStyle/>
          <a:p>
            <a:pPr algn="l"/>
            <a:r>
              <a:rPr sz="1100" b="1" i="0">
                <a:solidFill>
                  <a:srgbClr val="064E3B"/>
                </a:solidFill>
              </a:rPr>
              <a:t>Tap 'Submit Check-in'</a:t>
            </a:r>
          </a:p>
        </p:txBody>
      </p:sp>
      <p:sp>
        <p:nvSpPr>
          <p:cNvPr id="71" name="TextBox 70"/>
          <p:cNvSpPr txBox="1"/>
          <p:nvPr/>
        </p:nvSpPr>
        <p:spPr>
          <a:xfrm>
            <a:off x="6812280" y="5788152"/>
            <a:ext cx="4892040" cy="384048"/>
          </a:xfrm>
          <a:prstGeom prst="rect">
            <a:avLst/>
          </a:prstGeom>
          <a:noFill/>
        </p:spPr>
        <p:txBody>
          <a:bodyPr wrap="square">
            <a:spAutoFit/>
          </a:bodyPr>
          <a:lstStyle/>
          <a:p>
            <a:pPr algn="l"/>
            <a:r>
              <a:rPr sz="950" b="0" i="0">
                <a:solidFill>
                  <a:srgbClr val="4B5563"/>
                </a:solidFill>
              </a:rPr>
              <a:t>Timestamped, stored offline immediately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640080"/>
          </a:xfrm>
          <a:prstGeom prst="rect">
            <a:avLst/>
          </a:prstGeom>
          <a:noFill/>
        </p:spPr>
        <p:txBody>
          <a:bodyPr wrap="square">
            <a:spAutoFit/>
          </a:bodyPr>
          <a:lstStyle/>
          <a:p>
            <a:pPr algn="l"/>
            <a:r>
              <a:rPr sz="2800" b="1" i="0">
                <a:solidFill>
                  <a:srgbClr val="FFFFFF"/>
                </a:solidFill>
              </a:rPr>
              <a:t>Module 5 — Harvest Scale Terminal</a:t>
            </a:r>
          </a:p>
        </p:txBody>
      </p:sp>
      <p:sp>
        <p:nvSpPr>
          <p:cNvPr id="5" name="TextBox 4"/>
          <p:cNvSpPr txBox="1"/>
          <p:nvPr/>
        </p:nvSpPr>
        <p:spPr>
          <a:xfrm>
            <a:off x="457200" y="685800"/>
            <a:ext cx="11274552" cy="457200"/>
          </a:xfrm>
          <a:prstGeom prst="rect">
            <a:avLst/>
          </a:prstGeom>
          <a:noFill/>
        </p:spPr>
        <p:txBody>
          <a:bodyPr wrap="square">
            <a:spAutoFit/>
          </a:bodyPr>
          <a:lstStyle/>
          <a:p>
            <a:pPr algn="l"/>
            <a:r>
              <a:rPr sz="1300" b="0" i="0">
                <a:solidFill>
                  <a:srgbClr val="A7F3D0"/>
                </a:solidFill>
              </a:rPr>
              <a:t>Digital truck weighbridge — gross weight, tare, net harvest kg</a:t>
            </a:r>
          </a:p>
        </p:txBody>
      </p:sp>
      <p:sp>
        <p:nvSpPr>
          <p:cNvPr id="6" name="Rectangle 5"/>
          <p:cNvSpPr/>
          <p:nvPr/>
        </p:nvSpPr>
        <p:spPr>
          <a:xfrm>
            <a:off x="0" y="6537960"/>
            <a:ext cx="12188952" cy="32004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65392"/>
            <a:ext cx="7315200" cy="274320"/>
          </a:xfrm>
          <a:prstGeom prst="rect">
            <a:avLst/>
          </a:prstGeom>
          <a:noFill/>
        </p:spPr>
        <p:txBody>
          <a:bodyPr wrap="square">
            <a:spAutoFit/>
          </a:bodyPr>
          <a:lstStyle/>
          <a:p>
            <a:pPr algn="l"/>
            <a:r>
              <a:rPr sz="800" b="0" i="0">
                <a:solidFill>
                  <a:srgbClr val="9CA3AF"/>
                </a:solidFill>
              </a:rPr>
              <a:t>JetFarm Agribusiness Outgrower Platform  |  Confidential</a:t>
            </a:r>
          </a:p>
        </p:txBody>
      </p:sp>
      <p:sp>
        <p:nvSpPr>
          <p:cNvPr id="8" name="TextBox 7"/>
          <p:cNvSpPr txBox="1"/>
          <p:nvPr/>
        </p:nvSpPr>
        <p:spPr>
          <a:xfrm>
            <a:off x="10360152" y="6565392"/>
            <a:ext cx="1645920" cy="274320"/>
          </a:xfrm>
          <a:prstGeom prst="rect">
            <a:avLst/>
          </a:prstGeom>
          <a:noFill/>
        </p:spPr>
        <p:txBody>
          <a:bodyPr wrap="square">
            <a:spAutoFit/>
          </a:bodyPr>
          <a:lstStyle/>
          <a:p>
            <a:pPr algn="r"/>
            <a:r>
              <a:rPr sz="800" b="0" i="0">
                <a:solidFill>
                  <a:srgbClr val="9CA3AF"/>
                </a:solidFill>
              </a:rPr>
              <a:t>Slide 8 / 14</a:t>
            </a:r>
          </a:p>
        </p:txBody>
      </p:sp>
      <p:sp>
        <p:nvSpPr>
          <p:cNvPr id="9" name="TextBox 8"/>
          <p:cNvSpPr txBox="1"/>
          <p:nvPr/>
        </p:nvSpPr>
        <p:spPr>
          <a:xfrm>
            <a:off x="457200" y="1371600"/>
            <a:ext cx="11247120" cy="457200"/>
          </a:xfrm>
          <a:prstGeom prst="rect">
            <a:avLst/>
          </a:prstGeom>
          <a:noFill/>
        </p:spPr>
        <p:txBody>
          <a:bodyPr wrap="square">
            <a:spAutoFit/>
          </a:bodyPr>
          <a:lstStyle/>
          <a:p>
            <a:pPr algn="l"/>
            <a:r>
              <a:rPr sz="1200" b="0" i="0">
                <a:solidFill>
                  <a:srgbClr val="4B5563"/>
                </a:solidFill>
              </a:rPr>
              <a:t>⚖️  Purpose: Processes every incoming harvest truck at the farm-gate scale point. Auto-computes net yield, logs truck details, assigns quality grade.</a:t>
            </a:r>
          </a:p>
        </p:txBody>
      </p:sp>
      <p:sp>
        <p:nvSpPr>
          <p:cNvPr id="10" name="Rectangle 9"/>
          <p:cNvSpPr/>
          <p:nvPr/>
        </p:nvSpPr>
        <p:spPr>
          <a:xfrm>
            <a:off x="365760" y="1965960"/>
            <a:ext cx="11430000" cy="8686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057400"/>
            <a:ext cx="10972800" cy="502920"/>
          </a:xfrm>
          <a:prstGeom prst="rect">
            <a:avLst/>
          </a:prstGeom>
          <a:noFill/>
        </p:spPr>
        <p:txBody>
          <a:bodyPr wrap="square">
            <a:spAutoFit/>
          </a:bodyPr>
          <a:lstStyle/>
          <a:p>
            <a:pPr algn="ctr"/>
            <a:r>
              <a:rPr sz="2200" b="1" i="0">
                <a:solidFill>
                  <a:srgbClr val="FFFFFF"/>
                </a:solidFill>
              </a:rPr>
              <a:t>Net Weight (kg)  =  Gross Weight (kg)  −  Tare Weight (kg)</a:t>
            </a:r>
          </a:p>
        </p:txBody>
      </p:sp>
      <p:sp>
        <p:nvSpPr>
          <p:cNvPr id="12" name="TextBox 11"/>
          <p:cNvSpPr txBox="1"/>
          <p:nvPr/>
        </p:nvSpPr>
        <p:spPr>
          <a:xfrm>
            <a:off x="548640" y="2560320"/>
            <a:ext cx="10972800" cy="274320"/>
          </a:xfrm>
          <a:prstGeom prst="rect">
            <a:avLst/>
          </a:prstGeom>
          <a:noFill/>
        </p:spPr>
        <p:txBody>
          <a:bodyPr wrap="square">
            <a:spAutoFit/>
          </a:bodyPr>
          <a:lstStyle/>
          <a:p>
            <a:pPr algn="ctr"/>
            <a:r>
              <a:rPr sz="1300" b="0" i="0">
                <a:solidFill>
                  <a:srgbClr val="FFF8DC"/>
                </a:solidFill>
              </a:rPr>
              <a:t>Example:  14,250 kg  −  5,100 kg  =  9,150 kg Net Cassava Yield</a:t>
            </a:r>
          </a:p>
        </p:txBody>
      </p:sp>
      <p:sp>
        <p:nvSpPr>
          <p:cNvPr id="13" name="TextBox 12"/>
          <p:cNvSpPr txBox="1"/>
          <p:nvPr/>
        </p:nvSpPr>
        <p:spPr>
          <a:xfrm>
            <a:off x="365760" y="3017520"/>
            <a:ext cx="6400800" cy="347472"/>
          </a:xfrm>
          <a:prstGeom prst="rect">
            <a:avLst/>
          </a:prstGeom>
          <a:noFill/>
        </p:spPr>
        <p:txBody>
          <a:bodyPr wrap="square">
            <a:spAutoFit/>
          </a:bodyPr>
          <a:lstStyle/>
          <a:p>
            <a:pPr algn="l"/>
            <a:r>
              <a:rPr sz="1300" b="1" i="0">
                <a:solidFill>
                  <a:srgbClr val="064E3B"/>
                </a:solidFill>
              </a:rPr>
              <a:t>Step-by-Step Weigh-In Process</a:t>
            </a:r>
          </a:p>
        </p:txBody>
      </p:sp>
      <p:sp>
        <p:nvSpPr>
          <p:cNvPr id="14" name="Rectangle 13"/>
          <p:cNvSpPr/>
          <p:nvPr/>
        </p:nvSpPr>
        <p:spPr>
          <a:xfrm>
            <a:off x="365760" y="3429000"/>
            <a:ext cx="64008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56616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538728"/>
            <a:ext cx="411480" cy="411480"/>
          </a:xfrm>
          <a:prstGeom prst="rect">
            <a:avLst/>
          </a:prstGeom>
          <a:noFill/>
        </p:spPr>
        <p:txBody>
          <a:bodyPr wrap="square">
            <a:spAutoFit/>
          </a:bodyPr>
          <a:lstStyle/>
          <a:p>
            <a:pPr algn="ctr"/>
            <a:r>
              <a:rPr sz="1400" b="1" i="0">
                <a:solidFill>
                  <a:srgbClr val="FFFFFF"/>
                </a:solidFill>
              </a:rPr>
              <a:t>1</a:t>
            </a:r>
          </a:p>
        </p:txBody>
      </p:sp>
      <p:sp>
        <p:nvSpPr>
          <p:cNvPr id="17" name="TextBox 16"/>
          <p:cNvSpPr txBox="1"/>
          <p:nvPr/>
        </p:nvSpPr>
        <p:spPr>
          <a:xfrm>
            <a:off x="960120" y="3502152"/>
            <a:ext cx="5715000" cy="274320"/>
          </a:xfrm>
          <a:prstGeom prst="rect">
            <a:avLst/>
          </a:prstGeom>
          <a:noFill/>
        </p:spPr>
        <p:txBody>
          <a:bodyPr wrap="square">
            <a:spAutoFit/>
          </a:bodyPr>
          <a:lstStyle/>
          <a:p>
            <a:pPr algn="l"/>
            <a:r>
              <a:rPr sz="1100" b="1" i="0">
                <a:solidFill>
                  <a:srgbClr val="064E3B"/>
                </a:solidFill>
              </a:rPr>
              <a:t>Select Active Crop Cycle</a:t>
            </a:r>
          </a:p>
        </p:txBody>
      </p:sp>
      <p:sp>
        <p:nvSpPr>
          <p:cNvPr id="18" name="TextBox 17"/>
          <p:cNvSpPr txBox="1"/>
          <p:nvPr/>
        </p:nvSpPr>
        <p:spPr>
          <a:xfrm>
            <a:off x="960120" y="3776472"/>
            <a:ext cx="5715000" cy="384048"/>
          </a:xfrm>
          <a:prstGeom prst="rect">
            <a:avLst/>
          </a:prstGeom>
          <a:noFill/>
        </p:spPr>
        <p:txBody>
          <a:bodyPr wrap="square">
            <a:spAutoFit/>
          </a:bodyPr>
          <a:lstStyle/>
          <a:p>
            <a:pPr algn="l"/>
            <a:r>
              <a:rPr sz="950" b="0" i="0">
                <a:solidFill>
                  <a:srgbClr val="4B5563"/>
                </a:solidFill>
              </a:rPr>
              <a:t>Choose the cycle currently being harvested</a:t>
            </a:r>
          </a:p>
        </p:txBody>
      </p:sp>
      <p:sp>
        <p:nvSpPr>
          <p:cNvPr id="19" name="Rectangle 18"/>
          <p:cNvSpPr/>
          <p:nvPr/>
        </p:nvSpPr>
        <p:spPr>
          <a:xfrm>
            <a:off x="365760" y="3831336"/>
            <a:ext cx="64008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968496"/>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941064"/>
            <a:ext cx="411480" cy="411480"/>
          </a:xfrm>
          <a:prstGeom prst="rect">
            <a:avLst/>
          </a:prstGeom>
          <a:noFill/>
        </p:spPr>
        <p:txBody>
          <a:bodyPr wrap="square">
            <a:spAutoFit/>
          </a:bodyPr>
          <a:lstStyle/>
          <a:p>
            <a:pPr algn="ctr"/>
            <a:r>
              <a:rPr sz="1400" b="1" i="0">
                <a:solidFill>
                  <a:srgbClr val="FFFFFF"/>
                </a:solidFill>
              </a:rPr>
              <a:t>2</a:t>
            </a:r>
          </a:p>
        </p:txBody>
      </p:sp>
      <p:sp>
        <p:nvSpPr>
          <p:cNvPr id="22" name="TextBox 21"/>
          <p:cNvSpPr txBox="1"/>
          <p:nvPr/>
        </p:nvSpPr>
        <p:spPr>
          <a:xfrm>
            <a:off x="960120" y="3904488"/>
            <a:ext cx="5715000" cy="274320"/>
          </a:xfrm>
          <a:prstGeom prst="rect">
            <a:avLst/>
          </a:prstGeom>
          <a:noFill/>
        </p:spPr>
        <p:txBody>
          <a:bodyPr wrap="square">
            <a:spAutoFit/>
          </a:bodyPr>
          <a:lstStyle/>
          <a:p>
            <a:pPr algn="l"/>
            <a:r>
              <a:rPr sz="1100" b="1" i="0">
                <a:solidFill>
                  <a:srgbClr val="064E3B"/>
                </a:solidFill>
              </a:rPr>
              <a:t>Enter Gross Weight (kg)</a:t>
            </a:r>
          </a:p>
        </p:txBody>
      </p:sp>
      <p:sp>
        <p:nvSpPr>
          <p:cNvPr id="23" name="TextBox 22"/>
          <p:cNvSpPr txBox="1"/>
          <p:nvPr/>
        </p:nvSpPr>
        <p:spPr>
          <a:xfrm>
            <a:off x="960120" y="4178808"/>
            <a:ext cx="5715000" cy="384048"/>
          </a:xfrm>
          <a:prstGeom prst="rect">
            <a:avLst/>
          </a:prstGeom>
          <a:noFill/>
        </p:spPr>
        <p:txBody>
          <a:bodyPr wrap="square">
            <a:spAutoFit/>
          </a:bodyPr>
          <a:lstStyle/>
          <a:p>
            <a:pPr algn="l"/>
            <a:r>
              <a:rPr sz="950" b="0" i="0">
                <a:solidFill>
                  <a:srgbClr val="4B5563"/>
                </a:solidFill>
              </a:rPr>
              <a:t>Total truck + cassava weight on scale</a:t>
            </a:r>
          </a:p>
        </p:txBody>
      </p:sp>
      <p:sp>
        <p:nvSpPr>
          <p:cNvPr id="24" name="Rectangle 23"/>
          <p:cNvSpPr/>
          <p:nvPr/>
        </p:nvSpPr>
        <p:spPr>
          <a:xfrm>
            <a:off x="365760" y="4233672"/>
            <a:ext cx="64008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370832"/>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343400"/>
            <a:ext cx="411480" cy="411480"/>
          </a:xfrm>
          <a:prstGeom prst="rect">
            <a:avLst/>
          </a:prstGeom>
          <a:noFill/>
        </p:spPr>
        <p:txBody>
          <a:bodyPr wrap="square">
            <a:spAutoFit/>
          </a:bodyPr>
          <a:lstStyle/>
          <a:p>
            <a:pPr algn="ctr"/>
            <a:r>
              <a:rPr sz="1400" b="1" i="0">
                <a:solidFill>
                  <a:srgbClr val="FFFFFF"/>
                </a:solidFill>
              </a:rPr>
              <a:t>3</a:t>
            </a:r>
          </a:p>
        </p:txBody>
      </p:sp>
      <p:sp>
        <p:nvSpPr>
          <p:cNvPr id="27" name="TextBox 26"/>
          <p:cNvSpPr txBox="1"/>
          <p:nvPr/>
        </p:nvSpPr>
        <p:spPr>
          <a:xfrm>
            <a:off x="960120" y="4306824"/>
            <a:ext cx="5715000" cy="274320"/>
          </a:xfrm>
          <a:prstGeom prst="rect">
            <a:avLst/>
          </a:prstGeom>
          <a:noFill/>
        </p:spPr>
        <p:txBody>
          <a:bodyPr wrap="square">
            <a:spAutoFit/>
          </a:bodyPr>
          <a:lstStyle/>
          <a:p>
            <a:pPr algn="l"/>
            <a:r>
              <a:rPr sz="1100" b="1" i="0">
                <a:solidFill>
                  <a:srgbClr val="064E3B"/>
                </a:solidFill>
              </a:rPr>
              <a:t>Enter Tare Weight (kg)</a:t>
            </a:r>
          </a:p>
        </p:txBody>
      </p:sp>
      <p:sp>
        <p:nvSpPr>
          <p:cNvPr id="28" name="TextBox 27"/>
          <p:cNvSpPr txBox="1"/>
          <p:nvPr/>
        </p:nvSpPr>
        <p:spPr>
          <a:xfrm>
            <a:off x="960120" y="4581144"/>
            <a:ext cx="5715000" cy="384048"/>
          </a:xfrm>
          <a:prstGeom prst="rect">
            <a:avLst/>
          </a:prstGeom>
          <a:noFill/>
        </p:spPr>
        <p:txBody>
          <a:bodyPr wrap="square">
            <a:spAutoFit/>
          </a:bodyPr>
          <a:lstStyle/>
          <a:p>
            <a:pPr algn="l"/>
            <a:r>
              <a:rPr sz="950" b="0" i="0">
                <a:solidFill>
                  <a:srgbClr val="4B5563"/>
                </a:solidFill>
              </a:rPr>
              <a:t>Empty truck weight after unloading</a:t>
            </a:r>
          </a:p>
        </p:txBody>
      </p:sp>
      <p:sp>
        <p:nvSpPr>
          <p:cNvPr id="29" name="Rectangle 28"/>
          <p:cNvSpPr/>
          <p:nvPr/>
        </p:nvSpPr>
        <p:spPr>
          <a:xfrm>
            <a:off x="365760" y="4636008"/>
            <a:ext cx="64008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4773168"/>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4745736"/>
            <a:ext cx="411480" cy="411480"/>
          </a:xfrm>
          <a:prstGeom prst="rect">
            <a:avLst/>
          </a:prstGeom>
          <a:noFill/>
        </p:spPr>
        <p:txBody>
          <a:bodyPr wrap="square">
            <a:spAutoFit/>
          </a:bodyPr>
          <a:lstStyle/>
          <a:p>
            <a:pPr algn="ctr"/>
            <a:r>
              <a:rPr sz="1400" b="1" i="0">
                <a:solidFill>
                  <a:srgbClr val="FFFFFF"/>
                </a:solidFill>
              </a:rPr>
              <a:t>4</a:t>
            </a:r>
          </a:p>
        </p:txBody>
      </p:sp>
      <p:sp>
        <p:nvSpPr>
          <p:cNvPr id="32" name="TextBox 31"/>
          <p:cNvSpPr txBox="1"/>
          <p:nvPr/>
        </p:nvSpPr>
        <p:spPr>
          <a:xfrm>
            <a:off x="960120" y="4709160"/>
            <a:ext cx="5715000" cy="274320"/>
          </a:xfrm>
          <a:prstGeom prst="rect">
            <a:avLst/>
          </a:prstGeom>
          <a:noFill/>
        </p:spPr>
        <p:txBody>
          <a:bodyPr wrap="square">
            <a:spAutoFit/>
          </a:bodyPr>
          <a:lstStyle/>
          <a:p>
            <a:pPr algn="l"/>
            <a:r>
              <a:rPr sz="1100" b="1" i="0">
                <a:solidFill>
                  <a:srgbClr val="064E3B"/>
                </a:solidFill>
              </a:rPr>
              <a:t>Net Yield auto-calculates</a:t>
            </a:r>
          </a:p>
        </p:txBody>
      </p:sp>
      <p:sp>
        <p:nvSpPr>
          <p:cNvPr id="33" name="TextBox 32"/>
          <p:cNvSpPr txBox="1"/>
          <p:nvPr/>
        </p:nvSpPr>
        <p:spPr>
          <a:xfrm>
            <a:off x="960120" y="4983480"/>
            <a:ext cx="5715000" cy="384048"/>
          </a:xfrm>
          <a:prstGeom prst="rect">
            <a:avLst/>
          </a:prstGeom>
          <a:noFill/>
        </p:spPr>
        <p:txBody>
          <a:bodyPr wrap="square">
            <a:spAutoFit/>
          </a:bodyPr>
          <a:lstStyle/>
          <a:p>
            <a:pPr algn="l"/>
            <a:r>
              <a:rPr sz="950" b="0" i="0">
                <a:solidFill>
                  <a:srgbClr val="4B5563"/>
                </a:solidFill>
              </a:rPr>
              <a:t>System displays computed net kg immediately</a:t>
            </a:r>
          </a:p>
        </p:txBody>
      </p:sp>
      <p:sp>
        <p:nvSpPr>
          <p:cNvPr id="34" name="Rectangle 33"/>
          <p:cNvSpPr/>
          <p:nvPr/>
        </p:nvSpPr>
        <p:spPr>
          <a:xfrm>
            <a:off x="365760" y="5038344"/>
            <a:ext cx="64008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5175504"/>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5148072"/>
            <a:ext cx="411480" cy="411480"/>
          </a:xfrm>
          <a:prstGeom prst="rect">
            <a:avLst/>
          </a:prstGeom>
          <a:noFill/>
        </p:spPr>
        <p:txBody>
          <a:bodyPr wrap="square">
            <a:spAutoFit/>
          </a:bodyPr>
          <a:lstStyle/>
          <a:p>
            <a:pPr algn="ctr"/>
            <a:r>
              <a:rPr sz="1400" b="1" i="0">
                <a:solidFill>
                  <a:srgbClr val="FFFFFF"/>
                </a:solidFill>
              </a:rPr>
              <a:t>5</a:t>
            </a:r>
          </a:p>
        </p:txBody>
      </p:sp>
      <p:sp>
        <p:nvSpPr>
          <p:cNvPr id="37" name="TextBox 36"/>
          <p:cNvSpPr txBox="1"/>
          <p:nvPr/>
        </p:nvSpPr>
        <p:spPr>
          <a:xfrm>
            <a:off x="960120" y="5111496"/>
            <a:ext cx="5715000" cy="274320"/>
          </a:xfrm>
          <a:prstGeom prst="rect">
            <a:avLst/>
          </a:prstGeom>
          <a:noFill/>
        </p:spPr>
        <p:txBody>
          <a:bodyPr wrap="square">
            <a:spAutoFit/>
          </a:bodyPr>
          <a:lstStyle/>
          <a:p>
            <a:pPr algn="l"/>
            <a:r>
              <a:rPr sz="1100" b="1" i="0">
                <a:solidFill>
                  <a:srgbClr val="064E3B"/>
                </a:solidFill>
              </a:rPr>
              <a:t>Enter Truck Plate &amp; Supervisor</a:t>
            </a:r>
          </a:p>
        </p:txBody>
      </p:sp>
      <p:sp>
        <p:nvSpPr>
          <p:cNvPr id="38" name="TextBox 37"/>
          <p:cNvSpPr txBox="1"/>
          <p:nvPr/>
        </p:nvSpPr>
        <p:spPr>
          <a:xfrm>
            <a:off x="960120" y="5385816"/>
            <a:ext cx="5715000" cy="384048"/>
          </a:xfrm>
          <a:prstGeom prst="rect">
            <a:avLst/>
          </a:prstGeom>
          <a:noFill/>
        </p:spPr>
        <p:txBody>
          <a:bodyPr wrap="square">
            <a:spAutoFit/>
          </a:bodyPr>
          <a:lstStyle/>
          <a:p>
            <a:pPr algn="l"/>
            <a:r>
              <a:rPr sz="950" b="0" i="0">
                <a:solidFill>
                  <a:srgbClr val="4B5563"/>
                </a:solidFill>
              </a:rPr>
              <a:t>e.g., ABC-1234 / Mr. Jojet Montera</a:t>
            </a:r>
          </a:p>
        </p:txBody>
      </p:sp>
      <p:sp>
        <p:nvSpPr>
          <p:cNvPr id="39" name="Rectangle 38"/>
          <p:cNvSpPr/>
          <p:nvPr/>
        </p:nvSpPr>
        <p:spPr>
          <a:xfrm>
            <a:off x="365760" y="5440680"/>
            <a:ext cx="64008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 y="557784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5550408"/>
            <a:ext cx="411480" cy="411480"/>
          </a:xfrm>
          <a:prstGeom prst="rect">
            <a:avLst/>
          </a:prstGeom>
          <a:noFill/>
        </p:spPr>
        <p:txBody>
          <a:bodyPr wrap="square">
            <a:spAutoFit/>
          </a:bodyPr>
          <a:lstStyle/>
          <a:p>
            <a:pPr algn="ctr"/>
            <a:r>
              <a:rPr sz="1400" b="1" i="0">
                <a:solidFill>
                  <a:srgbClr val="FFFFFF"/>
                </a:solidFill>
              </a:rPr>
              <a:t>6</a:t>
            </a:r>
          </a:p>
        </p:txBody>
      </p:sp>
      <p:sp>
        <p:nvSpPr>
          <p:cNvPr id="42" name="TextBox 41"/>
          <p:cNvSpPr txBox="1"/>
          <p:nvPr/>
        </p:nvSpPr>
        <p:spPr>
          <a:xfrm>
            <a:off x="960120" y="5513832"/>
            <a:ext cx="5715000" cy="274320"/>
          </a:xfrm>
          <a:prstGeom prst="rect">
            <a:avLst/>
          </a:prstGeom>
          <a:noFill/>
        </p:spPr>
        <p:txBody>
          <a:bodyPr wrap="square">
            <a:spAutoFit/>
          </a:bodyPr>
          <a:lstStyle/>
          <a:p>
            <a:pPr algn="l"/>
            <a:r>
              <a:rPr sz="1100" b="1" i="0">
                <a:solidFill>
                  <a:srgbClr val="064E3B"/>
                </a:solidFill>
              </a:rPr>
              <a:t>Select Quality Grade</a:t>
            </a:r>
          </a:p>
        </p:txBody>
      </p:sp>
      <p:sp>
        <p:nvSpPr>
          <p:cNvPr id="43" name="TextBox 42"/>
          <p:cNvSpPr txBox="1"/>
          <p:nvPr/>
        </p:nvSpPr>
        <p:spPr>
          <a:xfrm>
            <a:off x="960120" y="5788152"/>
            <a:ext cx="5715000" cy="384048"/>
          </a:xfrm>
          <a:prstGeom prst="rect">
            <a:avLst/>
          </a:prstGeom>
          <a:noFill/>
        </p:spPr>
        <p:txBody>
          <a:bodyPr wrap="square">
            <a:spAutoFit/>
          </a:bodyPr>
          <a:lstStyle/>
          <a:p>
            <a:pPr algn="l"/>
            <a:r>
              <a:rPr sz="950" b="0" i="0">
                <a:solidFill>
                  <a:srgbClr val="4B5563"/>
                </a:solidFill>
              </a:rPr>
              <a:t>Grade A (&gt;28% starch) / Grade B / Industrial</a:t>
            </a:r>
          </a:p>
        </p:txBody>
      </p:sp>
      <p:sp>
        <p:nvSpPr>
          <p:cNvPr id="44" name="Rectangle 43"/>
          <p:cNvSpPr/>
          <p:nvPr/>
        </p:nvSpPr>
        <p:spPr>
          <a:xfrm>
            <a:off x="365760" y="5843016"/>
            <a:ext cx="64008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7200" y="5980176"/>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5952744"/>
            <a:ext cx="411480" cy="411480"/>
          </a:xfrm>
          <a:prstGeom prst="rect">
            <a:avLst/>
          </a:prstGeom>
          <a:noFill/>
        </p:spPr>
        <p:txBody>
          <a:bodyPr wrap="square">
            <a:spAutoFit/>
          </a:bodyPr>
          <a:lstStyle/>
          <a:p>
            <a:pPr algn="ctr"/>
            <a:r>
              <a:rPr sz="1400" b="1" i="0">
                <a:solidFill>
                  <a:srgbClr val="FFFFFF"/>
                </a:solidFill>
              </a:rPr>
              <a:t>7</a:t>
            </a:r>
          </a:p>
        </p:txBody>
      </p:sp>
      <p:sp>
        <p:nvSpPr>
          <p:cNvPr id="47" name="TextBox 46"/>
          <p:cNvSpPr txBox="1"/>
          <p:nvPr/>
        </p:nvSpPr>
        <p:spPr>
          <a:xfrm>
            <a:off x="960120" y="5916168"/>
            <a:ext cx="5715000" cy="274320"/>
          </a:xfrm>
          <a:prstGeom prst="rect">
            <a:avLst/>
          </a:prstGeom>
          <a:noFill/>
        </p:spPr>
        <p:txBody>
          <a:bodyPr wrap="square">
            <a:spAutoFit/>
          </a:bodyPr>
          <a:lstStyle/>
          <a:p>
            <a:pPr algn="l"/>
            <a:r>
              <a:rPr sz="1100" b="1" i="0">
                <a:solidFill>
                  <a:srgbClr val="064E3B"/>
                </a:solidFill>
              </a:rPr>
              <a:t>Add Batch Notes</a:t>
            </a:r>
          </a:p>
        </p:txBody>
      </p:sp>
      <p:sp>
        <p:nvSpPr>
          <p:cNvPr id="48" name="TextBox 47"/>
          <p:cNvSpPr txBox="1"/>
          <p:nvPr/>
        </p:nvSpPr>
        <p:spPr>
          <a:xfrm>
            <a:off x="960120" y="6190488"/>
            <a:ext cx="5715000" cy="384048"/>
          </a:xfrm>
          <a:prstGeom prst="rect">
            <a:avLst/>
          </a:prstGeom>
          <a:noFill/>
        </p:spPr>
        <p:txBody>
          <a:bodyPr wrap="square">
            <a:spAutoFit/>
          </a:bodyPr>
          <a:lstStyle/>
          <a:p>
            <a:pPr algn="l"/>
            <a:r>
              <a:rPr sz="950" b="0" i="0">
                <a:solidFill>
                  <a:srgbClr val="4B5563"/>
                </a:solidFill>
              </a:rPr>
              <a:t>Moisture %, dirt deductions, ramp number</a:t>
            </a:r>
          </a:p>
        </p:txBody>
      </p:sp>
      <p:sp>
        <p:nvSpPr>
          <p:cNvPr id="49" name="Rectangle 48"/>
          <p:cNvSpPr/>
          <p:nvPr/>
        </p:nvSpPr>
        <p:spPr>
          <a:xfrm>
            <a:off x="365760" y="6245352"/>
            <a:ext cx="64008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57200" y="6382512"/>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6355080"/>
            <a:ext cx="411480" cy="411480"/>
          </a:xfrm>
          <a:prstGeom prst="rect">
            <a:avLst/>
          </a:prstGeom>
          <a:noFill/>
        </p:spPr>
        <p:txBody>
          <a:bodyPr wrap="square">
            <a:spAutoFit/>
          </a:bodyPr>
          <a:lstStyle/>
          <a:p>
            <a:pPr algn="ctr"/>
            <a:r>
              <a:rPr sz="1400" b="1" i="0">
                <a:solidFill>
                  <a:srgbClr val="FFFFFF"/>
                </a:solidFill>
              </a:rPr>
              <a:t>8</a:t>
            </a:r>
          </a:p>
        </p:txBody>
      </p:sp>
      <p:sp>
        <p:nvSpPr>
          <p:cNvPr id="52" name="TextBox 51"/>
          <p:cNvSpPr txBox="1"/>
          <p:nvPr/>
        </p:nvSpPr>
        <p:spPr>
          <a:xfrm>
            <a:off x="960120" y="6318504"/>
            <a:ext cx="5715000" cy="274320"/>
          </a:xfrm>
          <a:prstGeom prst="rect">
            <a:avLst/>
          </a:prstGeom>
          <a:noFill/>
        </p:spPr>
        <p:txBody>
          <a:bodyPr wrap="square">
            <a:spAutoFit/>
          </a:bodyPr>
          <a:lstStyle/>
          <a:p>
            <a:pPr algn="l"/>
            <a:r>
              <a:rPr sz="1100" b="1" i="0">
                <a:solidFill>
                  <a:srgbClr val="064E3B"/>
                </a:solidFill>
              </a:rPr>
              <a:t>Tap 'Record Harvest Batch'</a:t>
            </a:r>
          </a:p>
        </p:txBody>
      </p:sp>
      <p:sp>
        <p:nvSpPr>
          <p:cNvPr id="53" name="TextBox 52"/>
          <p:cNvSpPr txBox="1"/>
          <p:nvPr/>
        </p:nvSpPr>
        <p:spPr>
          <a:xfrm>
            <a:off x="960120" y="6592824"/>
            <a:ext cx="5715000" cy="384048"/>
          </a:xfrm>
          <a:prstGeom prst="rect">
            <a:avLst/>
          </a:prstGeom>
          <a:noFill/>
        </p:spPr>
        <p:txBody>
          <a:bodyPr wrap="square">
            <a:spAutoFit/>
          </a:bodyPr>
          <a:lstStyle/>
          <a:p>
            <a:pPr algn="l"/>
            <a:r>
              <a:rPr sz="950" b="0" i="0">
                <a:solidFill>
                  <a:srgbClr val="4B5563"/>
                </a:solidFill>
              </a:rPr>
              <a:t>Cycle cumulative yield updates instantly</a:t>
            </a:r>
          </a:p>
        </p:txBody>
      </p:sp>
      <p:sp>
        <p:nvSpPr>
          <p:cNvPr id="54" name="Rectangle 53"/>
          <p:cNvSpPr/>
          <p:nvPr/>
        </p:nvSpPr>
        <p:spPr>
          <a:xfrm>
            <a:off x="7040880" y="3017520"/>
            <a:ext cx="4754880" cy="338328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23760" y="3108960"/>
            <a:ext cx="4389120" cy="347472"/>
          </a:xfrm>
          <a:prstGeom prst="rect">
            <a:avLst/>
          </a:prstGeom>
          <a:noFill/>
        </p:spPr>
        <p:txBody>
          <a:bodyPr wrap="square">
            <a:spAutoFit/>
          </a:bodyPr>
          <a:lstStyle/>
          <a:p>
            <a:pPr algn="l"/>
            <a:r>
              <a:rPr sz="1300" b="1" i="0">
                <a:solidFill>
                  <a:srgbClr val="064E3B"/>
                </a:solidFill>
              </a:rPr>
              <a:t>Quality Grade Classification</a:t>
            </a:r>
          </a:p>
        </p:txBody>
      </p:sp>
      <p:sp>
        <p:nvSpPr>
          <p:cNvPr id="56" name="Rectangle 55"/>
          <p:cNvSpPr/>
          <p:nvPr/>
        </p:nvSpPr>
        <p:spPr>
          <a:xfrm>
            <a:off x="7223760" y="3520440"/>
            <a:ext cx="4389120" cy="7132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60920" y="3566160"/>
            <a:ext cx="4023360" cy="274320"/>
          </a:xfrm>
          <a:prstGeom prst="rect">
            <a:avLst/>
          </a:prstGeom>
          <a:noFill/>
        </p:spPr>
        <p:txBody>
          <a:bodyPr wrap="square">
            <a:spAutoFit/>
          </a:bodyPr>
          <a:lstStyle/>
          <a:p>
            <a:pPr algn="l"/>
            <a:r>
              <a:rPr sz="1200" b="1" i="0">
                <a:solidFill>
                  <a:srgbClr val="FFFFFF"/>
                </a:solidFill>
              </a:rPr>
              <a:t>Grade A</a:t>
            </a:r>
          </a:p>
        </p:txBody>
      </p:sp>
      <p:sp>
        <p:nvSpPr>
          <p:cNvPr id="58" name="TextBox 57"/>
          <p:cNvSpPr txBox="1"/>
          <p:nvPr/>
        </p:nvSpPr>
        <p:spPr>
          <a:xfrm>
            <a:off x="7360920" y="3867912"/>
            <a:ext cx="4023360" cy="320040"/>
          </a:xfrm>
          <a:prstGeom prst="rect">
            <a:avLst/>
          </a:prstGeom>
          <a:noFill/>
        </p:spPr>
        <p:txBody>
          <a:bodyPr wrap="square">
            <a:spAutoFit/>
          </a:bodyPr>
          <a:lstStyle/>
          <a:p>
            <a:pPr algn="l"/>
            <a:r>
              <a:rPr sz="1000" b="0" i="0">
                <a:solidFill>
                  <a:srgbClr val="D1FAE5"/>
                </a:solidFill>
              </a:rPr>
              <a:t>High Starch &gt;28% — Premium rate</a:t>
            </a:r>
          </a:p>
        </p:txBody>
      </p:sp>
      <p:sp>
        <p:nvSpPr>
          <p:cNvPr id="59" name="Rectangle 58"/>
          <p:cNvSpPr/>
          <p:nvPr/>
        </p:nvSpPr>
        <p:spPr>
          <a:xfrm>
            <a:off x="7223760" y="4370832"/>
            <a:ext cx="4389120" cy="71323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60920" y="4416552"/>
            <a:ext cx="4023360" cy="274320"/>
          </a:xfrm>
          <a:prstGeom prst="rect">
            <a:avLst/>
          </a:prstGeom>
          <a:noFill/>
        </p:spPr>
        <p:txBody>
          <a:bodyPr wrap="square">
            <a:spAutoFit/>
          </a:bodyPr>
          <a:lstStyle/>
          <a:p>
            <a:pPr algn="l"/>
            <a:r>
              <a:rPr sz="1200" b="1" i="0">
                <a:solidFill>
                  <a:srgbClr val="FFFFFF"/>
                </a:solidFill>
              </a:rPr>
              <a:t>Grade B</a:t>
            </a:r>
          </a:p>
        </p:txBody>
      </p:sp>
      <p:sp>
        <p:nvSpPr>
          <p:cNvPr id="61" name="TextBox 60"/>
          <p:cNvSpPr txBox="1"/>
          <p:nvPr/>
        </p:nvSpPr>
        <p:spPr>
          <a:xfrm>
            <a:off x="7360920" y="4718304"/>
            <a:ext cx="4023360" cy="320040"/>
          </a:xfrm>
          <a:prstGeom prst="rect">
            <a:avLst/>
          </a:prstGeom>
          <a:noFill/>
        </p:spPr>
        <p:txBody>
          <a:bodyPr wrap="square">
            <a:spAutoFit/>
          </a:bodyPr>
          <a:lstStyle/>
          <a:p>
            <a:pPr algn="l"/>
            <a:r>
              <a:rPr sz="1000" b="0" i="0">
                <a:solidFill>
                  <a:srgbClr val="D1FAE5"/>
                </a:solidFill>
              </a:rPr>
              <a:t>Starch 22–28% — Standard rate</a:t>
            </a:r>
          </a:p>
        </p:txBody>
      </p:sp>
      <p:sp>
        <p:nvSpPr>
          <p:cNvPr id="62" name="Rectangle 61"/>
          <p:cNvSpPr/>
          <p:nvPr/>
        </p:nvSpPr>
        <p:spPr>
          <a:xfrm>
            <a:off x="7223760" y="5221224"/>
            <a:ext cx="4389120" cy="71323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360920" y="5266944"/>
            <a:ext cx="4023360" cy="274320"/>
          </a:xfrm>
          <a:prstGeom prst="rect">
            <a:avLst/>
          </a:prstGeom>
          <a:noFill/>
        </p:spPr>
        <p:txBody>
          <a:bodyPr wrap="square">
            <a:spAutoFit/>
          </a:bodyPr>
          <a:lstStyle/>
          <a:p>
            <a:pPr algn="l"/>
            <a:r>
              <a:rPr sz="1200" b="1" i="0">
                <a:solidFill>
                  <a:srgbClr val="FFFFFF"/>
                </a:solidFill>
              </a:rPr>
              <a:t>Industrial</a:t>
            </a:r>
          </a:p>
        </p:txBody>
      </p:sp>
      <p:sp>
        <p:nvSpPr>
          <p:cNvPr id="64" name="TextBox 63"/>
          <p:cNvSpPr txBox="1"/>
          <p:nvPr/>
        </p:nvSpPr>
        <p:spPr>
          <a:xfrm>
            <a:off x="7360920" y="5568696"/>
            <a:ext cx="4023360" cy="320040"/>
          </a:xfrm>
          <a:prstGeom prst="rect">
            <a:avLst/>
          </a:prstGeom>
          <a:noFill/>
        </p:spPr>
        <p:txBody>
          <a:bodyPr wrap="square">
            <a:spAutoFit/>
          </a:bodyPr>
          <a:lstStyle/>
          <a:p>
            <a:pPr algn="l"/>
            <a:r>
              <a:rPr sz="1000" b="0" i="0">
                <a:solidFill>
                  <a:srgbClr val="D1FAE5"/>
                </a:solidFill>
              </a:rPr>
              <a:t>Processing grade &lt;22% starch</a:t>
            </a:r>
          </a:p>
        </p:txBody>
      </p:sp>
      <p:sp>
        <p:nvSpPr>
          <p:cNvPr id="65" name="TextBox 64"/>
          <p:cNvSpPr txBox="1"/>
          <p:nvPr/>
        </p:nvSpPr>
        <p:spPr>
          <a:xfrm>
            <a:off x="7223760" y="5943600"/>
            <a:ext cx="4389120" cy="548640"/>
          </a:xfrm>
          <a:prstGeom prst="rect">
            <a:avLst/>
          </a:prstGeom>
          <a:noFill/>
        </p:spPr>
        <p:txBody>
          <a:bodyPr wrap="square">
            <a:spAutoFit/>
          </a:bodyPr>
          <a:lstStyle/>
          <a:p>
            <a:pPr algn="l"/>
            <a:r>
              <a:rPr sz="1000" b="0" i="1">
                <a:solidFill>
                  <a:srgbClr val="4B5563"/>
                </a:solidFill>
              </a:rPr>
              <a:t>📱 Works fully offline in rural fields.
Data syncs to cloud automatically when signal is available.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640080"/>
          </a:xfrm>
          <a:prstGeom prst="rect">
            <a:avLst/>
          </a:prstGeom>
          <a:noFill/>
        </p:spPr>
        <p:txBody>
          <a:bodyPr wrap="square">
            <a:spAutoFit/>
          </a:bodyPr>
          <a:lstStyle/>
          <a:p>
            <a:pPr algn="l"/>
            <a:r>
              <a:rPr sz="2800" b="1" i="0">
                <a:solidFill>
                  <a:srgbClr val="FFFFFF"/>
                </a:solidFill>
              </a:rPr>
              <a:t>Module 6 — Land Owner Settlements</a:t>
            </a:r>
          </a:p>
        </p:txBody>
      </p:sp>
      <p:sp>
        <p:nvSpPr>
          <p:cNvPr id="5" name="TextBox 4"/>
          <p:cNvSpPr txBox="1"/>
          <p:nvPr/>
        </p:nvSpPr>
        <p:spPr>
          <a:xfrm>
            <a:off x="457200" y="685800"/>
            <a:ext cx="11274552" cy="457200"/>
          </a:xfrm>
          <a:prstGeom prst="rect">
            <a:avLst/>
          </a:prstGeom>
          <a:noFill/>
        </p:spPr>
        <p:txBody>
          <a:bodyPr wrap="square">
            <a:spAutoFit/>
          </a:bodyPr>
          <a:lstStyle/>
          <a:p>
            <a:pPr algn="l"/>
            <a:r>
              <a:rPr sz="1300" b="0" i="0">
                <a:solidFill>
                  <a:srgbClr val="A7F3D0"/>
                </a:solidFill>
              </a:rPr>
              <a:t>Guarantee-protected weekly disbursements to contracted landowners</a:t>
            </a:r>
          </a:p>
        </p:txBody>
      </p:sp>
      <p:sp>
        <p:nvSpPr>
          <p:cNvPr id="6" name="Rectangle 5"/>
          <p:cNvSpPr/>
          <p:nvPr/>
        </p:nvSpPr>
        <p:spPr>
          <a:xfrm>
            <a:off x="0" y="6537960"/>
            <a:ext cx="12188952" cy="32004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65392"/>
            <a:ext cx="7315200" cy="274320"/>
          </a:xfrm>
          <a:prstGeom prst="rect">
            <a:avLst/>
          </a:prstGeom>
          <a:noFill/>
        </p:spPr>
        <p:txBody>
          <a:bodyPr wrap="square">
            <a:spAutoFit/>
          </a:bodyPr>
          <a:lstStyle/>
          <a:p>
            <a:pPr algn="l"/>
            <a:r>
              <a:rPr sz="800" b="0" i="0">
                <a:solidFill>
                  <a:srgbClr val="9CA3AF"/>
                </a:solidFill>
              </a:rPr>
              <a:t>JetFarm Agribusiness Outgrower Platform  |  Confidential</a:t>
            </a:r>
          </a:p>
        </p:txBody>
      </p:sp>
      <p:sp>
        <p:nvSpPr>
          <p:cNvPr id="8" name="TextBox 7"/>
          <p:cNvSpPr txBox="1"/>
          <p:nvPr/>
        </p:nvSpPr>
        <p:spPr>
          <a:xfrm>
            <a:off x="10360152" y="6565392"/>
            <a:ext cx="1645920" cy="274320"/>
          </a:xfrm>
          <a:prstGeom prst="rect">
            <a:avLst/>
          </a:prstGeom>
          <a:noFill/>
        </p:spPr>
        <p:txBody>
          <a:bodyPr wrap="square">
            <a:spAutoFit/>
          </a:bodyPr>
          <a:lstStyle/>
          <a:p>
            <a:pPr algn="r"/>
            <a:r>
              <a:rPr sz="800" b="0" i="0">
                <a:solidFill>
                  <a:srgbClr val="9CA3AF"/>
                </a:solidFill>
              </a:rPr>
              <a:t>Slide 9 / 14</a:t>
            </a:r>
          </a:p>
        </p:txBody>
      </p:sp>
      <p:sp>
        <p:nvSpPr>
          <p:cNvPr id="9" name="Rectangle 8"/>
          <p:cNvSpPr/>
          <p:nvPr/>
        </p:nvSpPr>
        <p:spPr>
          <a:xfrm>
            <a:off x="365760" y="1371600"/>
            <a:ext cx="11430000" cy="173736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63040"/>
            <a:ext cx="10972800" cy="320040"/>
          </a:xfrm>
          <a:prstGeom prst="rect">
            <a:avLst/>
          </a:prstGeom>
          <a:noFill/>
        </p:spPr>
        <p:txBody>
          <a:bodyPr wrap="square">
            <a:spAutoFit/>
          </a:bodyPr>
          <a:lstStyle/>
          <a:p>
            <a:pPr algn="l"/>
            <a:r>
              <a:rPr sz="1200" b="1" i="0">
                <a:solidFill>
                  <a:srgbClr val="F59E0B"/>
                </a:solidFill>
              </a:rPr>
              <a:t>Settlement Engine Formula</a:t>
            </a:r>
          </a:p>
        </p:txBody>
      </p:sp>
      <p:sp>
        <p:nvSpPr>
          <p:cNvPr id="11" name="TextBox 10"/>
          <p:cNvSpPr txBox="1"/>
          <p:nvPr/>
        </p:nvSpPr>
        <p:spPr>
          <a:xfrm>
            <a:off x="548640" y="1828800"/>
            <a:ext cx="10972800" cy="1143000"/>
          </a:xfrm>
          <a:prstGeom prst="rect">
            <a:avLst/>
          </a:prstGeom>
          <a:noFill/>
        </p:spPr>
        <p:txBody>
          <a:bodyPr wrap="square">
            <a:spAutoFit/>
          </a:bodyPr>
          <a:lstStyle/>
          <a:p>
            <a:pPr algn="l"/>
            <a:r>
              <a:rPr sz="1350" b="1" i="0">
                <a:solidFill>
                  <a:srgbClr val="FFFFFF"/>
                </a:solidFill>
              </a:rPr>
              <a:t>Step 1:  Raw Earnings  =  Cumulative Kilos  ×  ₱1.00/kg
Step 2:  Target Payout  =  MAX( Raw Earnings,  ₱25,000.00 Guaranteed Minimum )
Step 3:  Net Due This Week  =  MAX( 0,  Target Payout  −  Sum of Previous Weeks Paid )</a:t>
            </a:r>
          </a:p>
        </p:txBody>
      </p:sp>
      <p:sp>
        <p:nvSpPr>
          <p:cNvPr id="12" name="TextBox 11"/>
          <p:cNvSpPr txBox="1"/>
          <p:nvPr/>
        </p:nvSpPr>
        <p:spPr>
          <a:xfrm>
            <a:off x="365760" y="3246120"/>
            <a:ext cx="6400800" cy="347472"/>
          </a:xfrm>
          <a:prstGeom prst="rect">
            <a:avLst/>
          </a:prstGeom>
          <a:noFill/>
        </p:spPr>
        <p:txBody>
          <a:bodyPr wrap="square">
            <a:spAutoFit/>
          </a:bodyPr>
          <a:lstStyle/>
          <a:p>
            <a:pPr algn="l"/>
            <a:r>
              <a:rPr sz="1300" b="1" i="0">
                <a:solidFill>
                  <a:srgbClr val="064E3B"/>
                </a:solidFill>
              </a:rPr>
              <a:t>Processing a Weekly Settlement</a:t>
            </a:r>
          </a:p>
        </p:txBody>
      </p:sp>
      <p:sp>
        <p:nvSpPr>
          <p:cNvPr id="13" name="Rectangle 12"/>
          <p:cNvSpPr/>
          <p:nvPr/>
        </p:nvSpPr>
        <p:spPr>
          <a:xfrm>
            <a:off x="365760" y="3657600"/>
            <a:ext cx="59436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79476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767328"/>
            <a:ext cx="411480" cy="411480"/>
          </a:xfrm>
          <a:prstGeom prst="rect">
            <a:avLst/>
          </a:prstGeom>
          <a:noFill/>
        </p:spPr>
        <p:txBody>
          <a:bodyPr wrap="square">
            <a:spAutoFit/>
          </a:bodyPr>
          <a:lstStyle/>
          <a:p>
            <a:pPr algn="ctr"/>
            <a:r>
              <a:rPr sz="1400" b="1" i="0">
                <a:solidFill>
                  <a:srgbClr val="FFFFFF"/>
                </a:solidFill>
              </a:rPr>
              <a:t>1</a:t>
            </a:r>
          </a:p>
        </p:txBody>
      </p:sp>
      <p:sp>
        <p:nvSpPr>
          <p:cNvPr id="16" name="TextBox 15"/>
          <p:cNvSpPr txBox="1"/>
          <p:nvPr/>
        </p:nvSpPr>
        <p:spPr>
          <a:xfrm>
            <a:off x="960120" y="3730752"/>
            <a:ext cx="5257800" cy="274320"/>
          </a:xfrm>
          <a:prstGeom prst="rect">
            <a:avLst/>
          </a:prstGeom>
          <a:noFill/>
        </p:spPr>
        <p:txBody>
          <a:bodyPr wrap="square">
            <a:spAutoFit/>
          </a:bodyPr>
          <a:lstStyle/>
          <a:p>
            <a:pPr algn="l"/>
            <a:r>
              <a:rPr sz="1100" b="1" i="0">
                <a:solidFill>
                  <a:srgbClr val="064E3B"/>
                </a:solidFill>
              </a:rPr>
              <a:t>Select Crop Cycle</a:t>
            </a:r>
          </a:p>
        </p:txBody>
      </p:sp>
      <p:sp>
        <p:nvSpPr>
          <p:cNvPr id="17" name="TextBox 16"/>
          <p:cNvSpPr txBox="1"/>
          <p:nvPr/>
        </p:nvSpPr>
        <p:spPr>
          <a:xfrm>
            <a:off x="960120" y="4005072"/>
            <a:ext cx="5257800" cy="384048"/>
          </a:xfrm>
          <a:prstGeom prst="rect">
            <a:avLst/>
          </a:prstGeom>
          <a:noFill/>
        </p:spPr>
        <p:txBody>
          <a:bodyPr wrap="square">
            <a:spAutoFit/>
          </a:bodyPr>
          <a:lstStyle/>
          <a:p>
            <a:pPr algn="l"/>
            <a:r>
              <a:rPr sz="950" b="0" i="0">
                <a:solidFill>
                  <a:srgbClr val="4B5563"/>
                </a:solidFill>
              </a:rPr>
              <a:t>Choose the active harvest cycle</a:t>
            </a:r>
          </a:p>
        </p:txBody>
      </p:sp>
      <p:sp>
        <p:nvSpPr>
          <p:cNvPr id="18" name="Rectangle 17"/>
          <p:cNvSpPr/>
          <p:nvPr/>
        </p:nvSpPr>
        <p:spPr>
          <a:xfrm>
            <a:off x="365760" y="4160520"/>
            <a:ext cx="59436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429768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270248"/>
            <a:ext cx="411480" cy="411480"/>
          </a:xfrm>
          <a:prstGeom prst="rect">
            <a:avLst/>
          </a:prstGeom>
          <a:noFill/>
        </p:spPr>
        <p:txBody>
          <a:bodyPr wrap="square">
            <a:spAutoFit/>
          </a:bodyPr>
          <a:lstStyle/>
          <a:p>
            <a:pPr algn="ctr"/>
            <a:r>
              <a:rPr sz="1400" b="1" i="0">
                <a:solidFill>
                  <a:srgbClr val="FFFFFF"/>
                </a:solidFill>
              </a:rPr>
              <a:t>2</a:t>
            </a:r>
          </a:p>
        </p:txBody>
      </p:sp>
      <p:sp>
        <p:nvSpPr>
          <p:cNvPr id="21" name="TextBox 20"/>
          <p:cNvSpPr txBox="1"/>
          <p:nvPr/>
        </p:nvSpPr>
        <p:spPr>
          <a:xfrm>
            <a:off x="960120" y="4233672"/>
            <a:ext cx="5257800" cy="274320"/>
          </a:xfrm>
          <a:prstGeom prst="rect">
            <a:avLst/>
          </a:prstGeom>
          <a:noFill/>
        </p:spPr>
        <p:txBody>
          <a:bodyPr wrap="square">
            <a:spAutoFit/>
          </a:bodyPr>
          <a:lstStyle/>
          <a:p>
            <a:pPr algn="l"/>
            <a:r>
              <a:rPr sz="1100" b="1" i="0">
                <a:solidFill>
                  <a:srgbClr val="064E3B"/>
                </a:solidFill>
              </a:rPr>
              <a:t>Set Week Number</a:t>
            </a:r>
          </a:p>
        </p:txBody>
      </p:sp>
      <p:sp>
        <p:nvSpPr>
          <p:cNvPr id="22" name="TextBox 21"/>
          <p:cNvSpPr txBox="1"/>
          <p:nvPr/>
        </p:nvSpPr>
        <p:spPr>
          <a:xfrm>
            <a:off x="960120" y="4507992"/>
            <a:ext cx="5257800" cy="384048"/>
          </a:xfrm>
          <a:prstGeom prst="rect">
            <a:avLst/>
          </a:prstGeom>
          <a:noFill/>
        </p:spPr>
        <p:txBody>
          <a:bodyPr wrap="square">
            <a:spAutoFit/>
          </a:bodyPr>
          <a:lstStyle/>
          <a:p>
            <a:pPr algn="l"/>
            <a:r>
              <a:rPr sz="950" b="0" i="0">
                <a:solidFill>
                  <a:srgbClr val="4B5563"/>
                </a:solidFill>
              </a:rPr>
              <a:t>e.g., Week 3 (cumulative from planting)</a:t>
            </a:r>
          </a:p>
        </p:txBody>
      </p:sp>
      <p:sp>
        <p:nvSpPr>
          <p:cNvPr id="23" name="Rectangle 22"/>
          <p:cNvSpPr/>
          <p:nvPr/>
        </p:nvSpPr>
        <p:spPr>
          <a:xfrm>
            <a:off x="365760" y="4663440"/>
            <a:ext cx="59436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80060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773168"/>
            <a:ext cx="411480" cy="411480"/>
          </a:xfrm>
          <a:prstGeom prst="rect">
            <a:avLst/>
          </a:prstGeom>
          <a:noFill/>
        </p:spPr>
        <p:txBody>
          <a:bodyPr wrap="square">
            <a:spAutoFit/>
          </a:bodyPr>
          <a:lstStyle/>
          <a:p>
            <a:pPr algn="ctr"/>
            <a:r>
              <a:rPr sz="1400" b="1" i="0">
                <a:solidFill>
                  <a:srgbClr val="FFFFFF"/>
                </a:solidFill>
              </a:rPr>
              <a:t>3</a:t>
            </a:r>
          </a:p>
        </p:txBody>
      </p:sp>
      <p:sp>
        <p:nvSpPr>
          <p:cNvPr id="26" name="TextBox 25"/>
          <p:cNvSpPr txBox="1"/>
          <p:nvPr/>
        </p:nvSpPr>
        <p:spPr>
          <a:xfrm>
            <a:off x="960120" y="4736592"/>
            <a:ext cx="5257800" cy="274320"/>
          </a:xfrm>
          <a:prstGeom prst="rect">
            <a:avLst/>
          </a:prstGeom>
          <a:noFill/>
        </p:spPr>
        <p:txBody>
          <a:bodyPr wrap="square">
            <a:spAutoFit/>
          </a:bodyPr>
          <a:lstStyle/>
          <a:p>
            <a:pPr algn="l"/>
            <a:r>
              <a:rPr sz="1100" b="1" i="0">
                <a:solidFill>
                  <a:srgbClr val="064E3B"/>
                </a:solidFill>
              </a:rPr>
              <a:t>Tap 'Calculate Settlement'</a:t>
            </a:r>
          </a:p>
        </p:txBody>
      </p:sp>
      <p:sp>
        <p:nvSpPr>
          <p:cNvPr id="27" name="TextBox 26"/>
          <p:cNvSpPr txBox="1"/>
          <p:nvPr/>
        </p:nvSpPr>
        <p:spPr>
          <a:xfrm>
            <a:off x="960120" y="5010912"/>
            <a:ext cx="5257800" cy="384048"/>
          </a:xfrm>
          <a:prstGeom prst="rect">
            <a:avLst/>
          </a:prstGeom>
          <a:noFill/>
        </p:spPr>
        <p:txBody>
          <a:bodyPr wrap="square">
            <a:spAutoFit/>
          </a:bodyPr>
          <a:lstStyle/>
          <a:p>
            <a:pPr algn="l"/>
            <a:r>
              <a:rPr sz="950" b="0" i="0">
                <a:solidFill>
                  <a:srgbClr val="4B5563"/>
                </a:solidFill>
              </a:rPr>
              <a:t>Engine aggregates all harvest batches to date</a:t>
            </a:r>
          </a:p>
        </p:txBody>
      </p:sp>
      <p:sp>
        <p:nvSpPr>
          <p:cNvPr id="28" name="Rectangle 27"/>
          <p:cNvSpPr/>
          <p:nvPr/>
        </p:nvSpPr>
        <p:spPr>
          <a:xfrm>
            <a:off x="365760" y="5166360"/>
            <a:ext cx="59436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530352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5276088"/>
            <a:ext cx="411480" cy="411480"/>
          </a:xfrm>
          <a:prstGeom prst="rect">
            <a:avLst/>
          </a:prstGeom>
          <a:noFill/>
        </p:spPr>
        <p:txBody>
          <a:bodyPr wrap="square">
            <a:spAutoFit/>
          </a:bodyPr>
          <a:lstStyle/>
          <a:p>
            <a:pPr algn="ctr"/>
            <a:r>
              <a:rPr sz="1400" b="1" i="0">
                <a:solidFill>
                  <a:srgbClr val="FFFFFF"/>
                </a:solidFill>
              </a:rPr>
              <a:t>4</a:t>
            </a:r>
          </a:p>
        </p:txBody>
      </p:sp>
      <p:sp>
        <p:nvSpPr>
          <p:cNvPr id="31" name="TextBox 30"/>
          <p:cNvSpPr txBox="1"/>
          <p:nvPr/>
        </p:nvSpPr>
        <p:spPr>
          <a:xfrm>
            <a:off x="960120" y="5239512"/>
            <a:ext cx="5257800" cy="274320"/>
          </a:xfrm>
          <a:prstGeom prst="rect">
            <a:avLst/>
          </a:prstGeom>
          <a:noFill/>
        </p:spPr>
        <p:txBody>
          <a:bodyPr wrap="square">
            <a:spAutoFit/>
          </a:bodyPr>
          <a:lstStyle/>
          <a:p>
            <a:pPr algn="l"/>
            <a:r>
              <a:rPr sz="1100" b="1" i="0">
                <a:solidFill>
                  <a:srgbClr val="064E3B"/>
                </a:solidFill>
              </a:rPr>
              <a:t>Review Settlement Slip</a:t>
            </a:r>
          </a:p>
        </p:txBody>
      </p:sp>
      <p:sp>
        <p:nvSpPr>
          <p:cNvPr id="32" name="TextBox 31"/>
          <p:cNvSpPr txBox="1"/>
          <p:nvPr/>
        </p:nvSpPr>
        <p:spPr>
          <a:xfrm>
            <a:off x="960120" y="5513832"/>
            <a:ext cx="5257800" cy="384048"/>
          </a:xfrm>
          <a:prstGeom prst="rect">
            <a:avLst/>
          </a:prstGeom>
          <a:noFill/>
        </p:spPr>
        <p:txBody>
          <a:bodyPr wrap="square">
            <a:spAutoFit/>
          </a:bodyPr>
          <a:lstStyle/>
          <a:p>
            <a:pPr algn="l"/>
            <a:r>
              <a:rPr sz="950" b="0" i="0">
                <a:solidFill>
                  <a:srgbClr val="4B5563"/>
                </a:solidFill>
              </a:rPr>
              <a:t>Kilos / Rate / Guarantee Status / Net Payout</a:t>
            </a:r>
          </a:p>
        </p:txBody>
      </p:sp>
      <p:sp>
        <p:nvSpPr>
          <p:cNvPr id="33" name="Rectangle 32"/>
          <p:cNvSpPr/>
          <p:nvPr/>
        </p:nvSpPr>
        <p:spPr>
          <a:xfrm>
            <a:off x="365760" y="5669280"/>
            <a:ext cx="59436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580644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5779008"/>
            <a:ext cx="411480" cy="411480"/>
          </a:xfrm>
          <a:prstGeom prst="rect">
            <a:avLst/>
          </a:prstGeom>
          <a:noFill/>
        </p:spPr>
        <p:txBody>
          <a:bodyPr wrap="square">
            <a:spAutoFit/>
          </a:bodyPr>
          <a:lstStyle/>
          <a:p>
            <a:pPr algn="ctr"/>
            <a:r>
              <a:rPr sz="1400" b="1" i="0">
                <a:solidFill>
                  <a:srgbClr val="FFFFFF"/>
                </a:solidFill>
              </a:rPr>
              <a:t>5</a:t>
            </a:r>
          </a:p>
        </p:txBody>
      </p:sp>
      <p:sp>
        <p:nvSpPr>
          <p:cNvPr id="36" name="TextBox 35"/>
          <p:cNvSpPr txBox="1"/>
          <p:nvPr/>
        </p:nvSpPr>
        <p:spPr>
          <a:xfrm>
            <a:off x="960120" y="5742432"/>
            <a:ext cx="5257800" cy="274320"/>
          </a:xfrm>
          <a:prstGeom prst="rect">
            <a:avLst/>
          </a:prstGeom>
          <a:noFill/>
        </p:spPr>
        <p:txBody>
          <a:bodyPr wrap="square">
            <a:spAutoFit/>
          </a:bodyPr>
          <a:lstStyle/>
          <a:p>
            <a:pPr algn="l"/>
            <a:r>
              <a:rPr sz="1100" b="1" i="0">
                <a:solidFill>
                  <a:srgbClr val="064E3B"/>
                </a:solidFill>
              </a:rPr>
              <a:t>Tap 'Disburse Payout'</a:t>
            </a:r>
          </a:p>
        </p:txBody>
      </p:sp>
      <p:sp>
        <p:nvSpPr>
          <p:cNvPr id="37" name="TextBox 36"/>
          <p:cNvSpPr txBox="1"/>
          <p:nvPr/>
        </p:nvSpPr>
        <p:spPr>
          <a:xfrm>
            <a:off x="960120" y="6016752"/>
            <a:ext cx="5257800" cy="384048"/>
          </a:xfrm>
          <a:prstGeom prst="rect">
            <a:avLst/>
          </a:prstGeom>
          <a:noFill/>
        </p:spPr>
        <p:txBody>
          <a:bodyPr wrap="square">
            <a:spAutoFit/>
          </a:bodyPr>
          <a:lstStyle/>
          <a:p>
            <a:pPr algn="l"/>
            <a:r>
              <a:rPr sz="950" b="0" i="0">
                <a:solidFill>
                  <a:srgbClr val="4B5563"/>
                </a:solidFill>
              </a:rPr>
              <a:t>Enter receipt reference (GCash / Bank OR)</a:t>
            </a:r>
          </a:p>
        </p:txBody>
      </p:sp>
      <p:sp>
        <p:nvSpPr>
          <p:cNvPr id="38" name="Rectangle 37"/>
          <p:cNvSpPr/>
          <p:nvPr/>
        </p:nvSpPr>
        <p:spPr>
          <a:xfrm>
            <a:off x="365760" y="6172200"/>
            <a:ext cx="59436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 y="630936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6281928"/>
            <a:ext cx="411480" cy="411480"/>
          </a:xfrm>
          <a:prstGeom prst="rect">
            <a:avLst/>
          </a:prstGeom>
          <a:noFill/>
        </p:spPr>
        <p:txBody>
          <a:bodyPr wrap="square">
            <a:spAutoFit/>
          </a:bodyPr>
          <a:lstStyle/>
          <a:p>
            <a:pPr algn="ctr"/>
            <a:r>
              <a:rPr sz="1400" b="1" i="0">
                <a:solidFill>
                  <a:srgbClr val="FFFFFF"/>
                </a:solidFill>
              </a:rPr>
              <a:t>6</a:t>
            </a:r>
          </a:p>
        </p:txBody>
      </p:sp>
      <p:sp>
        <p:nvSpPr>
          <p:cNvPr id="41" name="TextBox 40"/>
          <p:cNvSpPr txBox="1"/>
          <p:nvPr/>
        </p:nvSpPr>
        <p:spPr>
          <a:xfrm>
            <a:off x="960120" y="6245352"/>
            <a:ext cx="5257800" cy="274320"/>
          </a:xfrm>
          <a:prstGeom prst="rect">
            <a:avLst/>
          </a:prstGeom>
          <a:noFill/>
        </p:spPr>
        <p:txBody>
          <a:bodyPr wrap="square">
            <a:spAutoFit/>
          </a:bodyPr>
          <a:lstStyle/>
          <a:p>
            <a:pPr algn="l"/>
            <a:r>
              <a:rPr sz="1100" b="1" i="0">
                <a:solidFill>
                  <a:srgbClr val="064E3B"/>
                </a:solidFill>
              </a:rPr>
              <a:t>Confirm Disbursement</a:t>
            </a:r>
          </a:p>
        </p:txBody>
      </p:sp>
      <p:sp>
        <p:nvSpPr>
          <p:cNvPr id="42" name="TextBox 41"/>
          <p:cNvSpPr txBox="1"/>
          <p:nvPr/>
        </p:nvSpPr>
        <p:spPr>
          <a:xfrm>
            <a:off x="960120" y="6519672"/>
            <a:ext cx="5257800" cy="384048"/>
          </a:xfrm>
          <a:prstGeom prst="rect">
            <a:avLst/>
          </a:prstGeom>
          <a:noFill/>
        </p:spPr>
        <p:txBody>
          <a:bodyPr wrap="square">
            <a:spAutoFit/>
          </a:bodyPr>
          <a:lstStyle/>
          <a:p>
            <a:pPr algn="l"/>
            <a:r>
              <a:rPr sz="950" b="0" i="0">
                <a:solidFill>
                  <a:srgbClr val="4B5563"/>
                </a:solidFill>
              </a:rPr>
              <a:t>Status → 'paid'; auto-posts double-entry journal</a:t>
            </a:r>
          </a:p>
        </p:txBody>
      </p:sp>
      <p:sp>
        <p:nvSpPr>
          <p:cNvPr id="43" name="Rectangle 42"/>
          <p:cNvSpPr/>
          <p:nvPr/>
        </p:nvSpPr>
        <p:spPr>
          <a:xfrm>
            <a:off x="6583680" y="3246120"/>
            <a:ext cx="5212080" cy="3291840"/>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66560" y="3337560"/>
            <a:ext cx="4846320" cy="347472"/>
          </a:xfrm>
          <a:prstGeom prst="rect">
            <a:avLst/>
          </a:prstGeom>
          <a:noFill/>
        </p:spPr>
        <p:txBody>
          <a:bodyPr wrap="square">
            <a:spAutoFit/>
          </a:bodyPr>
          <a:lstStyle/>
          <a:p>
            <a:pPr algn="l"/>
            <a:r>
              <a:rPr sz="1200" b="1" i="0">
                <a:solidFill>
                  <a:srgbClr val="064E3B"/>
                </a:solidFill>
              </a:rPr>
              <a:t>📊  Example Calculation — Week 3</a:t>
            </a:r>
          </a:p>
        </p:txBody>
      </p:sp>
      <p:sp>
        <p:nvSpPr>
          <p:cNvPr id="45" name="TextBox 44"/>
          <p:cNvSpPr txBox="1"/>
          <p:nvPr/>
        </p:nvSpPr>
        <p:spPr>
          <a:xfrm>
            <a:off x="6766560" y="3749039"/>
            <a:ext cx="2926080" cy="347472"/>
          </a:xfrm>
          <a:prstGeom prst="rect">
            <a:avLst/>
          </a:prstGeom>
          <a:noFill/>
        </p:spPr>
        <p:txBody>
          <a:bodyPr wrap="square">
            <a:spAutoFit/>
          </a:bodyPr>
          <a:lstStyle/>
          <a:p>
            <a:pPr algn="l"/>
            <a:r>
              <a:rPr sz="1050" b="0" i="0">
                <a:solidFill>
                  <a:srgbClr val="4B5563"/>
                </a:solidFill>
              </a:rPr>
              <a:t>Cumulative Harvest</a:t>
            </a:r>
          </a:p>
        </p:txBody>
      </p:sp>
      <p:sp>
        <p:nvSpPr>
          <p:cNvPr id="46" name="TextBox 45"/>
          <p:cNvSpPr txBox="1"/>
          <p:nvPr/>
        </p:nvSpPr>
        <p:spPr>
          <a:xfrm>
            <a:off x="9418320" y="3749039"/>
            <a:ext cx="2286000" cy="347472"/>
          </a:xfrm>
          <a:prstGeom prst="rect">
            <a:avLst/>
          </a:prstGeom>
          <a:noFill/>
        </p:spPr>
        <p:txBody>
          <a:bodyPr wrap="square">
            <a:spAutoFit/>
          </a:bodyPr>
          <a:lstStyle/>
          <a:p>
            <a:pPr algn="r"/>
            <a:r>
              <a:rPr sz="1050" b="0" i="0">
                <a:solidFill>
                  <a:srgbClr val="4B5563"/>
                </a:solidFill>
              </a:rPr>
              <a:t>27,400 kg</a:t>
            </a:r>
          </a:p>
        </p:txBody>
      </p:sp>
      <p:sp>
        <p:nvSpPr>
          <p:cNvPr id="47" name="TextBox 46"/>
          <p:cNvSpPr txBox="1"/>
          <p:nvPr/>
        </p:nvSpPr>
        <p:spPr>
          <a:xfrm>
            <a:off x="6766560" y="4142231"/>
            <a:ext cx="2926080" cy="347472"/>
          </a:xfrm>
          <a:prstGeom prst="rect">
            <a:avLst/>
          </a:prstGeom>
          <a:noFill/>
        </p:spPr>
        <p:txBody>
          <a:bodyPr wrap="square">
            <a:spAutoFit/>
          </a:bodyPr>
          <a:lstStyle/>
          <a:p>
            <a:pPr algn="l"/>
            <a:r>
              <a:rPr sz="1050" b="0" i="0">
                <a:solidFill>
                  <a:srgbClr val="4B5563"/>
                </a:solidFill>
              </a:rPr>
              <a:t>Rate per Kilo</a:t>
            </a:r>
          </a:p>
        </p:txBody>
      </p:sp>
      <p:sp>
        <p:nvSpPr>
          <p:cNvPr id="48" name="TextBox 47"/>
          <p:cNvSpPr txBox="1"/>
          <p:nvPr/>
        </p:nvSpPr>
        <p:spPr>
          <a:xfrm>
            <a:off x="9418320" y="4142231"/>
            <a:ext cx="2286000" cy="347472"/>
          </a:xfrm>
          <a:prstGeom prst="rect">
            <a:avLst/>
          </a:prstGeom>
          <a:noFill/>
        </p:spPr>
        <p:txBody>
          <a:bodyPr wrap="square">
            <a:spAutoFit/>
          </a:bodyPr>
          <a:lstStyle/>
          <a:p>
            <a:pPr algn="r"/>
            <a:r>
              <a:rPr sz="1050" b="0" i="0">
                <a:solidFill>
                  <a:srgbClr val="4B5563"/>
                </a:solidFill>
              </a:rPr>
              <a:t>₱1.00 / kg</a:t>
            </a:r>
          </a:p>
        </p:txBody>
      </p:sp>
      <p:sp>
        <p:nvSpPr>
          <p:cNvPr id="49" name="TextBox 48"/>
          <p:cNvSpPr txBox="1"/>
          <p:nvPr/>
        </p:nvSpPr>
        <p:spPr>
          <a:xfrm>
            <a:off x="6766560" y="4535423"/>
            <a:ext cx="2926080" cy="347472"/>
          </a:xfrm>
          <a:prstGeom prst="rect">
            <a:avLst/>
          </a:prstGeom>
          <a:noFill/>
        </p:spPr>
        <p:txBody>
          <a:bodyPr wrap="square">
            <a:spAutoFit/>
          </a:bodyPr>
          <a:lstStyle/>
          <a:p>
            <a:pPr algn="l"/>
            <a:r>
              <a:rPr sz="1050" b="0" i="0">
                <a:solidFill>
                  <a:srgbClr val="4B5563"/>
                </a:solidFill>
              </a:rPr>
              <a:t>Raw Kilo Earnings</a:t>
            </a:r>
          </a:p>
        </p:txBody>
      </p:sp>
      <p:sp>
        <p:nvSpPr>
          <p:cNvPr id="50" name="TextBox 49"/>
          <p:cNvSpPr txBox="1"/>
          <p:nvPr/>
        </p:nvSpPr>
        <p:spPr>
          <a:xfrm>
            <a:off x="9418320" y="4535423"/>
            <a:ext cx="2286000" cy="347472"/>
          </a:xfrm>
          <a:prstGeom prst="rect">
            <a:avLst/>
          </a:prstGeom>
          <a:noFill/>
        </p:spPr>
        <p:txBody>
          <a:bodyPr wrap="square">
            <a:spAutoFit/>
          </a:bodyPr>
          <a:lstStyle/>
          <a:p>
            <a:pPr algn="r"/>
            <a:r>
              <a:rPr sz="1050" b="0" i="0">
                <a:solidFill>
                  <a:srgbClr val="4B5563"/>
                </a:solidFill>
              </a:rPr>
              <a:t>₱27,400.00</a:t>
            </a:r>
          </a:p>
        </p:txBody>
      </p:sp>
      <p:sp>
        <p:nvSpPr>
          <p:cNvPr id="51" name="TextBox 50"/>
          <p:cNvSpPr txBox="1"/>
          <p:nvPr/>
        </p:nvSpPr>
        <p:spPr>
          <a:xfrm>
            <a:off x="6766560" y="4928615"/>
            <a:ext cx="2926080" cy="347472"/>
          </a:xfrm>
          <a:prstGeom prst="rect">
            <a:avLst/>
          </a:prstGeom>
          <a:noFill/>
        </p:spPr>
        <p:txBody>
          <a:bodyPr wrap="square">
            <a:spAutoFit/>
          </a:bodyPr>
          <a:lstStyle/>
          <a:p>
            <a:pPr algn="l"/>
            <a:r>
              <a:rPr sz="1050" b="0" i="0">
                <a:solidFill>
                  <a:srgbClr val="4B5563"/>
                </a:solidFill>
              </a:rPr>
              <a:t>Guaranteed Minimum</a:t>
            </a:r>
          </a:p>
        </p:txBody>
      </p:sp>
      <p:sp>
        <p:nvSpPr>
          <p:cNvPr id="52" name="TextBox 51"/>
          <p:cNvSpPr txBox="1"/>
          <p:nvPr/>
        </p:nvSpPr>
        <p:spPr>
          <a:xfrm>
            <a:off x="9418320" y="4928615"/>
            <a:ext cx="2286000" cy="347472"/>
          </a:xfrm>
          <a:prstGeom prst="rect">
            <a:avLst/>
          </a:prstGeom>
          <a:noFill/>
        </p:spPr>
        <p:txBody>
          <a:bodyPr wrap="square">
            <a:spAutoFit/>
          </a:bodyPr>
          <a:lstStyle/>
          <a:p>
            <a:pPr algn="r"/>
            <a:r>
              <a:rPr sz="1050" b="0" i="0">
                <a:solidFill>
                  <a:srgbClr val="4B5563"/>
                </a:solidFill>
              </a:rPr>
              <a:t>₱25,000.00</a:t>
            </a:r>
          </a:p>
        </p:txBody>
      </p:sp>
      <p:sp>
        <p:nvSpPr>
          <p:cNvPr id="53" name="TextBox 52"/>
          <p:cNvSpPr txBox="1"/>
          <p:nvPr/>
        </p:nvSpPr>
        <p:spPr>
          <a:xfrm>
            <a:off x="6766560" y="5321807"/>
            <a:ext cx="2926080" cy="347472"/>
          </a:xfrm>
          <a:prstGeom prst="rect">
            <a:avLst/>
          </a:prstGeom>
          <a:noFill/>
        </p:spPr>
        <p:txBody>
          <a:bodyPr wrap="square">
            <a:spAutoFit/>
          </a:bodyPr>
          <a:lstStyle/>
          <a:p>
            <a:pPr algn="l"/>
            <a:r>
              <a:rPr sz="1050" b="0" i="0">
                <a:solidFill>
                  <a:srgbClr val="4B5563"/>
                </a:solidFill>
              </a:rPr>
              <a:t>Target Payout (MAX)</a:t>
            </a:r>
          </a:p>
        </p:txBody>
      </p:sp>
      <p:sp>
        <p:nvSpPr>
          <p:cNvPr id="54" name="TextBox 53"/>
          <p:cNvSpPr txBox="1"/>
          <p:nvPr/>
        </p:nvSpPr>
        <p:spPr>
          <a:xfrm>
            <a:off x="9418320" y="5321807"/>
            <a:ext cx="2286000" cy="347472"/>
          </a:xfrm>
          <a:prstGeom prst="rect">
            <a:avLst/>
          </a:prstGeom>
          <a:noFill/>
        </p:spPr>
        <p:txBody>
          <a:bodyPr wrap="square">
            <a:spAutoFit/>
          </a:bodyPr>
          <a:lstStyle/>
          <a:p>
            <a:pPr algn="r"/>
            <a:r>
              <a:rPr sz="1050" b="0" i="0">
                <a:solidFill>
                  <a:srgbClr val="4B5563"/>
                </a:solidFill>
              </a:rPr>
              <a:t>₱27,400.00  ← kilo rate wins</a:t>
            </a:r>
          </a:p>
        </p:txBody>
      </p:sp>
      <p:sp>
        <p:nvSpPr>
          <p:cNvPr id="55" name="TextBox 54"/>
          <p:cNvSpPr txBox="1"/>
          <p:nvPr/>
        </p:nvSpPr>
        <p:spPr>
          <a:xfrm>
            <a:off x="6766560" y="5714999"/>
            <a:ext cx="2926080" cy="347472"/>
          </a:xfrm>
          <a:prstGeom prst="rect">
            <a:avLst/>
          </a:prstGeom>
          <a:noFill/>
        </p:spPr>
        <p:txBody>
          <a:bodyPr wrap="square">
            <a:spAutoFit/>
          </a:bodyPr>
          <a:lstStyle/>
          <a:p>
            <a:pPr algn="l"/>
            <a:r>
              <a:rPr sz="1050" b="0" i="0">
                <a:solidFill>
                  <a:srgbClr val="4B5563"/>
                </a:solidFill>
              </a:rPr>
              <a:t>Previous Weeks Paid</a:t>
            </a:r>
          </a:p>
        </p:txBody>
      </p:sp>
      <p:sp>
        <p:nvSpPr>
          <p:cNvPr id="56" name="TextBox 55"/>
          <p:cNvSpPr txBox="1"/>
          <p:nvPr/>
        </p:nvSpPr>
        <p:spPr>
          <a:xfrm>
            <a:off x="9418320" y="5714999"/>
            <a:ext cx="2286000" cy="347472"/>
          </a:xfrm>
          <a:prstGeom prst="rect">
            <a:avLst/>
          </a:prstGeom>
          <a:noFill/>
        </p:spPr>
        <p:txBody>
          <a:bodyPr wrap="square">
            <a:spAutoFit/>
          </a:bodyPr>
          <a:lstStyle/>
          <a:p>
            <a:pPr algn="r"/>
            <a:r>
              <a:rPr sz="1050" b="0" i="0">
                <a:solidFill>
                  <a:srgbClr val="4B5563"/>
                </a:solidFill>
              </a:rPr>
              <a:t>₱18,000.00</a:t>
            </a:r>
          </a:p>
        </p:txBody>
      </p:sp>
      <p:sp>
        <p:nvSpPr>
          <p:cNvPr id="57" name="TextBox 56"/>
          <p:cNvSpPr txBox="1"/>
          <p:nvPr/>
        </p:nvSpPr>
        <p:spPr>
          <a:xfrm>
            <a:off x="6766560" y="6108191"/>
            <a:ext cx="2926080" cy="347472"/>
          </a:xfrm>
          <a:prstGeom prst="rect">
            <a:avLst/>
          </a:prstGeom>
          <a:noFill/>
        </p:spPr>
        <p:txBody>
          <a:bodyPr wrap="square">
            <a:spAutoFit/>
          </a:bodyPr>
          <a:lstStyle/>
          <a:p>
            <a:pPr algn="l"/>
            <a:r>
              <a:rPr sz="1050" b="1" i="0">
                <a:solidFill>
                  <a:srgbClr val="064E3B"/>
                </a:solidFill>
              </a:rPr>
              <a:t>NET DUE THIS WEEK</a:t>
            </a:r>
          </a:p>
        </p:txBody>
      </p:sp>
      <p:sp>
        <p:nvSpPr>
          <p:cNvPr id="58" name="TextBox 57"/>
          <p:cNvSpPr txBox="1"/>
          <p:nvPr/>
        </p:nvSpPr>
        <p:spPr>
          <a:xfrm>
            <a:off x="9418320" y="6108191"/>
            <a:ext cx="2286000" cy="347472"/>
          </a:xfrm>
          <a:prstGeom prst="rect">
            <a:avLst/>
          </a:prstGeom>
          <a:noFill/>
        </p:spPr>
        <p:txBody>
          <a:bodyPr wrap="square">
            <a:spAutoFit/>
          </a:bodyPr>
          <a:lstStyle/>
          <a:p>
            <a:pPr algn="r"/>
            <a:r>
              <a:rPr sz="1050" b="1" i="0">
                <a:solidFill>
                  <a:srgbClr val="064E3B"/>
                </a:solidFill>
              </a:rPr>
              <a:t>₱9,400.00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640080"/>
          </a:xfrm>
          <a:prstGeom prst="rect">
            <a:avLst/>
          </a:prstGeom>
          <a:noFill/>
        </p:spPr>
        <p:txBody>
          <a:bodyPr wrap="square">
            <a:spAutoFit/>
          </a:bodyPr>
          <a:lstStyle/>
          <a:p>
            <a:pPr algn="l"/>
            <a:r>
              <a:rPr sz="2800" b="1" i="0">
                <a:solidFill>
                  <a:srgbClr val="FFFFFF"/>
                </a:solidFill>
              </a:rPr>
              <a:t>Module 7 — BioGreen Investor Ledger</a:t>
            </a:r>
          </a:p>
        </p:txBody>
      </p:sp>
      <p:sp>
        <p:nvSpPr>
          <p:cNvPr id="5" name="TextBox 4"/>
          <p:cNvSpPr txBox="1"/>
          <p:nvPr/>
        </p:nvSpPr>
        <p:spPr>
          <a:xfrm>
            <a:off x="457200" y="685800"/>
            <a:ext cx="11274552" cy="457200"/>
          </a:xfrm>
          <a:prstGeom prst="rect">
            <a:avLst/>
          </a:prstGeom>
          <a:noFill/>
        </p:spPr>
        <p:txBody>
          <a:bodyPr wrap="square">
            <a:spAutoFit/>
          </a:bodyPr>
          <a:lstStyle/>
          <a:p>
            <a:pPr algn="l"/>
            <a:r>
              <a:rPr sz="1300" b="0" i="0">
                <a:solidFill>
                  <a:srgbClr val="A7F3D0"/>
                </a:solidFill>
              </a:rPr>
              <a:t>Manages corporate investors, capital injections, and offtake deliveries</a:t>
            </a:r>
          </a:p>
        </p:txBody>
      </p:sp>
      <p:sp>
        <p:nvSpPr>
          <p:cNvPr id="6" name="Rectangle 5"/>
          <p:cNvSpPr/>
          <p:nvPr/>
        </p:nvSpPr>
        <p:spPr>
          <a:xfrm>
            <a:off x="0" y="6537960"/>
            <a:ext cx="12188952" cy="32004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65392"/>
            <a:ext cx="7315200" cy="274320"/>
          </a:xfrm>
          <a:prstGeom prst="rect">
            <a:avLst/>
          </a:prstGeom>
          <a:noFill/>
        </p:spPr>
        <p:txBody>
          <a:bodyPr wrap="square">
            <a:spAutoFit/>
          </a:bodyPr>
          <a:lstStyle/>
          <a:p>
            <a:pPr algn="l"/>
            <a:r>
              <a:rPr sz="800" b="0" i="0">
                <a:solidFill>
                  <a:srgbClr val="9CA3AF"/>
                </a:solidFill>
              </a:rPr>
              <a:t>JetFarm Agribusiness Outgrower Platform  |  Confidential</a:t>
            </a:r>
          </a:p>
        </p:txBody>
      </p:sp>
      <p:sp>
        <p:nvSpPr>
          <p:cNvPr id="8" name="TextBox 7"/>
          <p:cNvSpPr txBox="1"/>
          <p:nvPr/>
        </p:nvSpPr>
        <p:spPr>
          <a:xfrm>
            <a:off x="10360152" y="6565392"/>
            <a:ext cx="1645920" cy="274320"/>
          </a:xfrm>
          <a:prstGeom prst="rect">
            <a:avLst/>
          </a:prstGeom>
          <a:noFill/>
        </p:spPr>
        <p:txBody>
          <a:bodyPr wrap="square">
            <a:spAutoFit/>
          </a:bodyPr>
          <a:lstStyle/>
          <a:p>
            <a:pPr algn="r"/>
            <a:r>
              <a:rPr sz="800" b="0" i="0">
                <a:solidFill>
                  <a:srgbClr val="9CA3AF"/>
                </a:solidFill>
              </a:rPr>
              <a:t>Slide 10 / 14</a:t>
            </a:r>
          </a:p>
        </p:txBody>
      </p:sp>
      <p:sp>
        <p:nvSpPr>
          <p:cNvPr id="9" name="TextBox 8"/>
          <p:cNvSpPr txBox="1"/>
          <p:nvPr/>
        </p:nvSpPr>
        <p:spPr>
          <a:xfrm>
            <a:off x="457200" y="1371600"/>
            <a:ext cx="11247120" cy="457200"/>
          </a:xfrm>
          <a:prstGeom prst="rect">
            <a:avLst/>
          </a:prstGeom>
          <a:noFill/>
        </p:spPr>
        <p:txBody>
          <a:bodyPr wrap="square">
            <a:spAutoFit/>
          </a:bodyPr>
          <a:lstStyle/>
          <a:p>
            <a:pPr algn="l"/>
            <a:r>
              <a:rPr sz="1200" b="0" i="0">
                <a:solidFill>
                  <a:srgbClr val="4B5563"/>
                </a:solidFill>
              </a:rPr>
              <a:t>💼  Purpose: Tracks every peso invested by corporate partners (e.g., BioGreen Agri Solutions) and every kilogram delivered against offtake contracts.</a:t>
            </a:r>
          </a:p>
        </p:txBody>
      </p:sp>
      <p:sp>
        <p:nvSpPr>
          <p:cNvPr id="10" name="Rectangle 9"/>
          <p:cNvSpPr/>
          <p:nvPr/>
        </p:nvSpPr>
        <p:spPr>
          <a:xfrm>
            <a:off x="365760" y="2011680"/>
            <a:ext cx="3657600" cy="34747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103120"/>
            <a:ext cx="3383280" cy="365760"/>
          </a:xfrm>
          <a:prstGeom prst="rect">
            <a:avLst/>
          </a:prstGeom>
          <a:noFill/>
        </p:spPr>
        <p:txBody>
          <a:bodyPr wrap="square">
            <a:spAutoFit/>
          </a:bodyPr>
          <a:lstStyle/>
          <a:p>
            <a:pPr algn="l"/>
            <a:r>
              <a:rPr sz="1300" b="1" i="0">
                <a:solidFill>
                  <a:srgbClr val="FFFFFF"/>
                </a:solidFill>
              </a:rPr>
              <a:t>1. Register Investor</a:t>
            </a:r>
          </a:p>
        </p:txBody>
      </p:sp>
      <p:sp>
        <p:nvSpPr>
          <p:cNvPr id="12" name="TextBox 11"/>
          <p:cNvSpPr txBox="1"/>
          <p:nvPr/>
        </p:nvSpPr>
        <p:spPr>
          <a:xfrm>
            <a:off x="548640" y="2560320"/>
            <a:ext cx="3291840" cy="457200"/>
          </a:xfrm>
          <a:prstGeom prst="rect">
            <a:avLst/>
          </a:prstGeom>
          <a:noFill/>
        </p:spPr>
        <p:txBody>
          <a:bodyPr wrap="square">
            <a:spAutoFit/>
          </a:bodyPr>
          <a:lstStyle/>
          <a:p>
            <a:pPr algn="l"/>
            <a:r>
              <a:rPr sz="1050" b="0" i="0">
                <a:solidFill>
                  <a:srgbClr val="FFFFFF"/>
                </a:solidFill>
              </a:rPr>
              <a:t>▶  Tap '+ New Investor'</a:t>
            </a:r>
          </a:p>
        </p:txBody>
      </p:sp>
      <p:sp>
        <p:nvSpPr>
          <p:cNvPr id="13" name="TextBox 12"/>
          <p:cNvSpPr txBox="1"/>
          <p:nvPr/>
        </p:nvSpPr>
        <p:spPr>
          <a:xfrm>
            <a:off x="548640" y="3072384"/>
            <a:ext cx="3291840" cy="457200"/>
          </a:xfrm>
          <a:prstGeom prst="rect">
            <a:avLst/>
          </a:prstGeom>
          <a:noFill/>
        </p:spPr>
        <p:txBody>
          <a:bodyPr wrap="square">
            <a:spAutoFit/>
          </a:bodyPr>
          <a:lstStyle/>
          <a:p>
            <a:pPr algn="l"/>
            <a:r>
              <a:rPr sz="1050" b="0" i="0">
                <a:solidFill>
                  <a:srgbClr val="FFFFFF"/>
                </a:solidFill>
              </a:rPr>
              <a:t>▶  Enter: Company Name, Contact Person, Phone, Email</a:t>
            </a:r>
          </a:p>
        </p:txBody>
      </p:sp>
      <p:sp>
        <p:nvSpPr>
          <p:cNvPr id="14" name="TextBox 13"/>
          <p:cNvSpPr txBox="1"/>
          <p:nvPr/>
        </p:nvSpPr>
        <p:spPr>
          <a:xfrm>
            <a:off x="548640" y="3584448"/>
            <a:ext cx="3291840" cy="457200"/>
          </a:xfrm>
          <a:prstGeom prst="rect">
            <a:avLst/>
          </a:prstGeom>
          <a:noFill/>
        </p:spPr>
        <p:txBody>
          <a:bodyPr wrap="square">
            <a:spAutoFit/>
          </a:bodyPr>
          <a:lstStyle/>
          <a:p>
            <a:pPr algn="l"/>
            <a:r>
              <a:rPr sz="1050" b="0" i="0">
                <a:solidFill>
                  <a:srgbClr val="FFFFFF"/>
                </a:solidFill>
              </a:rPr>
              <a:t>▶  Set Contracted Offtake Rate → e.g., ₱4.00/kg</a:t>
            </a:r>
          </a:p>
        </p:txBody>
      </p:sp>
      <p:sp>
        <p:nvSpPr>
          <p:cNvPr id="15" name="TextBox 14"/>
          <p:cNvSpPr txBox="1"/>
          <p:nvPr/>
        </p:nvSpPr>
        <p:spPr>
          <a:xfrm>
            <a:off x="548640" y="4096512"/>
            <a:ext cx="3291840" cy="457200"/>
          </a:xfrm>
          <a:prstGeom prst="rect">
            <a:avLst/>
          </a:prstGeom>
          <a:noFill/>
        </p:spPr>
        <p:txBody>
          <a:bodyPr wrap="square">
            <a:spAutoFit/>
          </a:bodyPr>
          <a:lstStyle/>
          <a:p>
            <a:pPr algn="l"/>
            <a:r>
              <a:rPr sz="1050" b="0" i="0">
                <a:solidFill>
                  <a:srgbClr val="FFFFFF"/>
                </a:solidFill>
              </a:rPr>
              <a:t>▶  Save → Investor appears in the ledger directory</a:t>
            </a:r>
          </a:p>
        </p:txBody>
      </p:sp>
      <p:sp>
        <p:nvSpPr>
          <p:cNvPr id="16" name="Rectangle 15"/>
          <p:cNvSpPr/>
          <p:nvPr/>
        </p:nvSpPr>
        <p:spPr>
          <a:xfrm>
            <a:off x="4206240" y="2011680"/>
            <a:ext cx="3657600" cy="347472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43400" y="2103120"/>
            <a:ext cx="3383280" cy="365760"/>
          </a:xfrm>
          <a:prstGeom prst="rect">
            <a:avLst/>
          </a:prstGeom>
          <a:noFill/>
        </p:spPr>
        <p:txBody>
          <a:bodyPr wrap="square">
            <a:spAutoFit/>
          </a:bodyPr>
          <a:lstStyle/>
          <a:p>
            <a:pPr algn="l"/>
            <a:r>
              <a:rPr sz="1300" b="1" i="0">
                <a:solidFill>
                  <a:srgbClr val="FFFFFF"/>
                </a:solidFill>
              </a:rPr>
              <a:t>2. Record Capital Injection</a:t>
            </a:r>
          </a:p>
        </p:txBody>
      </p:sp>
      <p:sp>
        <p:nvSpPr>
          <p:cNvPr id="18" name="TextBox 17"/>
          <p:cNvSpPr txBox="1"/>
          <p:nvPr/>
        </p:nvSpPr>
        <p:spPr>
          <a:xfrm>
            <a:off x="4389120" y="2560320"/>
            <a:ext cx="3291840" cy="457200"/>
          </a:xfrm>
          <a:prstGeom prst="rect">
            <a:avLst/>
          </a:prstGeom>
          <a:noFill/>
        </p:spPr>
        <p:txBody>
          <a:bodyPr wrap="square">
            <a:spAutoFit/>
          </a:bodyPr>
          <a:lstStyle/>
          <a:p>
            <a:pPr algn="l"/>
            <a:r>
              <a:rPr sz="1050" b="0" i="0">
                <a:solidFill>
                  <a:srgbClr val="FFFFFF"/>
                </a:solidFill>
              </a:rPr>
              <a:t>▶  Tap '+ Add Capital'</a:t>
            </a:r>
          </a:p>
        </p:txBody>
      </p:sp>
      <p:sp>
        <p:nvSpPr>
          <p:cNvPr id="19" name="TextBox 18"/>
          <p:cNvSpPr txBox="1"/>
          <p:nvPr/>
        </p:nvSpPr>
        <p:spPr>
          <a:xfrm>
            <a:off x="4389120" y="3072384"/>
            <a:ext cx="3291840" cy="457200"/>
          </a:xfrm>
          <a:prstGeom prst="rect">
            <a:avLst/>
          </a:prstGeom>
          <a:noFill/>
        </p:spPr>
        <p:txBody>
          <a:bodyPr wrap="square">
            <a:spAutoFit/>
          </a:bodyPr>
          <a:lstStyle/>
          <a:p>
            <a:pPr algn="l"/>
            <a:r>
              <a:rPr sz="1050" b="0" i="0">
                <a:solidFill>
                  <a:srgbClr val="FFFFFF"/>
                </a:solidFill>
              </a:rPr>
              <a:t>▶  Select Investor and target Crop Cycle</a:t>
            </a:r>
          </a:p>
        </p:txBody>
      </p:sp>
      <p:sp>
        <p:nvSpPr>
          <p:cNvPr id="20" name="TextBox 19"/>
          <p:cNvSpPr txBox="1"/>
          <p:nvPr/>
        </p:nvSpPr>
        <p:spPr>
          <a:xfrm>
            <a:off x="4389120" y="3584448"/>
            <a:ext cx="3291840" cy="457200"/>
          </a:xfrm>
          <a:prstGeom prst="rect">
            <a:avLst/>
          </a:prstGeom>
          <a:noFill/>
        </p:spPr>
        <p:txBody>
          <a:bodyPr wrap="square">
            <a:spAutoFit/>
          </a:bodyPr>
          <a:lstStyle/>
          <a:p>
            <a:pPr algn="l"/>
            <a:r>
              <a:rPr sz="1050" b="0" i="0">
                <a:solidFill>
                  <a:srgbClr val="FFFFFF"/>
                </a:solidFill>
              </a:rPr>
              <a:t>▶  Enter ₱ amount → e.g., ₱150,000.00</a:t>
            </a:r>
          </a:p>
        </p:txBody>
      </p:sp>
      <p:sp>
        <p:nvSpPr>
          <p:cNvPr id="21" name="TextBox 20"/>
          <p:cNvSpPr txBox="1"/>
          <p:nvPr/>
        </p:nvSpPr>
        <p:spPr>
          <a:xfrm>
            <a:off x="4389120" y="4096512"/>
            <a:ext cx="3291840" cy="457200"/>
          </a:xfrm>
          <a:prstGeom prst="rect">
            <a:avLst/>
          </a:prstGeom>
          <a:noFill/>
        </p:spPr>
        <p:txBody>
          <a:bodyPr wrap="square">
            <a:spAutoFit/>
          </a:bodyPr>
          <a:lstStyle/>
          <a:p>
            <a:pPr algn="l"/>
            <a:r>
              <a:rPr sz="1050" b="0" i="0">
                <a:solidFill>
                  <a:srgbClr val="FFFFFF"/>
                </a:solidFill>
              </a:rPr>
              <a:t>▶  Notes: e.g., 'Phase 1 tractor &amp; seedling fund'</a:t>
            </a:r>
          </a:p>
        </p:txBody>
      </p:sp>
      <p:sp>
        <p:nvSpPr>
          <p:cNvPr id="22" name="TextBox 21"/>
          <p:cNvSpPr txBox="1"/>
          <p:nvPr/>
        </p:nvSpPr>
        <p:spPr>
          <a:xfrm>
            <a:off x="4389120" y="4608576"/>
            <a:ext cx="3291840" cy="457200"/>
          </a:xfrm>
          <a:prstGeom prst="rect">
            <a:avLst/>
          </a:prstGeom>
          <a:noFill/>
        </p:spPr>
        <p:txBody>
          <a:bodyPr wrap="square">
            <a:spAutoFit/>
          </a:bodyPr>
          <a:lstStyle/>
          <a:p>
            <a:pPr algn="l"/>
            <a:r>
              <a:rPr sz="1050" b="0" i="0">
                <a:solidFill>
                  <a:srgbClr val="FFFFFF"/>
                </a:solidFill>
              </a:rPr>
              <a:t>▶  Tap 'Record Capital' → posted as ledger credit</a:t>
            </a:r>
          </a:p>
        </p:txBody>
      </p:sp>
      <p:sp>
        <p:nvSpPr>
          <p:cNvPr id="23" name="Rectangle 22"/>
          <p:cNvSpPr/>
          <p:nvPr/>
        </p:nvSpPr>
        <p:spPr>
          <a:xfrm>
            <a:off x="8046720" y="2011680"/>
            <a:ext cx="3657600" cy="3474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83880" y="2103120"/>
            <a:ext cx="3383280" cy="365760"/>
          </a:xfrm>
          <a:prstGeom prst="rect">
            <a:avLst/>
          </a:prstGeom>
          <a:noFill/>
        </p:spPr>
        <p:txBody>
          <a:bodyPr wrap="square">
            <a:spAutoFit/>
          </a:bodyPr>
          <a:lstStyle/>
          <a:p>
            <a:pPr algn="l"/>
            <a:r>
              <a:rPr sz="1300" b="1" i="0">
                <a:solidFill>
                  <a:srgbClr val="FFFFFF"/>
                </a:solidFill>
              </a:rPr>
              <a:t>3. Log Offtake Delivery</a:t>
            </a:r>
          </a:p>
        </p:txBody>
      </p:sp>
      <p:sp>
        <p:nvSpPr>
          <p:cNvPr id="25" name="TextBox 24"/>
          <p:cNvSpPr txBox="1"/>
          <p:nvPr/>
        </p:nvSpPr>
        <p:spPr>
          <a:xfrm>
            <a:off x="8229600" y="2560320"/>
            <a:ext cx="3291840" cy="457200"/>
          </a:xfrm>
          <a:prstGeom prst="rect">
            <a:avLst/>
          </a:prstGeom>
          <a:noFill/>
        </p:spPr>
        <p:txBody>
          <a:bodyPr wrap="square">
            <a:spAutoFit/>
          </a:bodyPr>
          <a:lstStyle/>
          <a:p>
            <a:pPr algn="l"/>
            <a:r>
              <a:rPr sz="1050" b="0" i="0">
                <a:solidFill>
                  <a:srgbClr val="FFFFFF"/>
                </a:solidFill>
              </a:rPr>
              <a:t>▶  When cassava hauled to mill, log delivered kilos</a:t>
            </a:r>
          </a:p>
        </p:txBody>
      </p:sp>
      <p:sp>
        <p:nvSpPr>
          <p:cNvPr id="26" name="TextBox 25"/>
          <p:cNvSpPr txBox="1"/>
          <p:nvPr/>
        </p:nvSpPr>
        <p:spPr>
          <a:xfrm>
            <a:off x="8229600" y="3072384"/>
            <a:ext cx="3291840" cy="457200"/>
          </a:xfrm>
          <a:prstGeom prst="rect">
            <a:avLst/>
          </a:prstGeom>
          <a:noFill/>
        </p:spPr>
        <p:txBody>
          <a:bodyPr wrap="square">
            <a:spAutoFit/>
          </a:bodyPr>
          <a:lstStyle/>
          <a:p>
            <a:pPr algn="l"/>
            <a:r>
              <a:rPr sz="1050" b="0" i="0">
                <a:solidFill>
                  <a:srgbClr val="FFFFFF"/>
                </a:solidFill>
              </a:rPr>
              <a:t>▶  System computes: 9,150 kg × ₱4.00 = ₱36,600</a:t>
            </a:r>
          </a:p>
        </p:txBody>
      </p:sp>
      <p:sp>
        <p:nvSpPr>
          <p:cNvPr id="27" name="TextBox 26"/>
          <p:cNvSpPr txBox="1"/>
          <p:nvPr/>
        </p:nvSpPr>
        <p:spPr>
          <a:xfrm>
            <a:off x="8229600" y="3584448"/>
            <a:ext cx="3291840" cy="457200"/>
          </a:xfrm>
          <a:prstGeom prst="rect">
            <a:avLst/>
          </a:prstGeom>
          <a:noFill/>
        </p:spPr>
        <p:txBody>
          <a:bodyPr wrap="square">
            <a:spAutoFit/>
          </a:bodyPr>
          <a:lstStyle/>
          <a:p>
            <a:pPr algn="l"/>
            <a:r>
              <a:rPr sz="1050" b="0" i="0">
                <a:solidFill>
                  <a:srgbClr val="FFFFFF"/>
                </a:solidFill>
              </a:rPr>
              <a:t>▶  Receivable posted to investor ledger</a:t>
            </a:r>
          </a:p>
        </p:txBody>
      </p:sp>
      <p:sp>
        <p:nvSpPr>
          <p:cNvPr id="28" name="TextBox 27"/>
          <p:cNvSpPr txBox="1"/>
          <p:nvPr/>
        </p:nvSpPr>
        <p:spPr>
          <a:xfrm>
            <a:off x="8229600" y="4096512"/>
            <a:ext cx="3291840" cy="457200"/>
          </a:xfrm>
          <a:prstGeom prst="rect">
            <a:avLst/>
          </a:prstGeom>
          <a:noFill/>
        </p:spPr>
        <p:txBody>
          <a:bodyPr wrap="square">
            <a:spAutoFit/>
          </a:bodyPr>
          <a:lstStyle/>
          <a:p>
            <a:pPr algn="l"/>
            <a:r>
              <a:rPr sz="1050" b="0" i="0">
                <a:solidFill>
                  <a:srgbClr val="FFFFFF"/>
                </a:solidFill>
              </a:rPr>
              <a:t>▶  Running balance auto-updates</a:t>
            </a:r>
          </a:p>
        </p:txBody>
      </p:sp>
      <p:sp>
        <p:nvSpPr>
          <p:cNvPr id="29" name="Rectangle 28"/>
          <p:cNvSpPr/>
          <p:nvPr/>
        </p:nvSpPr>
        <p:spPr>
          <a:xfrm>
            <a:off x="365760" y="5623560"/>
            <a:ext cx="11430000" cy="9144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5715000"/>
            <a:ext cx="3657600" cy="320040"/>
          </a:xfrm>
          <a:prstGeom prst="rect">
            <a:avLst/>
          </a:prstGeom>
          <a:noFill/>
        </p:spPr>
        <p:txBody>
          <a:bodyPr wrap="square">
            <a:spAutoFit/>
          </a:bodyPr>
          <a:lstStyle/>
          <a:p>
            <a:pPr algn="l"/>
            <a:r>
              <a:rPr sz="1200" b="1" i="0">
                <a:solidFill>
                  <a:srgbClr val="F59E0B"/>
                </a:solidFill>
              </a:rPr>
              <a:t>Ledger Running Balance Monitor:</a:t>
            </a:r>
          </a:p>
        </p:txBody>
      </p:sp>
      <p:sp>
        <p:nvSpPr>
          <p:cNvPr id="31" name="TextBox 30"/>
          <p:cNvSpPr txBox="1"/>
          <p:nvPr/>
        </p:nvSpPr>
        <p:spPr>
          <a:xfrm>
            <a:off x="4297680" y="5669280"/>
            <a:ext cx="7315200" cy="777240"/>
          </a:xfrm>
          <a:prstGeom prst="rect">
            <a:avLst/>
          </a:prstGeom>
          <a:noFill/>
        </p:spPr>
        <p:txBody>
          <a:bodyPr wrap="square">
            <a:spAutoFit/>
          </a:bodyPr>
          <a:lstStyle/>
          <a:p>
            <a:pPr algn="l"/>
            <a:r>
              <a:rPr sz="1150" b="0" i="0">
                <a:solidFill>
                  <a:srgbClr val="FFFFFF"/>
                </a:solidFill>
              </a:rPr>
              <a:t>Total Capital Invested  −  Total Offtake Value Delivered  =  Outstanding Balance
Example:  ₱150,000 Capital  −  ₱36,600 Delivered  =  ₱113,400 Remaining Advance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640080"/>
          </a:xfrm>
          <a:prstGeom prst="rect">
            <a:avLst/>
          </a:prstGeom>
          <a:noFill/>
        </p:spPr>
        <p:txBody>
          <a:bodyPr wrap="square">
            <a:spAutoFit/>
          </a:bodyPr>
          <a:lstStyle/>
          <a:p>
            <a:pPr algn="l"/>
            <a:r>
              <a:rPr sz="2800" b="1" i="0">
                <a:solidFill>
                  <a:srgbClr val="FFFFFF"/>
                </a:solidFill>
              </a:rPr>
              <a:t>Module 8 — Farm Labor &amp; Payroll</a:t>
            </a:r>
          </a:p>
        </p:txBody>
      </p:sp>
      <p:sp>
        <p:nvSpPr>
          <p:cNvPr id="5" name="TextBox 4"/>
          <p:cNvSpPr txBox="1"/>
          <p:nvPr/>
        </p:nvSpPr>
        <p:spPr>
          <a:xfrm>
            <a:off x="457200" y="685800"/>
            <a:ext cx="11274552" cy="457200"/>
          </a:xfrm>
          <a:prstGeom prst="rect">
            <a:avLst/>
          </a:prstGeom>
          <a:noFill/>
        </p:spPr>
        <p:txBody>
          <a:bodyPr wrap="square">
            <a:spAutoFit/>
          </a:bodyPr>
          <a:lstStyle/>
          <a:p>
            <a:pPr algn="l"/>
            <a:r>
              <a:rPr sz="1300" b="0" i="0">
                <a:solidFill>
                  <a:srgbClr val="A7F3D0"/>
                </a:solidFill>
              </a:rPr>
              <a:t>Tracks every agricultural worker, task, and payroll disbursement</a:t>
            </a:r>
          </a:p>
        </p:txBody>
      </p:sp>
      <p:sp>
        <p:nvSpPr>
          <p:cNvPr id="6" name="Rectangle 5"/>
          <p:cNvSpPr/>
          <p:nvPr/>
        </p:nvSpPr>
        <p:spPr>
          <a:xfrm>
            <a:off x="0" y="6537960"/>
            <a:ext cx="12188952" cy="32004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65392"/>
            <a:ext cx="7315200" cy="274320"/>
          </a:xfrm>
          <a:prstGeom prst="rect">
            <a:avLst/>
          </a:prstGeom>
          <a:noFill/>
        </p:spPr>
        <p:txBody>
          <a:bodyPr wrap="square">
            <a:spAutoFit/>
          </a:bodyPr>
          <a:lstStyle/>
          <a:p>
            <a:pPr algn="l"/>
            <a:r>
              <a:rPr sz="800" b="0" i="0">
                <a:solidFill>
                  <a:srgbClr val="9CA3AF"/>
                </a:solidFill>
              </a:rPr>
              <a:t>JetFarm Agribusiness Outgrower Platform  |  Confidential</a:t>
            </a:r>
          </a:p>
        </p:txBody>
      </p:sp>
      <p:sp>
        <p:nvSpPr>
          <p:cNvPr id="8" name="TextBox 7"/>
          <p:cNvSpPr txBox="1"/>
          <p:nvPr/>
        </p:nvSpPr>
        <p:spPr>
          <a:xfrm>
            <a:off x="10360152" y="6565392"/>
            <a:ext cx="1645920" cy="274320"/>
          </a:xfrm>
          <a:prstGeom prst="rect">
            <a:avLst/>
          </a:prstGeom>
          <a:noFill/>
        </p:spPr>
        <p:txBody>
          <a:bodyPr wrap="square">
            <a:spAutoFit/>
          </a:bodyPr>
          <a:lstStyle/>
          <a:p>
            <a:pPr algn="r"/>
            <a:r>
              <a:rPr sz="800" b="0" i="0">
                <a:solidFill>
                  <a:srgbClr val="9CA3AF"/>
                </a:solidFill>
              </a:rPr>
              <a:t>Slide 11 / 14</a:t>
            </a:r>
          </a:p>
        </p:txBody>
      </p:sp>
      <p:sp>
        <p:nvSpPr>
          <p:cNvPr id="9" name="TextBox 8"/>
          <p:cNvSpPr txBox="1"/>
          <p:nvPr/>
        </p:nvSpPr>
        <p:spPr>
          <a:xfrm>
            <a:off x="457200" y="1371600"/>
            <a:ext cx="11247120" cy="457200"/>
          </a:xfrm>
          <a:prstGeom prst="rect">
            <a:avLst/>
          </a:prstGeom>
          <a:noFill/>
        </p:spPr>
        <p:txBody>
          <a:bodyPr wrap="square">
            <a:spAutoFit/>
          </a:bodyPr>
          <a:lstStyle/>
          <a:p>
            <a:pPr algn="l"/>
            <a:r>
              <a:rPr sz="1200" b="0" i="0">
                <a:solidFill>
                  <a:srgbClr val="4B5563"/>
                </a:solidFill>
              </a:rPr>
              <a:t>👷  Purpose: Logs daily tasks (plowing, weeding, harvesting), piece-rate outputs, daily rates, and processes farm worker payroll against crop cycle costs.</a:t>
            </a:r>
          </a:p>
        </p:txBody>
      </p:sp>
      <p:sp>
        <p:nvSpPr>
          <p:cNvPr id="10" name="TextBox 9"/>
          <p:cNvSpPr txBox="1"/>
          <p:nvPr/>
        </p:nvSpPr>
        <p:spPr>
          <a:xfrm>
            <a:off x="365760" y="1965960"/>
            <a:ext cx="5486400" cy="347472"/>
          </a:xfrm>
          <a:prstGeom prst="rect">
            <a:avLst/>
          </a:prstGeom>
          <a:noFill/>
        </p:spPr>
        <p:txBody>
          <a:bodyPr wrap="square">
            <a:spAutoFit/>
          </a:bodyPr>
          <a:lstStyle/>
          <a:p>
            <a:pPr algn="l"/>
            <a:r>
              <a:rPr sz="1300" b="1" i="0">
                <a:solidFill>
                  <a:srgbClr val="064E3B"/>
                </a:solidFill>
              </a:rPr>
              <a:t>Register a Farm Worker</a:t>
            </a:r>
          </a:p>
        </p:txBody>
      </p:sp>
      <p:sp>
        <p:nvSpPr>
          <p:cNvPr id="11" name="Rectangle 10"/>
          <p:cNvSpPr/>
          <p:nvPr/>
        </p:nvSpPr>
        <p:spPr>
          <a:xfrm>
            <a:off x="365760" y="237744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51460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87168"/>
            <a:ext cx="411480" cy="411480"/>
          </a:xfrm>
          <a:prstGeom prst="rect">
            <a:avLst/>
          </a:prstGeom>
          <a:noFill/>
        </p:spPr>
        <p:txBody>
          <a:bodyPr wrap="square">
            <a:spAutoFit/>
          </a:bodyPr>
          <a:lstStyle/>
          <a:p>
            <a:pPr algn="ctr"/>
            <a:r>
              <a:rPr sz="1400" b="1" i="0">
                <a:solidFill>
                  <a:srgbClr val="FFFFFF"/>
                </a:solidFill>
              </a:rPr>
              <a:t>1</a:t>
            </a:r>
          </a:p>
        </p:txBody>
      </p:sp>
      <p:sp>
        <p:nvSpPr>
          <p:cNvPr id="14" name="TextBox 13"/>
          <p:cNvSpPr txBox="1"/>
          <p:nvPr/>
        </p:nvSpPr>
        <p:spPr>
          <a:xfrm>
            <a:off x="960120" y="2450592"/>
            <a:ext cx="4800600" cy="274320"/>
          </a:xfrm>
          <a:prstGeom prst="rect">
            <a:avLst/>
          </a:prstGeom>
          <a:noFill/>
        </p:spPr>
        <p:txBody>
          <a:bodyPr wrap="square">
            <a:spAutoFit/>
          </a:bodyPr>
          <a:lstStyle/>
          <a:p>
            <a:pPr algn="l"/>
            <a:r>
              <a:rPr sz="1100" b="1" i="0">
                <a:solidFill>
                  <a:srgbClr val="064E3B"/>
                </a:solidFill>
              </a:rPr>
              <a:t>Tap '+ Register Worker'</a:t>
            </a:r>
          </a:p>
        </p:txBody>
      </p:sp>
      <p:sp>
        <p:nvSpPr>
          <p:cNvPr id="15" name="TextBox 14"/>
          <p:cNvSpPr txBox="1"/>
          <p:nvPr/>
        </p:nvSpPr>
        <p:spPr>
          <a:xfrm>
            <a:off x="960120" y="2724912"/>
            <a:ext cx="4800600" cy="384048"/>
          </a:xfrm>
          <a:prstGeom prst="rect">
            <a:avLst/>
          </a:prstGeom>
          <a:noFill/>
        </p:spPr>
        <p:txBody>
          <a:bodyPr wrap="square">
            <a:spAutoFit/>
          </a:bodyPr>
          <a:lstStyle/>
          <a:p>
            <a:pPr algn="l"/>
            <a:r>
              <a:rPr sz="950" b="0" i="0">
                <a:solidFill>
                  <a:srgbClr val="4B5563"/>
                </a:solidFill>
              </a:rPr>
              <a:t>Open the worker registration form</a:t>
            </a:r>
          </a:p>
        </p:txBody>
      </p:sp>
      <p:sp>
        <p:nvSpPr>
          <p:cNvPr id="16" name="Rectangle 15"/>
          <p:cNvSpPr/>
          <p:nvPr/>
        </p:nvSpPr>
        <p:spPr>
          <a:xfrm>
            <a:off x="365760" y="297180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10896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081528"/>
            <a:ext cx="411480" cy="411480"/>
          </a:xfrm>
          <a:prstGeom prst="rect">
            <a:avLst/>
          </a:prstGeom>
          <a:noFill/>
        </p:spPr>
        <p:txBody>
          <a:bodyPr wrap="square">
            <a:spAutoFit/>
          </a:bodyPr>
          <a:lstStyle/>
          <a:p>
            <a:pPr algn="ctr"/>
            <a:r>
              <a:rPr sz="1400" b="1" i="0">
                <a:solidFill>
                  <a:srgbClr val="FFFFFF"/>
                </a:solidFill>
              </a:rPr>
              <a:t>2</a:t>
            </a:r>
          </a:p>
        </p:txBody>
      </p:sp>
      <p:sp>
        <p:nvSpPr>
          <p:cNvPr id="19" name="TextBox 18"/>
          <p:cNvSpPr txBox="1"/>
          <p:nvPr/>
        </p:nvSpPr>
        <p:spPr>
          <a:xfrm>
            <a:off x="960120" y="3044952"/>
            <a:ext cx="4800600" cy="274320"/>
          </a:xfrm>
          <a:prstGeom prst="rect">
            <a:avLst/>
          </a:prstGeom>
          <a:noFill/>
        </p:spPr>
        <p:txBody>
          <a:bodyPr wrap="square">
            <a:spAutoFit/>
          </a:bodyPr>
          <a:lstStyle/>
          <a:p>
            <a:pPr algn="l"/>
            <a:r>
              <a:rPr sz="1100" b="1" i="0">
                <a:solidFill>
                  <a:srgbClr val="064E3B"/>
                </a:solidFill>
              </a:rPr>
              <a:t>Enter Name &amp; Phone</a:t>
            </a:r>
          </a:p>
        </p:txBody>
      </p:sp>
      <p:sp>
        <p:nvSpPr>
          <p:cNvPr id="20" name="TextBox 19"/>
          <p:cNvSpPr txBox="1"/>
          <p:nvPr/>
        </p:nvSpPr>
        <p:spPr>
          <a:xfrm>
            <a:off x="960120" y="3319272"/>
            <a:ext cx="4800600" cy="384048"/>
          </a:xfrm>
          <a:prstGeom prst="rect">
            <a:avLst/>
          </a:prstGeom>
          <a:noFill/>
        </p:spPr>
        <p:txBody>
          <a:bodyPr wrap="square">
            <a:spAutoFit/>
          </a:bodyPr>
          <a:lstStyle/>
          <a:p>
            <a:pPr algn="l"/>
            <a:r>
              <a:rPr sz="950" b="0" i="0">
                <a:solidFill>
                  <a:srgbClr val="4B5563"/>
                </a:solidFill>
              </a:rPr>
              <a:t>Full name and Philippine mobile number</a:t>
            </a:r>
          </a:p>
        </p:txBody>
      </p:sp>
      <p:sp>
        <p:nvSpPr>
          <p:cNvPr id="21" name="Rectangle 20"/>
          <p:cNvSpPr/>
          <p:nvPr/>
        </p:nvSpPr>
        <p:spPr>
          <a:xfrm>
            <a:off x="365760" y="356616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70332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3675888"/>
            <a:ext cx="411480" cy="411480"/>
          </a:xfrm>
          <a:prstGeom prst="rect">
            <a:avLst/>
          </a:prstGeom>
          <a:noFill/>
        </p:spPr>
        <p:txBody>
          <a:bodyPr wrap="square">
            <a:spAutoFit/>
          </a:bodyPr>
          <a:lstStyle/>
          <a:p>
            <a:pPr algn="ctr"/>
            <a:r>
              <a:rPr sz="1400" b="1" i="0">
                <a:solidFill>
                  <a:srgbClr val="FFFFFF"/>
                </a:solidFill>
              </a:rPr>
              <a:t>3</a:t>
            </a:r>
          </a:p>
        </p:txBody>
      </p:sp>
      <p:sp>
        <p:nvSpPr>
          <p:cNvPr id="24" name="TextBox 23"/>
          <p:cNvSpPr txBox="1"/>
          <p:nvPr/>
        </p:nvSpPr>
        <p:spPr>
          <a:xfrm>
            <a:off x="960120" y="3639312"/>
            <a:ext cx="4800600" cy="274320"/>
          </a:xfrm>
          <a:prstGeom prst="rect">
            <a:avLst/>
          </a:prstGeom>
          <a:noFill/>
        </p:spPr>
        <p:txBody>
          <a:bodyPr wrap="square">
            <a:spAutoFit/>
          </a:bodyPr>
          <a:lstStyle/>
          <a:p>
            <a:pPr algn="l"/>
            <a:r>
              <a:rPr sz="1100" b="1" i="0">
                <a:solidFill>
                  <a:srgbClr val="064E3B"/>
                </a:solidFill>
              </a:rPr>
              <a:t>Select Specialization</a:t>
            </a:r>
          </a:p>
        </p:txBody>
      </p:sp>
      <p:sp>
        <p:nvSpPr>
          <p:cNvPr id="25" name="TextBox 24"/>
          <p:cNvSpPr txBox="1"/>
          <p:nvPr/>
        </p:nvSpPr>
        <p:spPr>
          <a:xfrm>
            <a:off x="960120" y="3913632"/>
            <a:ext cx="4800600" cy="384048"/>
          </a:xfrm>
          <a:prstGeom prst="rect">
            <a:avLst/>
          </a:prstGeom>
          <a:noFill/>
        </p:spPr>
        <p:txBody>
          <a:bodyPr wrap="square">
            <a:spAutoFit/>
          </a:bodyPr>
          <a:lstStyle/>
          <a:p>
            <a:pPr algn="l"/>
            <a:r>
              <a:rPr sz="950" b="0" i="0">
                <a:solidFill>
                  <a:srgbClr val="4B5563"/>
                </a:solidFill>
              </a:rPr>
              <a:t>Harvester / Tractor Operator / Sprayer / General Labor</a:t>
            </a:r>
          </a:p>
        </p:txBody>
      </p:sp>
      <p:sp>
        <p:nvSpPr>
          <p:cNvPr id="26" name="Rectangle 25"/>
          <p:cNvSpPr/>
          <p:nvPr/>
        </p:nvSpPr>
        <p:spPr>
          <a:xfrm>
            <a:off x="365760" y="416052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429768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4270248"/>
            <a:ext cx="411480" cy="411480"/>
          </a:xfrm>
          <a:prstGeom prst="rect">
            <a:avLst/>
          </a:prstGeom>
          <a:noFill/>
        </p:spPr>
        <p:txBody>
          <a:bodyPr wrap="square">
            <a:spAutoFit/>
          </a:bodyPr>
          <a:lstStyle/>
          <a:p>
            <a:pPr algn="ctr"/>
            <a:r>
              <a:rPr sz="1400" b="1" i="0">
                <a:solidFill>
                  <a:srgbClr val="FFFFFF"/>
                </a:solidFill>
              </a:rPr>
              <a:t>4</a:t>
            </a:r>
          </a:p>
        </p:txBody>
      </p:sp>
      <p:sp>
        <p:nvSpPr>
          <p:cNvPr id="29" name="TextBox 28"/>
          <p:cNvSpPr txBox="1"/>
          <p:nvPr/>
        </p:nvSpPr>
        <p:spPr>
          <a:xfrm>
            <a:off x="960120" y="4233672"/>
            <a:ext cx="4800600" cy="274320"/>
          </a:xfrm>
          <a:prstGeom prst="rect">
            <a:avLst/>
          </a:prstGeom>
          <a:noFill/>
        </p:spPr>
        <p:txBody>
          <a:bodyPr wrap="square">
            <a:spAutoFit/>
          </a:bodyPr>
          <a:lstStyle/>
          <a:p>
            <a:pPr algn="l"/>
            <a:r>
              <a:rPr sz="1100" b="1" i="0">
                <a:solidFill>
                  <a:srgbClr val="064E3B"/>
                </a:solidFill>
              </a:rPr>
              <a:t>Set Daily Rate</a:t>
            </a:r>
          </a:p>
        </p:txBody>
      </p:sp>
      <p:sp>
        <p:nvSpPr>
          <p:cNvPr id="30" name="TextBox 29"/>
          <p:cNvSpPr txBox="1"/>
          <p:nvPr/>
        </p:nvSpPr>
        <p:spPr>
          <a:xfrm>
            <a:off x="960120" y="4507992"/>
            <a:ext cx="4800600" cy="384048"/>
          </a:xfrm>
          <a:prstGeom prst="rect">
            <a:avLst/>
          </a:prstGeom>
          <a:noFill/>
        </p:spPr>
        <p:txBody>
          <a:bodyPr wrap="square">
            <a:spAutoFit/>
          </a:bodyPr>
          <a:lstStyle/>
          <a:p>
            <a:pPr algn="l"/>
            <a:r>
              <a:rPr sz="950" b="0" i="0">
                <a:solidFill>
                  <a:srgbClr val="4B5563"/>
                </a:solidFill>
              </a:rPr>
              <a:t>e.g., ₱450–₱600/day standard farm rate</a:t>
            </a:r>
          </a:p>
        </p:txBody>
      </p:sp>
      <p:sp>
        <p:nvSpPr>
          <p:cNvPr id="31" name="Rectangle 30"/>
          <p:cNvSpPr/>
          <p:nvPr/>
        </p:nvSpPr>
        <p:spPr>
          <a:xfrm>
            <a:off x="365760" y="475488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489204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864608"/>
            <a:ext cx="411480" cy="411480"/>
          </a:xfrm>
          <a:prstGeom prst="rect">
            <a:avLst/>
          </a:prstGeom>
          <a:noFill/>
        </p:spPr>
        <p:txBody>
          <a:bodyPr wrap="square">
            <a:spAutoFit/>
          </a:bodyPr>
          <a:lstStyle/>
          <a:p>
            <a:pPr algn="ctr"/>
            <a:r>
              <a:rPr sz="1400" b="1" i="0">
                <a:solidFill>
                  <a:srgbClr val="FFFFFF"/>
                </a:solidFill>
              </a:rPr>
              <a:t>5</a:t>
            </a:r>
          </a:p>
        </p:txBody>
      </p:sp>
      <p:sp>
        <p:nvSpPr>
          <p:cNvPr id="34" name="TextBox 33"/>
          <p:cNvSpPr txBox="1"/>
          <p:nvPr/>
        </p:nvSpPr>
        <p:spPr>
          <a:xfrm>
            <a:off x="960120" y="4828032"/>
            <a:ext cx="4800600" cy="274320"/>
          </a:xfrm>
          <a:prstGeom prst="rect">
            <a:avLst/>
          </a:prstGeom>
          <a:noFill/>
        </p:spPr>
        <p:txBody>
          <a:bodyPr wrap="square">
            <a:spAutoFit/>
          </a:bodyPr>
          <a:lstStyle/>
          <a:p>
            <a:pPr algn="l"/>
            <a:r>
              <a:rPr sz="1100" b="1" i="0">
                <a:solidFill>
                  <a:srgbClr val="064E3B"/>
                </a:solidFill>
              </a:rPr>
              <a:t>Tap 'Save Worker'</a:t>
            </a:r>
          </a:p>
        </p:txBody>
      </p:sp>
      <p:sp>
        <p:nvSpPr>
          <p:cNvPr id="35" name="TextBox 34"/>
          <p:cNvSpPr txBox="1"/>
          <p:nvPr/>
        </p:nvSpPr>
        <p:spPr>
          <a:xfrm>
            <a:off x="960120" y="5102352"/>
            <a:ext cx="4800600" cy="384048"/>
          </a:xfrm>
          <a:prstGeom prst="rect">
            <a:avLst/>
          </a:prstGeom>
          <a:noFill/>
        </p:spPr>
        <p:txBody>
          <a:bodyPr wrap="square">
            <a:spAutoFit/>
          </a:bodyPr>
          <a:lstStyle/>
          <a:p>
            <a:pPr algn="l"/>
            <a:r>
              <a:rPr sz="950" b="0" i="0">
                <a:solidFill>
                  <a:srgbClr val="4B5563"/>
                </a:solidFill>
              </a:rPr>
              <a:t>Worker added to the active roster</a:t>
            </a:r>
          </a:p>
        </p:txBody>
      </p:sp>
      <p:sp>
        <p:nvSpPr>
          <p:cNvPr id="36" name="TextBox 35"/>
          <p:cNvSpPr txBox="1"/>
          <p:nvPr/>
        </p:nvSpPr>
        <p:spPr>
          <a:xfrm>
            <a:off x="6217920" y="1965960"/>
            <a:ext cx="5486400" cy="347472"/>
          </a:xfrm>
          <a:prstGeom prst="rect">
            <a:avLst/>
          </a:prstGeom>
          <a:noFill/>
        </p:spPr>
        <p:txBody>
          <a:bodyPr wrap="square">
            <a:spAutoFit/>
          </a:bodyPr>
          <a:lstStyle/>
          <a:p>
            <a:pPr algn="l"/>
            <a:r>
              <a:rPr sz="1300" b="1" i="0">
                <a:solidFill>
                  <a:srgbClr val="1E3A8A"/>
                </a:solidFill>
              </a:rPr>
              <a:t>Log a Daily Labor Task</a:t>
            </a:r>
          </a:p>
        </p:txBody>
      </p:sp>
      <p:sp>
        <p:nvSpPr>
          <p:cNvPr id="37" name="Rectangle 36"/>
          <p:cNvSpPr/>
          <p:nvPr/>
        </p:nvSpPr>
        <p:spPr>
          <a:xfrm>
            <a:off x="6217920" y="237744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309360" y="2514600"/>
            <a:ext cx="41148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09360" y="2487168"/>
            <a:ext cx="411480" cy="411480"/>
          </a:xfrm>
          <a:prstGeom prst="rect">
            <a:avLst/>
          </a:prstGeom>
          <a:noFill/>
        </p:spPr>
        <p:txBody>
          <a:bodyPr wrap="square">
            <a:spAutoFit/>
          </a:bodyPr>
          <a:lstStyle/>
          <a:p>
            <a:pPr algn="ctr"/>
            <a:r>
              <a:rPr sz="1400" b="1" i="0">
                <a:solidFill>
                  <a:srgbClr val="FFFFFF"/>
                </a:solidFill>
              </a:rPr>
              <a:t>1</a:t>
            </a:r>
          </a:p>
        </p:txBody>
      </p:sp>
      <p:sp>
        <p:nvSpPr>
          <p:cNvPr id="40" name="TextBox 39"/>
          <p:cNvSpPr txBox="1"/>
          <p:nvPr/>
        </p:nvSpPr>
        <p:spPr>
          <a:xfrm>
            <a:off x="6812280" y="2450592"/>
            <a:ext cx="4800600" cy="274320"/>
          </a:xfrm>
          <a:prstGeom prst="rect">
            <a:avLst/>
          </a:prstGeom>
          <a:noFill/>
        </p:spPr>
        <p:txBody>
          <a:bodyPr wrap="square">
            <a:spAutoFit/>
          </a:bodyPr>
          <a:lstStyle/>
          <a:p>
            <a:pPr algn="l"/>
            <a:r>
              <a:rPr sz="1100" b="1" i="0">
                <a:solidFill>
                  <a:srgbClr val="064E3B"/>
                </a:solidFill>
              </a:rPr>
              <a:t>Tap '+ Log Task'</a:t>
            </a:r>
          </a:p>
        </p:txBody>
      </p:sp>
      <p:sp>
        <p:nvSpPr>
          <p:cNvPr id="41" name="TextBox 40"/>
          <p:cNvSpPr txBox="1"/>
          <p:nvPr/>
        </p:nvSpPr>
        <p:spPr>
          <a:xfrm>
            <a:off x="6812280" y="2724912"/>
            <a:ext cx="4800600" cy="384048"/>
          </a:xfrm>
          <a:prstGeom prst="rect">
            <a:avLst/>
          </a:prstGeom>
          <a:noFill/>
        </p:spPr>
        <p:txBody>
          <a:bodyPr wrap="square">
            <a:spAutoFit/>
          </a:bodyPr>
          <a:lstStyle/>
          <a:p>
            <a:pPr algn="l"/>
            <a:r>
              <a:rPr sz="950" b="0" i="0">
                <a:solidFill>
                  <a:srgbClr val="4B5563"/>
                </a:solidFill>
              </a:rPr>
              <a:t>Open the labor log entry form</a:t>
            </a:r>
          </a:p>
        </p:txBody>
      </p:sp>
      <p:sp>
        <p:nvSpPr>
          <p:cNvPr id="42" name="Rectangle 41"/>
          <p:cNvSpPr/>
          <p:nvPr/>
        </p:nvSpPr>
        <p:spPr>
          <a:xfrm>
            <a:off x="6217920" y="297180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309360" y="3108960"/>
            <a:ext cx="41148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09360" y="3081528"/>
            <a:ext cx="411480" cy="411480"/>
          </a:xfrm>
          <a:prstGeom prst="rect">
            <a:avLst/>
          </a:prstGeom>
          <a:noFill/>
        </p:spPr>
        <p:txBody>
          <a:bodyPr wrap="square">
            <a:spAutoFit/>
          </a:bodyPr>
          <a:lstStyle/>
          <a:p>
            <a:pPr algn="ctr"/>
            <a:r>
              <a:rPr sz="1400" b="1" i="0">
                <a:solidFill>
                  <a:srgbClr val="FFFFFF"/>
                </a:solidFill>
              </a:rPr>
              <a:t>2</a:t>
            </a:r>
          </a:p>
        </p:txBody>
      </p:sp>
      <p:sp>
        <p:nvSpPr>
          <p:cNvPr id="45" name="TextBox 44"/>
          <p:cNvSpPr txBox="1"/>
          <p:nvPr/>
        </p:nvSpPr>
        <p:spPr>
          <a:xfrm>
            <a:off x="6812280" y="3044952"/>
            <a:ext cx="4800600" cy="274320"/>
          </a:xfrm>
          <a:prstGeom prst="rect">
            <a:avLst/>
          </a:prstGeom>
          <a:noFill/>
        </p:spPr>
        <p:txBody>
          <a:bodyPr wrap="square">
            <a:spAutoFit/>
          </a:bodyPr>
          <a:lstStyle/>
          <a:p>
            <a:pPr algn="l"/>
            <a:r>
              <a:rPr sz="1100" b="1" i="0">
                <a:solidFill>
                  <a:srgbClr val="064E3B"/>
                </a:solidFill>
              </a:rPr>
              <a:t>Select Worker &amp; Cycle</a:t>
            </a:r>
          </a:p>
        </p:txBody>
      </p:sp>
      <p:sp>
        <p:nvSpPr>
          <p:cNvPr id="46" name="TextBox 45"/>
          <p:cNvSpPr txBox="1"/>
          <p:nvPr/>
        </p:nvSpPr>
        <p:spPr>
          <a:xfrm>
            <a:off x="6812280" y="3319272"/>
            <a:ext cx="4800600" cy="384048"/>
          </a:xfrm>
          <a:prstGeom prst="rect">
            <a:avLst/>
          </a:prstGeom>
          <a:noFill/>
        </p:spPr>
        <p:txBody>
          <a:bodyPr wrap="square">
            <a:spAutoFit/>
          </a:bodyPr>
          <a:lstStyle/>
          <a:p>
            <a:pPr algn="l"/>
            <a:r>
              <a:rPr sz="950" b="0" i="0">
                <a:solidFill>
                  <a:srgbClr val="4B5563"/>
                </a:solidFill>
              </a:rPr>
              <a:t>Link task to worker and active crop cycle</a:t>
            </a:r>
          </a:p>
        </p:txBody>
      </p:sp>
      <p:sp>
        <p:nvSpPr>
          <p:cNvPr id="47" name="Rectangle 46"/>
          <p:cNvSpPr/>
          <p:nvPr/>
        </p:nvSpPr>
        <p:spPr>
          <a:xfrm>
            <a:off x="6217920" y="356616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309360" y="3703320"/>
            <a:ext cx="41148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09360" y="3675888"/>
            <a:ext cx="411480" cy="411480"/>
          </a:xfrm>
          <a:prstGeom prst="rect">
            <a:avLst/>
          </a:prstGeom>
          <a:noFill/>
        </p:spPr>
        <p:txBody>
          <a:bodyPr wrap="square">
            <a:spAutoFit/>
          </a:bodyPr>
          <a:lstStyle/>
          <a:p>
            <a:pPr algn="ctr"/>
            <a:r>
              <a:rPr sz="1400" b="1" i="0">
                <a:solidFill>
                  <a:srgbClr val="FFFFFF"/>
                </a:solidFill>
              </a:rPr>
              <a:t>3</a:t>
            </a:r>
          </a:p>
        </p:txBody>
      </p:sp>
      <p:sp>
        <p:nvSpPr>
          <p:cNvPr id="50" name="TextBox 49"/>
          <p:cNvSpPr txBox="1"/>
          <p:nvPr/>
        </p:nvSpPr>
        <p:spPr>
          <a:xfrm>
            <a:off x="6812280" y="3639312"/>
            <a:ext cx="4800600" cy="274320"/>
          </a:xfrm>
          <a:prstGeom prst="rect">
            <a:avLst/>
          </a:prstGeom>
          <a:noFill/>
        </p:spPr>
        <p:txBody>
          <a:bodyPr wrap="square">
            <a:spAutoFit/>
          </a:bodyPr>
          <a:lstStyle/>
          <a:p>
            <a:pPr algn="l"/>
            <a:r>
              <a:rPr sz="1100" b="1" i="0">
                <a:solidFill>
                  <a:srgbClr val="064E3B"/>
                </a:solidFill>
              </a:rPr>
              <a:t>Choose Task Category</a:t>
            </a:r>
          </a:p>
        </p:txBody>
      </p:sp>
      <p:sp>
        <p:nvSpPr>
          <p:cNvPr id="51" name="TextBox 50"/>
          <p:cNvSpPr txBox="1"/>
          <p:nvPr/>
        </p:nvSpPr>
        <p:spPr>
          <a:xfrm>
            <a:off x="6812280" y="3913632"/>
            <a:ext cx="4800600" cy="384048"/>
          </a:xfrm>
          <a:prstGeom prst="rect">
            <a:avLst/>
          </a:prstGeom>
          <a:noFill/>
        </p:spPr>
        <p:txBody>
          <a:bodyPr wrap="square">
            <a:spAutoFit/>
          </a:bodyPr>
          <a:lstStyle/>
          <a:p>
            <a:pPr algn="l"/>
            <a:r>
              <a:rPr sz="950" b="0" i="0">
                <a:solidFill>
                  <a:srgbClr val="4B5563"/>
                </a:solidFill>
              </a:rPr>
              <a:t>Harvesting / Plowing / Weeding / Fertilization</a:t>
            </a:r>
          </a:p>
        </p:txBody>
      </p:sp>
      <p:sp>
        <p:nvSpPr>
          <p:cNvPr id="52" name="Rectangle 51"/>
          <p:cNvSpPr/>
          <p:nvPr/>
        </p:nvSpPr>
        <p:spPr>
          <a:xfrm>
            <a:off x="6217920" y="416052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09360" y="4297680"/>
            <a:ext cx="41148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09360" y="4270248"/>
            <a:ext cx="411480" cy="411480"/>
          </a:xfrm>
          <a:prstGeom prst="rect">
            <a:avLst/>
          </a:prstGeom>
          <a:noFill/>
        </p:spPr>
        <p:txBody>
          <a:bodyPr wrap="square">
            <a:spAutoFit/>
          </a:bodyPr>
          <a:lstStyle/>
          <a:p>
            <a:pPr algn="ctr"/>
            <a:r>
              <a:rPr sz="1400" b="1" i="0">
                <a:solidFill>
                  <a:srgbClr val="FFFFFF"/>
                </a:solidFill>
              </a:rPr>
              <a:t>4</a:t>
            </a:r>
          </a:p>
        </p:txBody>
      </p:sp>
      <p:sp>
        <p:nvSpPr>
          <p:cNvPr id="55" name="TextBox 54"/>
          <p:cNvSpPr txBox="1"/>
          <p:nvPr/>
        </p:nvSpPr>
        <p:spPr>
          <a:xfrm>
            <a:off x="6812280" y="4233672"/>
            <a:ext cx="4800600" cy="274320"/>
          </a:xfrm>
          <a:prstGeom prst="rect">
            <a:avLst/>
          </a:prstGeom>
          <a:noFill/>
        </p:spPr>
        <p:txBody>
          <a:bodyPr wrap="square">
            <a:spAutoFit/>
          </a:bodyPr>
          <a:lstStyle/>
          <a:p>
            <a:pPr algn="l"/>
            <a:r>
              <a:rPr sz="1100" b="1" i="0">
                <a:solidFill>
                  <a:srgbClr val="064E3B"/>
                </a:solidFill>
              </a:rPr>
              <a:t>Select Rate Type</a:t>
            </a:r>
          </a:p>
        </p:txBody>
      </p:sp>
      <p:sp>
        <p:nvSpPr>
          <p:cNvPr id="56" name="TextBox 55"/>
          <p:cNvSpPr txBox="1"/>
          <p:nvPr/>
        </p:nvSpPr>
        <p:spPr>
          <a:xfrm>
            <a:off x="6812280" y="4507992"/>
            <a:ext cx="4800600" cy="384048"/>
          </a:xfrm>
          <a:prstGeom prst="rect">
            <a:avLst/>
          </a:prstGeom>
          <a:noFill/>
        </p:spPr>
        <p:txBody>
          <a:bodyPr wrap="square">
            <a:spAutoFit/>
          </a:bodyPr>
          <a:lstStyle/>
          <a:p>
            <a:pPr algn="l"/>
            <a:r>
              <a:rPr sz="950" b="0" i="0">
                <a:solidFill>
                  <a:srgbClr val="4B5563"/>
                </a:solidFill>
              </a:rPr>
              <a:t>Daily Rate OR Piece Rate (Pakya/contract)</a:t>
            </a:r>
          </a:p>
        </p:txBody>
      </p:sp>
      <p:sp>
        <p:nvSpPr>
          <p:cNvPr id="57" name="Rectangle 56"/>
          <p:cNvSpPr/>
          <p:nvPr/>
        </p:nvSpPr>
        <p:spPr>
          <a:xfrm>
            <a:off x="6217920" y="475488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309360" y="4892040"/>
            <a:ext cx="41148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0" y="4864608"/>
            <a:ext cx="411480" cy="411480"/>
          </a:xfrm>
          <a:prstGeom prst="rect">
            <a:avLst/>
          </a:prstGeom>
          <a:noFill/>
        </p:spPr>
        <p:txBody>
          <a:bodyPr wrap="square">
            <a:spAutoFit/>
          </a:bodyPr>
          <a:lstStyle/>
          <a:p>
            <a:pPr algn="ctr"/>
            <a:r>
              <a:rPr sz="1400" b="1" i="0">
                <a:solidFill>
                  <a:srgbClr val="FFFFFF"/>
                </a:solidFill>
              </a:rPr>
              <a:t>5</a:t>
            </a:r>
          </a:p>
        </p:txBody>
      </p:sp>
      <p:sp>
        <p:nvSpPr>
          <p:cNvPr id="60" name="TextBox 59"/>
          <p:cNvSpPr txBox="1"/>
          <p:nvPr/>
        </p:nvSpPr>
        <p:spPr>
          <a:xfrm>
            <a:off x="6812280" y="4828032"/>
            <a:ext cx="4800600" cy="274320"/>
          </a:xfrm>
          <a:prstGeom prst="rect">
            <a:avLst/>
          </a:prstGeom>
          <a:noFill/>
        </p:spPr>
        <p:txBody>
          <a:bodyPr wrap="square">
            <a:spAutoFit/>
          </a:bodyPr>
          <a:lstStyle/>
          <a:p>
            <a:pPr algn="l"/>
            <a:r>
              <a:rPr sz="1100" b="1" i="0">
                <a:solidFill>
                  <a:srgbClr val="064E3B"/>
                </a:solidFill>
              </a:rPr>
              <a:t>Enter Units &amp; Rate</a:t>
            </a:r>
          </a:p>
        </p:txBody>
      </p:sp>
      <p:sp>
        <p:nvSpPr>
          <p:cNvPr id="61" name="TextBox 60"/>
          <p:cNvSpPr txBox="1"/>
          <p:nvPr/>
        </p:nvSpPr>
        <p:spPr>
          <a:xfrm>
            <a:off x="6812280" y="5102352"/>
            <a:ext cx="4800600" cy="384048"/>
          </a:xfrm>
          <a:prstGeom prst="rect">
            <a:avLst/>
          </a:prstGeom>
          <a:noFill/>
        </p:spPr>
        <p:txBody>
          <a:bodyPr wrap="square">
            <a:spAutoFit/>
          </a:bodyPr>
          <a:lstStyle/>
          <a:p>
            <a:pPr algn="l"/>
            <a:r>
              <a:rPr sz="950" b="0" i="0">
                <a:solidFill>
                  <a:srgbClr val="4B5563"/>
                </a:solidFill>
              </a:rPr>
              <a:t>e.g., 1 day × ₱500 = ₱500 or 50 sacks × ₱15</a:t>
            </a:r>
          </a:p>
        </p:txBody>
      </p:sp>
      <p:sp>
        <p:nvSpPr>
          <p:cNvPr id="62" name="Rectangle 61"/>
          <p:cNvSpPr/>
          <p:nvPr/>
        </p:nvSpPr>
        <p:spPr>
          <a:xfrm>
            <a:off x="6217920" y="5349240"/>
            <a:ext cx="5486400" cy="777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309360" y="5486400"/>
            <a:ext cx="41148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309360" y="5458968"/>
            <a:ext cx="411480" cy="411480"/>
          </a:xfrm>
          <a:prstGeom prst="rect">
            <a:avLst/>
          </a:prstGeom>
          <a:noFill/>
        </p:spPr>
        <p:txBody>
          <a:bodyPr wrap="square">
            <a:spAutoFit/>
          </a:bodyPr>
          <a:lstStyle/>
          <a:p>
            <a:pPr algn="ctr"/>
            <a:r>
              <a:rPr sz="1400" b="1" i="0">
                <a:solidFill>
                  <a:srgbClr val="FFFFFF"/>
                </a:solidFill>
              </a:rPr>
              <a:t>6</a:t>
            </a:r>
          </a:p>
        </p:txBody>
      </p:sp>
      <p:sp>
        <p:nvSpPr>
          <p:cNvPr id="65" name="TextBox 64"/>
          <p:cNvSpPr txBox="1"/>
          <p:nvPr/>
        </p:nvSpPr>
        <p:spPr>
          <a:xfrm>
            <a:off x="6812280" y="5422392"/>
            <a:ext cx="4800600" cy="274320"/>
          </a:xfrm>
          <a:prstGeom prst="rect">
            <a:avLst/>
          </a:prstGeom>
          <a:noFill/>
        </p:spPr>
        <p:txBody>
          <a:bodyPr wrap="square">
            <a:spAutoFit/>
          </a:bodyPr>
          <a:lstStyle/>
          <a:p>
            <a:pPr algn="l"/>
            <a:r>
              <a:rPr sz="1100" b="1" i="0">
                <a:solidFill>
                  <a:srgbClr val="064E3B"/>
                </a:solidFill>
              </a:rPr>
              <a:t>Tap 'Record Task'</a:t>
            </a:r>
          </a:p>
        </p:txBody>
      </p:sp>
      <p:sp>
        <p:nvSpPr>
          <p:cNvPr id="66" name="TextBox 65"/>
          <p:cNvSpPr txBox="1"/>
          <p:nvPr/>
        </p:nvSpPr>
        <p:spPr>
          <a:xfrm>
            <a:off x="6812280" y="5696712"/>
            <a:ext cx="4800600" cy="384048"/>
          </a:xfrm>
          <a:prstGeom prst="rect">
            <a:avLst/>
          </a:prstGeom>
          <a:noFill/>
        </p:spPr>
        <p:txBody>
          <a:bodyPr wrap="square">
            <a:spAutoFit/>
          </a:bodyPr>
          <a:lstStyle/>
          <a:p>
            <a:pPr algn="l"/>
            <a:r>
              <a:rPr sz="950" b="0" i="0">
                <a:solidFill>
                  <a:srgbClr val="4B5563"/>
                </a:solidFill>
              </a:rPr>
              <a:t>Cost allocated to crop cycle P&amp;L</a:t>
            </a:r>
          </a:p>
        </p:txBody>
      </p:sp>
      <p:sp>
        <p:nvSpPr>
          <p:cNvPr id="67" name="Rectangle 66"/>
          <p:cNvSpPr/>
          <p:nvPr/>
        </p:nvSpPr>
        <p:spPr>
          <a:xfrm>
            <a:off x="365760" y="5577840"/>
            <a:ext cx="11430000" cy="9601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48640" y="5650992"/>
            <a:ext cx="5029200" cy="320040"/>
          </a:xfrm>
          <a:prstGeom prst="rect">
            <a:avLst/>
          </a:prstGeom>
          <a:noFill/>
        </p:spPr>
        <p:txBody>
          <a:bodyPr wrap="square">
            <a:spAutoFit/>
          </a:bodyPr>
          <a:lstStyle/>
          <a:p>
            <a:pPr algn="l"/>
            <a:r>
              <a:rPr sz="1100" b="1" i="0">
                <a:solidFill>
                  <a:srgbClr val="064E3B"/>
                </a:solidFill>
              </a:rPr>
              <a:t>Standard Farm Labor Rates (Philippine Agricultural Wage Guidelines):</a:t>
            </a:r>
          </a:p>
        </p:txBody>
      </p:sp>
      <p:sp>
        <p:nvSpPr>
          <p:cNvPr id="69" name="TextBox 68"/>
          <p:cNvSpPr txBox="1"/>
          <p:nvPr/>
        </p:nvSpPr>
        <p:spPr>
          <a:xfrm>
            <a:off x="548640" y="5989320"/>
            <a:ext cx="10972800" cy="457200"/>
          </a:xfrm>
          <a:prstGeom prst="rect">
            <a:avLst/>
          </a:prstGeom>
          <a:noFill/>
        </p:spPr>
        <p:txBody>
          <a:bodyPr wrap="square">
            <a:spAutoFit/>
          </a:bodyPr>
          <a:lstStyle/>
          <a:p>
            <a:pPr algn="l"/>
            <a:r>
              <a:rPr sz="1100" b="0" i="0">
                <a:solidFill>
                  <a:srgbClr val="4B5563"/>
                </a:solidFill>
              </a:rPr>
              <a:t>Field Laborer: ₱400–₱450/day  •  Harvester: ₱450–₱500/day  •  Tractor Operator: ₱550–₱650/day  •  Field Supervisor: ₱600–₱700/day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640080"/>
          </a:xfrm>
          <a:prstGeom prst="rect">
            <a:avLst/>
          </a:prstGeom>
          <a:noFill/>
        </p:spPr>
        <p:txBody>
          <a:bodyPr wrap="square">
            <a:spAutoFit/>
          </a:bodyPr>
          <a:lstStyle/>
          <a:p>
            <a:pPr algn="l"/>
            <a:r>
              <a:rPr sz="2800" b="1" i="0">
                <a:solidFill>
                  <a:srgbClr val="FFFFFF"/>
                </a:solidFill>
              </a:rPr>
              <a:t>Module 9 — Farm Input Expenses</a:t>
            </a:r>
          </a:p>
        </p:txBody>
      </p:sp>
      <p:sp>
        <p:nvSpPr>
          <p:cNvPr id="5" name="TextBox 4"/>
          <p:cNvSpPr txBox="1"/>
          <p:nvPr/>
        </p:nvSpPr>
        <p:spPr>
          <a:xfrm>
            <a:off x="457200" y="685800"/>
            <a:ext cx="11274552" cy="457200"/>
          </a:xfrm>
          <a:prstGeom prst="rect">
            <a:avLst/>
          </a:prstGeom>
          <a:noFill/>
        </p:spPr>
        <p:txBody>
          <a:bodyPr wrap="square">
            <a:spAutoFit/>
          </a:bodyPr>
          <a:lstStyle/>
          <a:p>
            <a:pPr algn="l"/>
            <a:r>
              <a:rPr sz="1300" b="0" i="0">
                <a:solidFill>
                  <a:srgbClr val="A7F3D0"/>
                </a:solidFill>
              </a:rPr>
              <a:t>Catalogs every agricultural input cost by category and crop cycle</a:t>
            </a:r>
          </a:p>
        </p:txBody>
      </p:sp>
      <p:sp>
        <p:nvSpPr>
          <p:cNvPr id="6" name="Rectangle 5"/>
          <p:cNvSpPr/>
          <p:nvPr/>
        </p:nvSpPr>
        <p:spPr>
          <a:xfrm>
            <a:off x="0" y="6537960"/>
            <a:ext cx="12188952" cy="32004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65392"/>
            <a:ext cx="7315200" cy="274320"/>
          </a:xfrm>
          <a:prstGeom prst="rect">
            <a:avLst/>
          </a:prstGeom>
          <a:noFill/>
        </p:spPr>
        <p:txBody>
          <a:bodyPr wrap="square">
            <a:spAutoFit/>
          </a:bodyPr>
          <a:lstStyle/>
          <a:p>
            <a:pPr algn="l"/>
            <a:r>
              <a:rPr sz="800" b="0" i="0">
                <a:solidFill>
                  <a:srgbClr val="9CA3AF"/>
                </a:solidFill>
              </a:rPr>
              <a:t>JetFarm Agribusiness Outgrower Platform  |  Confidential</a:t>
            </a:r>
          </a:p>
        </p:txBody>
      </p:sp>
      <p:sp>
        <p:nvSpPr>
          <p:cNvPr id="8" name="TextBox 7"/>
          <p:cNvSpPr txBox="1"/>
          <p:nvPr/>
        </p:nvSpPr>
        <p:spPr>
          <a:xfrm>
            <a:off x="10360152" y="6565392"/>
            <a:ext cx="1645920" cy="274320"/>
          </a:xfrm>
          <a:prstGeom prst="rect">
            <a:avLst/>
          </a:prstGeom>
          <a:noFill/>
        </p:spPr>
        <p:txBody>
          <a:bodyPr wrap="square">
            <a:spAutoFit/>
          </a:bodyPr>
          <a:lstStyle/>
          <a:p>
            <a:pPr algn="r"/>
            <a:r>
              <a:rPr sz="800" b="0" i="0">
                <a:solidFill>
                  <a:srgbClr val="9CA3AF"/>
                </a:solidFill>
              </a:rPr>
              <a:t>Slide 12 / 14</a:t>
            </a:r>
          </a:p>
        </p:txBody>
      </p:sp>
      <p:sp>
        <p:nvSpPr>
          <p:cNvPr id="9" name="TextBox 8"/>
          <p:cNvSpPr txBox="1"/>
          <p:nvPr/>
        </p:nvSpPr>
        <p:spPr>
          <a:xfrm>
            <a:off x="457200" y="1371600"/>
            <a:ext cx="11247120" cy="457200"/>
          </a:xfrm>
          <a:prstGeom prst="rect">
            <a:avLst/>
          </a:prstGeom>
          <a:noFill/>
        </p:spPr>
        <p:txBody>
          <a:bodyPr wrap="square">
            <a:spAutoFit/>
          </a:bodyPr>
          <a:lstStyle/>
          <a:p>
            <a:pPr algn="l"/>
            <a:r>
              <a:rPr sz="1200" b="0" i="0">
                <a:solidFill>
                  <a:srgbClr val="4B5563"/>
                </a:solidFill>
              </a:rPr>
              <a:t>🧾  Purpose: Every peso spent on fertilizer, seeds, tractor hire, fuel, and transport is recorded, categorized, and allocated to the correct crop cycle for accurate P&amp;L.</a:t>
            </a:r>
          </a:p>
        </p:txBody>
      </p:sp>
      <p:sp>
        <p:nvSpPr>
          <p:cNvPr id="10" name="Rectangle 9"/>
          <p:cNvSpPr/>
          <p:nvPr/>
        </p:nvSpPr>
        <p:spPr>
          <a:xfrm>
            <a:off x="320040" y="2057400"/>
            <a:ext cx="2788920" cy="10058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2103120"/>
            <a:ext cx="2606040" cy="347472"/>
          </a:xfrm>
          <a:prstGeom prst="rect">
            <a:avLst/>
          </a:prstGeom>
          <a:noFill/>
        </p:spPr>
        <p:txBody>
          <a:bodyPr wrap="square">
            <a:spAutoFit/>
          </a:bodyPr>
          <a:lstStyle/>
          <a:p>
            <a:pPr algn="l"/>
            <a:r>
              <a:rPr sz="1100" b="1" i="0">
                <a:solidFill>
                  <a:srgbClr val="FFFFFF"/>
                </a:solidFill>
              </a:rPr>
              <a:t>🌿 Fertilizer</a:t>
            </a:r>
          </a:p>
        </p:txBody>
      </p:sp>
      <p:sp>
        <p:nvSpPr>
          <p:cNvPr id="12" name="TextBox 11"/>
          <p:cNvSpPr txBox="1"/>
          <p:nvPr/>
        </p:nvSpPr>
        <p:spPr>
          <a:xfrm>
            <a:off x="411480" y="2468880"/>
            <a:ext cx="2606040" cy="502920"/>
          </a:xfrm>
          <a:prstGeom prst="rect">
            <a:avLst/>
          </a:prstGeom>
          <a:noFill/>
        </p:spPr>
        <p:txBody>
          <a:bodyPr wrap="square">
            <a:spAutoFit/>
          </a:bodyPr>
          <a:lstStyle/>
          <a:p>
            <a:pPr algn="l"/>
            <a:r>
              <a:rPr sz="950" b="0" i="0">
                <a:solidFill>
                  <a:srgbClr val="FFFFFF"/>
                </a:solidFill>
              </a:rPr>
              <a:t>Complete 14-14-14, Urea, Organic compost</a:t>
            </a:r>
          </a:p>
        </p:txBody>
      </p:sp>
      <p:sp>
        <p:nvSpPr>
          <p:cNvPr id="13" name="Rectangle 12"/>
          <p:cNvSpPr/>
          <p:nvPr/>
        </p:nvSpPr>
        <p:spPr>
          <a:xfrm>
            <a:off x="3273552" y="2057400"/>
            <a:ext cx="2788920" cy="10058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64992" y="2103120"/>
            <a:ext cx="2606040" cy="347472"/>
          </a:xfrm>
          <a:prstGeom prst="rect">
            <a:avLst/>
          </a:prstGeom>
          <a:noFill/>
        </p:spPr>
        <p:txBody>
          <a:bodyPr wrap="square">
            <a:spAutoFit/>
          </a:bodyPr>
          <a:lstStyle/>
          <a:p>
            <a:pPr algn="l"/>
            <a:r>
              <a:rPr sz="1100" b="1" i="0">
                <a:solidFill>
                  <a:srgbClr val="FFFFFF"/>
                </a:solidFill>
              </a:rPr>
              <a:t>🐛 Herbicide &amp; Pest</a:t>
            </a:r>
          </a:p>
        </p:txBody>
      </p:sp>
      <p:sp>
        <p:nvSpPr>
          <p:cNvPr id="15" name="TextBox 14"/>
          <p:cNvSpPr txBox="1"/>
          <p:nvPr/>
        </p:nvSpPr>
        <p:spPr>
          <a:xfrm>
            <a:off x="3364992" y="2468880"/>
            <a:ext cx="2606040" cy="502920"/>
          </a:xfrm>
          <a:prstGeom prst="rect">
            <a:avLst/>
          </a:prstGeom>
          <a:noFill/>
        </p:spPr>
        <p:txBody>
          <a:bodyPr wrap="square">
            <a:spAutoFit/>
          </a:bodyPr>
          <a:lstStyle/>
          <a:p>
            <a:pPr algn="l"/>
            <a:r>
              <a:rPr sz="950" b="0" i="0">
                <a:solidFill>
                  <a:srgbClr val="FFFFFF"/>
                </a:solidFill>
              </a:rPr>
              <a:t>Pre-emergence herbicide, insect sprays</a:t>
            </a:r>
          </a:p>
        </p:txBody>
      </p:sp>
      <p:sp>
        <p:nvSpPr>
          <p:cNvPr id="16" name="Rectangle 15"/>
          <p:cNvSpPr/>
          <p:nvPr/>
        </p:nvSpPr>
        <p:spPr>
          <a:xfrm>
            <a:off x="6227064" y="2057400"/>
            <a:ext cx="2788920" cy="10058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2103120"/>
            <a:ext cx="2606040" cy="347472"/>
          </a:xfrm>
          <a:prstGeom prst="rect">
            <a:avLst/>
          </a:prstGeom>
          <a:noFill/>
        </p:spPr>
        <p:txBody>
          <a:bodyPr wrap="square">
            <a:spAutoFit/>
          </a:bodyPr>
          <a:lstStyle/>
          <a:p>
            <a:pPr algn="l"/>
            <a:r>
              <a:rPr sz="1100" b="1" i="0">
                <a:solidFill>
                  <a:srgbClr val="FFFFFF"/>
                </a:solidFill>
              </a:rPr>
              <a:t>🚜 Tractor &amp; Machinery</a:t>
            </a:r>
          </a:p>
        </p:txBody>
      </p:sp>
      <p:sp>
        <p:nvSpPr>
          <p:cNvPr id="18" name="TextBox 17"/>
          <p:cNvSpPr txBox="1"/>
          <p:nvPr/>
        </p:nvSpPr>
        <p:spPr>
          <a:xfrm>
            <a:off x="6318504" y="2468880"/>
            <a:ext cx="2606040" cy="502920"/>
          </a:xfrm>
          <a:prstGeom prst="rect">
            <a:avLst/>
          </a:prstGeom>
          <a:noFill/>
        </p:spPr>
        <p:txBody>
          <a:bodyPr wrap="square">
            <a:spAutoFit/>
          </a:bodyPr>
          <a:lstStyle/>
          <a:p>
            <a:pPr algn="l"/>
            <a:r>
              <a:rPr sz="950" b="0" i="0">
                <a:solidFill>
                  <a:srgbClr val="FFFFFF"/>
                </a:solidFill>
              </a:rPr>
              <a:t>Rotavator rental, disc plowing service</a:t>
            </a:r>
          </a:p>
        </p:txBody>
      </p:sp>
      <p:sp>
        <p:nvSpPr>
          <p:cNvPr id="19" name="Rectangle 18"/>
          <p:cNvSpPr/>
          <p:nvPr/>
        </p:nvSpPr>
        <p:spPr>
          <a:xfrm>
            <a:off x="9180576" y="2057400"/>
            <a:ext cx="2788920" cy="10058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72016" y="2103120"/>
            <a:ext cx="2606040" cy="347472"/>
          </a:xfrm>
          <a:prstGeom prst="rect">
            <a:avLst/>
          </a:prstGeom>
          <a:noFill/>
        </p:spPr>
        <p:txBody>
          <a:bodyPr wrap="square">
            <a:spAutoFit/>
          </a:bodyPr>
          <a:lstStyle/>
          <a:p>
            <a:pPr algn="l"/>
            <a:r>
              <a:rPr sz="1100" b="1" i="0">
                <a:solidFill>
                  <a:srgbClr val="FFFFFF"/>
                </a:solidFill>
              </a:rPr>
              <a:t>🌱 Seedlings &amp; Cuttings</a:t>
            </a:r>
          </a:p>
        </p:txBody>
      </p:sp>
      <p:sp>
        <p:nvSpPr>
          <p:cNvPr id="21" name="TextBox 20"/>
          <p:cNvSpPr txBox="1"/>
          <p:nvPr/>
        </p:nvSpPr>
        <p:spPr>
          <a:xfrm>
            <a:off x="9272016" y="2468880"/>
            <a:ext cx="2606040" cy="502920"/>
          </a:xfrm>
          <a:prstGeom prst="rect">
            <a:avLst/>
          </a:prstGeom>
          <a:noFill/>
        </p:spPr>
        <p:txBody>
          <a:bodyPr wrap="square">
            <a:spAutoFit/>
          </a:bodyPr>
          <a:lstStyle/>
          <a:p>
            <a:pPr algn="l"/>
            <a:r>
              <a:rPr sz="950" b="0" i="0">
                <a:solidFill>
                  <a:srgbClr val="FFFFFF"/>
                </a:solidFill>
              </a:rPr>
              <a:t>KU50 cassava stems, Pioneer corn seeds</a:t>
            </a:r>
          </a:p>
        </p:txBody>
      </p:sp>
      <p:sp>
        <p:nvSpPr>
          <p:cNvPr id="22" name="Rectangle 21"/>
          <p:cNvSpPr/>
          <p:nvPr/>
        </p:nvSpPr>
        <p:spPr>
          <a:xfrm>
            <a:off x="320040" y="3246120"/>
            <a:ext cx="2788920"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3291840"/>
            <a:ext cx="2606040" cy="347472"/>
          </a:xfrm>
          <a:prstGeom prst="rect">
            <a:avLst/>
          </a:prstGeom>
          <a:noFill/>
        </p:spPr>
        <p:txBody>
          <a:bodyPr wrap="square">
            <a:spAutoFit/>
          </a:bodyPr>
          <a:lstStyle/>
          <a:p>
            <a:pPr algn="l"/>
            <a:r>
              <a:rPr sz="1100" b="1" i="0">
                <a:solidFill>
                  <a:srgbClr val="FFFFFF"/>
                </a:solidFill>
              </a:rPr>
              <a:t>⛽ Fuel &amp; Oil</a:t>
            </a:r>
          </a:p>
        </p:txBody>
      </p:sp>
      <p:sp>
        <p:nvSpPr>
          <p:cNvPr id="24" name="TextBox 23"/>
          <p:cNvSpPr txBox="1"/>
          <p:nvPr/>
        </p:nvSpPr>
        <p:spPr>
          <a:xfrm>
            <a:off x="411480" y="3657600"/>
            <a:ext cx="2606040" cy="502920"/>
          </a:xfrm>
          <a:prstGeom prst="rect">
            <a:avLst/>
          </a:prstGeom>
          <a:noFill/>
        </p:spPr>
        <p:txBody>
          <a:bodyPr wrap="square">
            <a:spAutoFit/>
          </a:bodyPr>
          <a:lstStyle/>
          <a:p>
            <a:pPr algn="l"/>
            <a:r>
              <a:rPr sz="950" b="0" i="0">
                <a:solidFill>
                  <a:srgbClr val="FFFFFF"/>
                </a:solidFill>
              </a:rPr>
              <a:t>Diesel for pumps, 2T oil for brushcutters</a:t>
            </a:r>
          </a:p>
        </p:txBody>
      </p:sp>
      <p:sp>
        <p:nvSpPr>
          <p:cNvPr id="25" name="Rectangle 24"/>
          <p:cNvSpPr/>
          <p:nvPr/>
        </p:nvSpPr>
        <p:spPr>
          <a:xfrm>
            <a:off x="3273552" y="3246120"/>
            <a:ext cx="2788920" cy="10058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64992" y="3291840"/>
            <a:ext cx="2606040" cy="347472"/>
          </a:xfrm>
          <a:prstGeom prst="rect">
            <a:avLst/>
          </a:prstGeom>
          <a:noFill/>
        </p:spPr>
        <p:txBody>
          <a:bodyPr wrap="square">
            <a:spAutoFit/>
          </a:bodyPr>
          <a:lstStyle/>
          <a:p>
            <a:pPr algn="l"/>
            <a:r>
              <a:rPr sz="1100" b="1" i="0">
                <a:solidFill>
                  <a:srgbClr val="FFFFFF"/>
                </a:solidFill>
              </a:rPr>
              <a:t>🚛 Trucking &amp; Hauling</a:t>
            </a:r>
          </a:p>
        </p:txBody>
      </p:sp>
      <p:sp>
        <p:nvSpPr>
          <p:cNvPr id="27" name="TextBox 26"/>
          <p:cNvSpPr txBox="1"/>
          <p:nvPr/>
        </p:nvSpPr>
        <p:spPr>
          <a:xfrm>
            <a:off x="3364992" y="3657600"/>
            <a:ext cx="2606040" cy="502920"/>
          </a:xfrm>
          <a:prstGeom prst="rect">
            <a:avLst/>
          </a:prstGeom>
          <a:noFill/>
        </p:spPr>
        <p:txBody>
          <a:bodyPr wrap="square">
            <a:spAutoFit/>
          </a:bodyPr>
          <a:lstStyle/>
          <a:p>
            <a:pPr algn="l"/>
            <a:r>
              <a:rPr sz="950" b="0" i="0">
                <a:solidFill>
                  <a:srgbClr val="FFFFFF"/>
                </a:solidFill>
              </a:rPr>
              <a:t>10-wheeler hauling to processing mill</a:t>
            </a:r>
          </a:p>
        </p:txBody>
      </p:sp>
      <p:sp>
        <p:nvSpPr>
          <p:cNvPr id="28" name="Rectangle 27"/>
          <p:cNvSpPr/>
          <p:nvPr/>
        </p:nvSpPr>
        <p:spPr>
          <a:xfrm>
            <a:off x="6227064" y="3246120"/>
            <a:ext cx="2788920" cy="10058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18504" y="3291840"/>
            <a:ext cx="2606040" cy="347472"/>
          </a:xfrm>
          <a:prstGeom prst="rect">
            <a:avLst/>
          </a:prstGeom>
          <a:noFill/>
        </p:spPr>
        <p:txBody>
          <a:bodyPr wrap="square">
            <a:spAutoFit/>
          </a:bodyPr>
          <a:lstStyle/>
          <a:p>
            <a:pPr algn="l"/>
            <a:r>
              <a:rPr sz="1100" b="1" i="0">
                <a:solidFill>
                  <a:srgbClr val="FFFFFF"/>
                </a:solidFill>
              </a:rPr>
              <a:t>🔧 Farm Tools</a:t>
            </a:r>
          </a:p>
        </p:txBody>
      </p:sp>
      <p:sp>
        <p:nvSpPr>
          <p:cNvPr id="30" name="TextBox 29"/>
          <p:cNvSpPr txBox="1"/>
          <p:nvPr/>
        </p:nvSpPr>
        <p:spPr>
          <a:xfrm>
            <a:off x="6318504" y="3657600"/>
            <a:ext cx="2606040" cy="502920"/>
          </a:xfrm>
          <a:prstGeom prst="rect">
            <a:avLst/>
          </a:prstGeom>
          <a:noFill/>
        </p:spPr>
        <p:txBody>
          <a:bodyPr wrap="square">
            <a:spAutoFit/>
          </a:bodyPr>
          <a:lstStyle/>
          <a:p>
            <a:pPr algn="l"/>
            <a:r>
              <a:rPr sz="950" b="0" i="0">
                <a:solidFill>
                  <a:srgbClr val="FFFFFF"/>
                </a:solidFill>
              </a:rPr>
              <a:t>Bolos, digging bars (bareta), sacks</a:t>
            </a:r>
          </a:p>
        </p:txBody>
      </p:sp>
      <p:sp>
        <p:nvSpPr>
          <p:cNvPr id="31" name="Rectangle 30"/>
          <p:cNvSpPr/>
          <p:nvPr/>
        </p:nvSpPr>
        <p:spPr>
          <a:xfrm>
            <a:off x="9180576" y="3246120"/>
            <a:ext cx="2788920" cy="1005840"/>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72016" y="3291840"/>
            <a:ext cx="2606040" cy="347472"/>
          </a:xfrm>
          <a:prstGeom prst="rect">
            <a:avLst/>
          </a:prstGeom>
          <a:noFill/>
        </p:spPr>
        <p:txBody>
          <a:bodyPr wrap="square">
            <a:spAutoFit/>
          </a:bodyPr>
          <a:lstStyle/>
          <a:p>
            <a:pPr algn="l"/>
            <a:r>
              <a:rPr sz="1100" b="1" i="0">
                <a:solidFill>
                  <a:srgbClr val="FFFFFF"/>
                </a:solidFill>
              </a:rPr>
              <a:t>📦 Miscellaneous</a:t>
            </a:r>
          </a:p>
        </p:txBody>
      </p:sp>
      <p:sp>
        <p:nvSpPr>
          <p:cNvPr id="33" name="TextBox 32"/>
          <p:cNvSpPr txBox="1"/>
          <p:nvPr/>
        </p:nvSpPr>
        <p:spPr>
          <a:xfrm>
            <a:off x="9272016" y="3657600"/>
            <a:ext cx="2606040" cy="502920"/>
          </a:xfrm>
          <a:prstGeom prst="rect">
            <a:avLst/>
          </a:prstGeom>
          <a:noFill/>
        </p:spPr>
        <p:txBody>
          <a:bodyPr wrap="square">
            <a:spAutoFit/>
          </a:bodyPr>
          <a:lstStyle/>
          <a:p>
            <a:pPr algn="l"/>
            <a:r>
              <a:rPr sz="950" b="0" i="0">
                <a:solidFill>
                  <a:srgbClr val="FFFFFF"/>
                </a:solidFill>
              </a:rPr>
              <a:t>Pegs, signage, field snacks, boundary stakes</a:t>
            </a:r>
          </a:p>
        </p:txBody>
      </p:sp>
      <p:sp>
        <p:nvSpPr>
          <p:cNvPr id="34" name="TextBox 33"/>
          <p:cNvSpPr txBox="1"/>
          <p:nvPr/>
        </p:nvSpPr>
        <p:spPr>
          <a:xfrm>
            <a:off x="365760" y="4343400"/>
            <a:ext cx="11430000" cy="347472"/>
          </a:xfrm>
          <a:prstGeom prst="rect">
            <a:avLst/>
          </a:prstGeom>
          <a:noFill/>
        </p:spPr>
        <p:txBody>
          <a:bodyPr wrap="square">
            <a:spAutoFit/>
          </a:bodyPr>
          <a:lstStyle/>
          <a:p>
            <a:pPr algn="l"/>
            <a:r>
              <a:rPr sz="1300" b="1" i="0">
                <a:solidFill>
                  <a:srgbClr val="064E3B"/>
                </a:solidFill>
              </a:rPr>
              <a:t>How to Record an Expense</a:t>
            </a:r>
          </a:p>
        </p:txBody>
      </p:sp>
      <p:sp>
        <p:nvSpPr>
          <p:cNvPr id="35" name="TextBox 34"/>
          <p:cNvSpPr txBox="1"/>
          <p:nvPr/>
        </p:nvSpPr>
        <p:spPr>
          <a:xfrm>
            <a:off x="457200" y="4754880"/>
            <a:ext cx="5394960" cy="365760"/>
          </a:xfrm>
          <a:prstGeom prst="rect">
            <a:avLst/>
          </a:prstGeom>
          <a:noFill/>
        </p:spPr>
        <p:txBody>
          <a:bodyPr wrap="square">
            <a:spAutoFit/>
          </a:bodyPr>
          <a:lstStyle/>
          <a:p>
            <a:pPr algn="l"/>
            <a:r>
              <a:rPr sz="1100" b="0" i="0">
                <a:solidFill>
                  <a:srgbClr val="4B5563"/>
                </a:solidFill>
              </a:rPr>
              <a:t>1. Tap '+ Record Expense'</a:t>
            </a:r>
          </a:p>
        </p:txBody>
      </p:sp>
      <p:sp>
        <p:nvSpPr>
          <p:cNvPr id="36" name="TextBox 35"/>
          <p:cNvSpPr txBox="1"/>
          <p:nvPr/>
        </p:nvSpPr>
        <p:spPr>
          <a:xfrm>
            <a:off x="6583680" y="4754880"/>
            <a:ext cx="5394960" cy="365760"/>
          </a:xfrm>
          <a:prstGeom prst="rect">
            <a:avLst/>
          </a:prstGeom>
          <a:noFill/>
        </p:spPr>
        <p:txBody>
          <a:bodyPr wrap="square">
            <a:spAutoFit/>
          </a:bodyPr>
          <a:lstStyle/>
          <a:p>
            <a:pPr algn="l"/>
            <a:r>
              <a:rPr sz="1100" b="0" i="0">
                <a:solidFill>
                  <a:srgbClr val="4B5563"/>
                </a:solidFill>
              </a:rPr>
              <a:t>2. Select Crop Cycle to absorb the cost</a:t>
            </a:r>
          </a:p>
        </p:txBody>
      </p:sp>
      <p:sp>
        <p:nvSpPr>
          <p:cNvPr id="37" name="TextBox 36"/>
          <p:cNvSpPr txBox="1"/>
          <p:nvPr/>
        </p:nvSpPr>
        <p:spPr>
          <a:xfrm>
            <a:off x="457200" y="5166360"/>
            <a:ext cx="5394960" cy="365760"/>
          </a:xfrm>
          <a:prstGeom prst="rect">
            <a:avLst/>
          </a:prstGeom>
          <a:noFill/>
        </p:spPr>
        <p:txBody>
          <a:bodyPr wrap="square">
            <a:spAutoFit/>
          </a:bodyPr>
          <a:lstStyle/>
          <a:p>
            <a:pPr algn="l"/>
            <a:r>
              <a:rPr sz="1100" b="0" i="0">
                <a:solidFill>
                  <a:srgbClr val="4B5563"/>
                </a:solidFill>
              </a:rPr>
              <a:t>3. Choose Category (8 standardized types)</a:t>
            </a:r>
          </a:p>
        </p:txBody>
      </p:sp>
      <p:sp>
        <p:nvSpPr>
          <p:cNvPr id="38" name="TextBox 37"/>
          <p:cNvSpPr txBox="1"/>
          <p:nvPr/>
        </p:nvSpPr>
        <p:spPr>
          <a:xfrm>
            <a:off x="6583680" y="5166360"/>
            <a:ext cx="5394960" cy="365760"/>
          </a:xfrm>
          <a:prstGeom prst="rect">
            <a:avLst/>
          </a:prstGeom>
          <a:noFill/>
        </p:spPr>
        <p:txBody>
          <a:bodyPr wrap="square">
            <a:spAutoFit/>
          </a:bodyPr>
          <a:lstStyle/>
          <a:p>
            <a:pPr algn="l"/>
            <a:r>
              <a:rPr sz="1100" b="0" i="0">
                <a:solidFill>
                  <a:srgbClr val="4B5563"/>
                </a:solidFill>
              </a:rPr>
              <a:t>4. Enter Description + ₱ Amount</a:t>
            </a:r>
          </a:p>
        </p:txBody>
      </p:sp>
      <p:sp>
        <p:nvSpPr>
          <p:cNvPr id="39" name="TextBox 38"/>
          <p:cNvSpPr txBox="1"/>
          <p:nvPr/>
        </p:nvSpPr>
        <p:spPr>
          <a:xfrm>
            <a:off x="457200" y="5577840"/>
            <a:ext cx="5394960" cy="365760"/>
          </a:xfrm>
          <a:prstGeom prst="rect">
            <a:avLst/>
          </a:prstGeom>
          <a:noFill/>
        </p:spPr>
        <p:txBody>
          <a:bodyPr wrap="square">
            <a:spAutoFit/>
          </a:bodyPr>
          <a:lstStyle/>
          <a:p>
            <a:pPr algn="l"/>
            <a:r>
              <a:rPr sz="1100" b="0" i="0">
                <a:solidFill>
                  <a:srgbClr val="4B5563"/>
                </a:solidFill>
              </a:rPr>
              <a:t>5. Set 'Paid By': JetFarm Operator OR Investor Fund</a:t>
            </a:r>
          </a:p>
        </p:txBody>
      </p:sp>
      <p:sp>
        <p:nvSpPr>
          <p:cNvPr id="40" name="TextBox 39"/>
          <p:cNvSpPr txBox="1"/>
          <p:nvPr/>
        </p:nvSpPr>
        <p:spPr>
          <a:xfrm>
            <a:off x="6583680" y="5577840"/>
            <a:ext cx="5394960" cy="365760"/>
          </a:xfrm>
          <a:prstGeom prst="rect">
            <a:avLst/>
          </a:prstGeom>
          <a:noFill/>
        </p:spPr>
        <p:txBody>
          <a:bodyPr wrap="square">
            <a:spAutoFit/>
          </a:bodyPr>
          <a:lstStyle/>
          <a:p>
            <a:pPr algn="l"/>
            <a:r>
              <a:rPr sz="1100" b="0" i="0">
                <a:solidFill>
                  <a:srgbClr val="4B5563"/>
                </a:solidFill>
              </a:rPr>
              <a:t>6. Enter Receipt / Voucher Reference</a:t>
            </a:r>
          </a:p>
        </p:txBody>
      </p:sp>
      <p:sp>
        <p:nvSpPr>
          <p:cNvPr id="41" name="TextBox 40"/>
          <p:cNvSpPr txBox="1"/>
          <p:nvPr/>
        </p:nvSpPr>
        <p:spPr>
          <a:xfrm>
            <a:off x="457200" y="5989320"/>
            <a:ext cx="5394960" cy="365760"/>
          </a:xfrm>
          <a:prstGeom prst="rect">
            <a:avLst/>
          </a:prstGeom>
          <a:noFill/>
        </p:spPr>
        <p:txBody>
          <a:bodyPr wrap="square">
            <a:spAutoFit/>
          </a:bodyPr>
          <a:lstStyle/>
          <a:p>
            <a:pPr algn="l"/>
            <a:r>
              <a:rPr sz="1100" b="0" i="0">
                <a:solidFill>
                  <a:srgbClr val="4B5563"/>
                </a:solidFill>
              </a:rPr>
              <a:t>7. Tap 'Save Expense' → auto-allocated to cycle P&amp;L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640080"/>
          </a:xfrm>
          <a:prstGeom prst="rect">
            <a:avLst/>
          </a:prstGeom>
          <a:noFill/>
        </p:spPr>
        <p:txBody>
          <a:bodyPr wrap="square">
            <a:spAutoFit/>
          </a:bodyPr>
          <a:lstStyle/>
          <a:p>
            <a:pPr algn="l"/>
            <a:r>
              <a:rPr sz="2800" b="1" i="0">
                <a:solidFill>
                  <a:srgbClr val="FFFFFF"/>
                </a:solidFill>
              </a:rPr>
              <a:t>Module 10 — P&amp;L &amp; Yield Analytics</a:t>
            </a:r>
          </a:p>
        </p:txBody>
      </p:sp>
      <p:sp>
        <p:nvSpPr>
          <p:cNvPr id="5" name="TextBox 4"/>
          <p:cNvSpPr txBox="1"/>
          <p:nvPr/>
        </p:nvSpPr>
        <p:spPr>
          <a:xfrm>
            <a:off x="457200" y="685800"/>
            <a:ext cx="11274552" cy="457200"/>
          </a:xfrm>
          <a:prstGeom prst="rect">
            <a:avLst/>
          </a:prstGeom>
          <a:noFill/>
        </p:spPr>
        <p:txBody>
          <a:bodyPr wrap="square">
            <a:spAutoFit/>
          </a:bodyPr>
          <a:lstStyle/>
          <a:p>
            <a:pPr algn="l"/>
            <a:r>
              <a:rPr sz="1300" b="0" i="0">
                <a:solidFill>
                  <a:srgbClr val="A7F3D0"/>
                </a:solidFill>
              </a:rPr>
              <a:t>Financial intelligence, cycle-level P&amp;L, and predictive yield forecasting</a:t>
            </a:r>
          </a:p>
        </p:txBody>
      </p:sp>
      <p:sp>
        <p:nvSpPr>
          <p:cNvPr id="6" name="Rectangle 5"/>
          <p:cNvSpPr/>
          <p:nvPr/>
        </p:nvSpPr>
        <p:spPr>
          <a:xfrm>
            <a:off x="0" y="6537960"/>
            <a:ext cx="12188952" cy="32004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65392"/>
            <a:ext cx="7315200" cy="274320"/>
          </a:xfrm>
          <a:prstGeom prst="rect">
            <a:avLst/>
          </a:prstGeom>
          <a:noFill/>
        </p:spPr>
        <p:txBody>
          <a:bodyPr wrap="square">
            <a:spAutoFit/>
          </a:bodyPr>
          <a:lstStyle/>
          <a:p>
            <a:pPr algn="l"/>
            <a:r>
              <a:rPr sz="800" b="0" i="0">
                <a:solidFill>
                  <a:srgbClr val="9CA3AF"/>
                </a:solidFill>
              </a:rPr>
              <a:t>JetFarm Agribusiness Outgrower Platform  |  Confidential</a:t>
            </a:r>
          </a:p>
        </p:txBody>
      </p:sp>
      <p:sp>
        <p:nvSpPr>
          <p:cNvPr id="8" name="TextBox 7"/>
          <p:cNvSpPr txBox="1"/>
          <p:nvPr/>
        </p:nvSpPr>
        <p:spPr>
          <a:xfrm>
            <a:off x="10360152" y="6565392"/>
            <a:ext cx="1645920" cy="274320"/>
          </a:xfrm>
          <a:prstGeom prst="rect">
            <a:avLst/>
          </a:prstGeom>
          <a:noFill/>
        </p:spPr>
        <p:txBody>
          <a:bodyPr wrap="square">
            <a:spAutoFit/>
          </a:bodyPr>
          <a:lstStyle/>
          <a:p>
            <a:pPr algn="r"/>
            <a:r>
              <a:rPr sz="800" b="0" i="0">
                <a:solidFill>
                  <a:srgbClr val="9CA3AF"/>
                </a:solidFill>
              </a:rPr>
              <a:t>Slide 13 / 14</a:t>
            </a:r>
          </a:p>
        </p:txBody>
      </p:sp>
      <p:sp>
        <p:nvSpPr>
          <p:cNvPr id="9" name="TextBox 8"/>
          <p:cNvSpPr txBox="1"/>
          <p:nvPr/>
        </p:nvSpPr>
        <p:spPr>
          <a:xfrm>
            <a:off x="457200" y="1371600"/>
            <a:ext cx="11247120" cy="502920"/>
          </a:xfrm>
          <a:prstGeom prst="rect">
            <a:avLst/>
          </a:prstGeom>
          <a:noFill/>
        </p:spPr>
        <p:txBody>
          <a:bodyPr wrap="square">
            <a:spAutoFit/>
          </a:bodyPr>
          <a:lstStyle/>
          <a:p>
            <a:pPr algn="l"/>
            <a:r>
              <a:rPr sz="1200" b="0" i="0">
                <a:solidFill>
                  <a:srgbClr val="4B5563"/>
                </a:solidFill>
              </a:rPr>
              <a:t>📊  Purpose: The financial brain of the platform. Shows gross revenue, COGS breakdown, net profit, cost efficiency ratios, and a predictive yield model for planning future cycles.</a:t>
            </a:r>
          </a:p>
        </p:txBody>
      </p:sp>
      <p:sp>
        <p:nvSpPr>
          <p:cNvPr id="10" name="Rectangle 9"/>
          <p:cNvSpPr/>
          <p:nvPr/>
        </p:nvSpPr>
        <p:spPr>
          <a:xfrm>
            <a:off x="365760" y="2011680"/>
            <a:ext cx="6675120" cy="384048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103120"/>
            <a:ext cx="6400800" cy="347472"/>
          </a:xfrm>
          <a:prstGeom prst="rect">
            <a:avLst/>
          </a:prstGeom>
          <a:noFill/>
        </p:spPr>
        <p:txBody>
          <a:bodyPr wrap="square">
            <a:spAutoFit/>
          </a:bodyPr>
          <a:lstStyle/>
          <a:p>
            <a:pPr algn="l"/>
            <a:r>
              <a:rPr sz="1300" b="1" i="0">
                <a:solidFill>
                  <a:srgbClr val="F59E0B"/>
                </a:solidFill>
              </a:rPr>
              <a:t>📈  P&amp;L Key Metrics per Crop Cycle</a:t>
            </a:r>
          </a:p>
        </p:txBody>
      </p:sp>
      <p:sp>
        <p:nvSpPr>
          <p:cNvPr id="12" name="TextBox 11"/>
          <p:cNvSpPr txBox="1"/>
          <p:nvPr/>
        </p:nvSpPr>
        <p:spPr>
          <a:xfrm>
            <a:off x="548640" y="2514600"/>
            <a:ext cx="3474720" cy="347472"/>
          </a:xfrm>
          <a:prstGeom prst="rect">
            <a:avLst/>
          </a:prstGeom>
          <a:noFill/>
        </p:spPr>
        <p:txBody>
          <a:bodyPr wrap="square">
            <a:spAutoFit/>
          </a:bodyPr>
          <a:lstStyle/>
          <a:p>
            <a:pPr algn="l"/>
            <a:r>
              <a:rPr sz="1050" b="0" i="0">
                <a:solidFill>
                  <a:srgbClr val="FFFFFF"/>
                </a:solidFill>
              </a:rPr>
              <a:t>Gross Offtake Revenue</a:t>
            </a:r>
          </a:p>
        </p:txBody>
      </p:sp>
      <p:sp>
        <p:nvSpPr>
          <p:cNvPr id="13" name="TextBox 12"/>
          <p:cNvSpPr txBox="1"/>
          <p:nvPr/>
        </p:nvSpPr>
        <p:spPr>
          <a:xfrm>
            <a:off x="4114800" y="2514600"/>
            <a:ext cx="2743200" cy="347472"/>
          </a:xfrm>
          <a:prstGeom prst="rect">
            <a:avLst/>
          </a:prstGeom>
          <a:noFill/>
        </p:spPr>
        <p:txBody>
          <a:bodyPr wrap="square">
            <a:spAutoFit/>
          </a:bodyPr>
          <a:lstStyle/>
          <a:p>
            <a:pPr algn="r"/>
            <a:r>
              <a:rPr sz="1050" b="0" i="0">
                <a:solidFill>
                  <a:srgbClr val="FFFFFF"/>
                </a:solidFill>
              </a:rPr>
              <a:t>Net Harvest kg × ₱4.00/kg</a:t>
            </a:r>
          </a:p>
        </p:txBody>
      </p:sp>
      <p:sp>
        <p:nvSpPr>
          <p:cNvPr id="14" name="TextBox 13"/>
          <p:cNvSpPr txBox="1"/>
          <p:nvPr/>
        </p:nvSpPr>
        <p:spPr>
          <a:xfrm>
            <a:off x="548640" y="2898648"/>
            <a:ext cx="3474720" cy="347472"/>
          </a:xfrm>
          <a:prstGeom prst="rect">
            <a:avLst/>
          </a:prstGeom>
          <a:noFill/>
        </p:spPr>
        <p:txBody>
          <a:bodyPr wrap="square">
            <a:spAutoFit/>
          </a:bodyPr>
          <a:lstStyle/>
          <a:p>
            <a:pPr algn="l"/>
            <a:r>
              <a:rPr sz="1050" b="0" i="0">
                <a:solidFill>
                  <a:srgbClr val="FFFFFF"/>
                </a:solidFill>
              </a:rPr>
              <a:t>Land Settlement Cost</a:t>
            </a:r>
          </a:p>
        </p:txBody>
      </p:sp>
      <p:sp>
        <p:nvSpPr>
          <p:cNvPr id="15" name="TextBox 14"/>
          <p:cNvSpPr txBox="1"/>
          <p:nvPr/>
        </p:nvSpPr>
        <p:spPr>
          <a:xfrm>
            <a:off x="4114800" y="2898648"/>
            <a:ext cx="2743200" cy="347472"/>
          </a:xfrm>
          <a:prstGeom prst="rect">
            <a:avLst/>
          </a:prstGeom>
          <a:noFill/>
        </p:spPr>
        <p:txBody>
          <a:bodyPr wrap="square">
            <a:spAutoFit/>
          </a:bodyPr>
          <a:lstStyle/>
          <a:p>
            <a:pPr algn="r"/>
            <a:r>
              <a:rPr sz="1050" b="0" i="0">
                <a:solidFill>
                  <a:srgbClr val="FFFFFF"/>
                </a:solidFill>
              </a:rPr>
              <a:t>Per guarantee engine output</a:t>
            </a:r>
          </a:p>
        </p:txBody>
      </p:sp>
      <p:sp>
        <p:nvSpPr>
          <p:cNvPr id="16" name="TextBox 15"/>
          <p:cNvSpPr txBox="1"/>
          <p:nvPr/>
        </p:nvSpPr>
        <p:spPr>
          <a:xfrm>
            <a:off x="548640" y="3282696"/>
            <a:ext cx="3474720" cy="347472"/>
          </a:xfrm>
          <a:prstGeom prst="rect">
            <a:avLst/>
          </a:prstGeom>
          <a:noFill/>
        </p:spPr>
        <p:txBody>
          <a:bodyPr wrap="square">
            <a:spAutoFit/>
          </a:bodyPr>
          <a:lstStyle/>
          <a:p>
            <a:pPr algn="l"/>
            <a:r>
              <a:rPr sz="1050" b="0" i="0">
                <a:solidFill>
                  <a:srgbClr val="FFFFFF"/>
                </a:solidFill>
              </a:rPr>
              <a:t>Farm Labor Cost</a:t>
            </a:r>
          </a:p>
        </p:txBody>
      </p:sp>
      <p:sp>
        <p:nvSpPr>
          <p:cNvPr id="17" name="TextBox 16"/>
          <p:cNvSpPr txBox="1"/>
          <p:nvPr/>
        </p:nvSpPr>
        <p:spPr>
          <a:xfrm>
            <a:off x="4114800" y="3282696"/>
            <a:ext cx="2743200" cy="347472"/>
          </a:xfrm>
          <a:prstGeom prst="rect">
            <a:avLst/>
          </a:prstGeom>
          <a:noFill/>
        </p:spPr>
        <p:txBody>
          <a:bodyPr wrap="square">
            <a:spAutoFit/>
          </a:bodyPr>
          <a:lstStyle/>
          <a:p>
            <a:pPr algn="r"/>
            <a:r>
              <a:rPr sz="1050" b="0" i="0">
                <a:solidFill>
                  <a:srgbClr val="FFFFFF"/>
                </a:solidFill>
              </a:rPr>
              <a:t>Sum of all labor log entries</a:t>
            </a:r>
          </a:p>
        </p:txBody>
      </p:sp>
      <p:sp>
        <p:nvSpPr>
          <p:cNvPr id="18" name="TextBox 17"/>
          <p:cNvSpPr txBox="1"/>
          <p:nvPr/>
        </p:nvSpPr>
        <p:spPr>
          <a:xfrm>
            <a:off x="548640" y="3666744"/>
            <a:ext cx="3474720" cy="347472"/>
          </a:xfrm>
          <a:prstGeom prst="rect">
            <a:avLst/>
          </a:prstGeom>
          <a:noFill/>
        </p:spPr>
        <p:txBody>
          <a:bodyPr wrap="square">
            <a:spAutoFit/>
          </a:bodyPr>
          <a:lstStyle/>
          <a:p>
            <a:pPr algn="l"/>
            <a:r>
              <a:rPr sz="1050" b="0" i="0">
                <a:solidFill>
                  <a:srgbClr val="FFFFFF"/>
                </a:solidFill>
              </a:rPr>
              <a:t>Agricultural Inputs</a:t>
            </a:r>
          </a:p>
        </p:txBody>
      </p:sp>
      <p:sp>
        <p:nvSpPr>
          <p:cNvPr id="19" name="TextBox 18"/>
          <p:cNvSpPr txBox="1"/>
          <p:nvPr/>
        </p:nvSpPr>
        <p:spPr>
          <a:xfrm>
            <a:off x="4114800" y="3666744"/>
            <a:ext cx="2743200" cy="347472"/>
          </a:xfrm>
          <a:prstGeom prst="rect">
            <a:avLst/>
          </a:prstGeom>
          <a:noFill/>
        </p:spPr>
        <p:txBody>
          <a:bodyPr wrap="square">
            <a:spAutoFit/>
          </a:bodyPr>
          <a:lstStyle/>
          <a:p>
            <a:pPr algn="r"/>
            <a:r>
              <a:rPr sz="1050" b="0" i="0">
                <a:solidFill>
                  <a:srgbClr val="FFFFFF"/>
                </a:solidFill>
              </a:rPr>
              <a:t>Sum of all expense log entries</a:t>
            </a:r>
          </a:p>
        </p:txBody>
      </p:sp>
      <p:sp>
        <p:nvSpPr>
          <p:cNvPr id="20" name="TextBox 19"/>
          <p:cNvSpPr txBox="1"/>
          <p:nvPr/>
        </p:nvSpPr>
        <p:spPr>
          <a:xfrm>
            <a:off x="548640" y="4050792"/>
            <a:ext cx="3474720" cy="347472"/>
          </a:xfrm>
          <a:prstGeom prst="rect">
            <a:avLst/>
          </a:prstGeom>
          <a:noFill/>
        </p:spPr>
        <p:txBody>
          <a:bodyPr wrap="square">
            <a:spAutoFit/>
          </a:bodyPr>
          <a:lstStyle/>
          <a:p>
            <a:pPr algn="l"/>
            <a:r>
              <a:rPr sz="1000" b="0" i="0">
                <a:solidFill>
                  <a:srgbClr val="F3F4F6"/>
                </a:solidFill>
              </a:rPr>
              <a:t>─────────────────</a:t>
            </a:r>
          </a:p>
        </p:txBody>
      </p:sp>
      <p:sp>
        <p:nvSpPr>
          <p:cNvPr id="21" name="TextBox 20"/>
          <p:cNvSpPr txBox="1"/>
          <p:nvPr/>
        </p:nvSpPr>
        <p:spPr>
          <a:xfrm>
            <a:off x="4114800" y="4050792"/>
            <a:ext cx="2743200" cy="347472"/>
          </a:xfrm>
          <a:prstGeom prst="rect">
            <a:avLst/>
          </a:prstGeom>
          <a:noFill/>
        </p:spPr>
        <p:txBody>
          <a:bodyPr wrap="square">
            <a:spAutoFit/>
          </a:bodyPr>
          <a:lstStyle/>
          <a:p>
            <a:pPr algn="r"/>
            <a:r>
              <a:rPr sz="1000" b="0" i="0">
                <a:solidFill>
                  <a:srgbClr val="F3F4F6"/>
                </a:solidFill>
              </a:rPr>
              <a:t>────────────────────────</a:t>
            </a:r>
          </a:p>
        </p:txBody>
      </p:sp>
      <p:sp>
        <p:nvSpPr>
          <p:cNvPr id="22" name="TextBox 21"/>
          <p:cNvSpPr txBox="1"/>
          <p:nvPr/>
        </p:nvSpPr>
        <p:spPr>
          <a:xfrm>
            <a:off x="548640" y="4434840"/>
            <a:ext cx="3474720" cy="347472"/>
          </a:xfrm>
          <a:prstGeom prst="rect">
            <a:avLst/>
          </a:prstGeom>
          <a:noFill/>
        </p:spPr>
        <p:txBody>
          <a:bodyPr wrap="square">
            <a:spAutoFit/>
          </a:bodyPr>
          <a:lstStyle/>
          <a:p>
            <a:pPr algn="l"/>
            <a:r>
              <a:rPr sz="1050" b="1" i="0">
                <a:solidFill>
                  <a:srgbClr val="F59E0B"/>
                </a:solidFill>
              </a:rPr>
              <a:t>Net Profit / Loss</a:t>
            </a:r>
          </a:p>
        </p:txBody>
      </p:sp>
      <p:sp>
        <p:nvSpPr>
          <p:cNvPr id="23" name="TextBox 22"/>
          <p:cNvSpPr txBox="1"/>
          <p:nvPr/>
        </p:nvSpPr>
        <p:spPr>
          <a:xfrm>
            <a:off x="4114800" y="4434840"/>
            <a:ext cx="2743200" cy="347472"/>
          </a:xfrm>
          <a:prstGeom prst="rect">
            <a:avLst/>
          </a:prstGeom>
          <a:noFill/>
        </p:spPr>
        <p:txBody>
          <a:bodyPr wrap="square">
            <a:spAutoFit/>
          </a:bodyPr>
          <a:lstStyle/>
          <a:p>
            <a:pPr algn="r"/>
            <a:r>
              <a:rPr sz="1050" b="1" i="0">
                <a:solidFill>
                  <a:srgbClr val="F59E0B"/>
                </a:solidFill>
              </a:rPr>
              <a:t>Revenue − All Cost Categories</a:t>
            </a:r>
          </a:p>
        </p:txBody>
      </p:sp>
      <p:sp>
        <p:nvSpPr>
          <p:cNvPr id="24" name="TextBox 23"/>
          <p:cNvSpPr txBox="1"/>
          <p:nvPr/>
        </p:nvSpPr>
        <p:spPr>
          <a:xfrm>
            <a:off x="548640" y="4818888"/>
            <a:ext cx="3474720" cy="347472"/>
          </a:xfrm>
          <a:prstGeom prst="rect">
            <a:avLst/>
          </a:prstGeom>
          <a:noFill/>
        </p:spPr>
        <p:txBody>
          <a:bodyPr wrap="square">
            <a:spAutoFit/>
          </a:bodyPr>
          <a:lstStyle/>
          <a:p>
            <a:pPr algn="l"/>
            <a:r>
              <a:rPr sz="1050" b="1" i="0">
                <a:solidFill>
                  <a:srgbClr val="F59E0B"/>
                </a:solidFill>
              </a:rPr>
              <a:t>Cost per Hectare (₱/ha)</a:t>
            </a:r>
          </a:p>
        </p:txBody>
      </p:sp>
      <p:sp>
        <p:nvSpPr>
          <p:cNvPr id="25" name="TextBox 24"/>
          <p:cNvSpPr txBox="1"/>
          <p:nvPr/>
        </p:nvSpPr>
        <p:spPr>
          <a:xfrm>
            <a:off x="4114800" y="4818888"/>
            <a:ext cx="2743200" cy="347472"/>
          </a:xfrm>
          <a:prstGeom prst="rect">
            <a:avLst/>
          </a:prstGeom>
          <a:noFill/>
        </p:spPr>
        <p:txBody>
          <a:bodyPr wrap="square">
            <a:spAutoFit/>
          </a:bodyPr>
          <a:lstStyle/>
          <a:p>
            <a:pPr algn="r"/>
            <a:r>
              <a:rPr sz="1050" b="1" i="0">
                <a:solidFill>
                  <a:srgbClr val="F59E0B"/>
                </a:solidFill>
              </a:rPr>
              <a:t>Total Costs ÷ Planted Hectares</a:t>
            </a:r>
          </a:p>
        </p:txBody>
      </p:sp>
      <p:sp>
        <p:nvSpPr>
          <p:cNvPr id="26" name="TextBox 25"/>
          <p:cNvSpPr txBox="1"/>
          <p:nvPr/>
        </p:nvSpPr>
        <p:spPr>
          <a:xfrm>
            <a:off x="548640" y="5202936"/>
            <a:ext cx="3474720" cy="347472"/>
          </a:xfrm>
          <a:prstGeom prst="rect">
            <a:avLst/>
          </a:prstGeom>
          <a:noFill/>
        </p:spPr>
        <p:txBody>
          <a:bodyPr wrap="square">
            <a:spAutoFit/>
          </a:bodyPr>
          <a:lstStyle/>
          <a:p>
            <a:pPr algn="l"/>
            <a:r>
              <a:rPr sz="1050" b="1" i="0">
                <a:solidFill>
                  <a:srgbClr val="F59E0B"/>
                </a:solidFill>
              </a:rPr>
              <a:t>Cost per Kilogram (₱/kg)</a:t>
            </a:r>
          </a:p>
        </p:txBody>
      </p:sp>
      <p:sp>
        <p:nvSpPr>
          <p:cNvPr id="27" name="TextBox 26"/>
          <p:cNvSpPr txBox="1"/>
          <p:nvPr/>
        </p:nvSpPr>
        <p:spPr>
          <a:xfrm>
            <a:off x="4114800" y="5202936"/>
            <a:ext cx="2743200" cy="347472"/>
          </a:xfrm>
          <a:prstGeom prst="rect">
            <a:avLst/>
          </a:prstGeom>
          <a:noFill/>
        </p:spPr>
        <p:txBody>
          <a:bodyPr wrap="square">
            <a:spAutoFit/>
          </a:bodyPr>
          <a:lstStyle/>
          <a:p>
            <a:pPr algn="r"/>
            <a:r>
              <a:rPr sz="1050" b="1" i="0">
                <a:solidFill>
                  <a:srgbClr val="F59E0B"/>
                </a:solidFill>
              </a:rPr>
              <a:t>Total Costs ÷ Harvest Kilograms</a:t>
            </a:r>
          </a:p>
        </p:txBody>
      </p:sp>
      <p:sp>
        <p:nvSpPr>
          <p:cNvPr id="28" name="TextBox 27"/>
          <p:cNvSpPr txBox="1"/>
          <p:nvPr/>
        </p:nvSpPr>
        <p:spPr>
          <a:xfrm>
            <a:off x="548640" y="5586984"/>
            <a:ext cx="3474720" cy="347472"/>
          </a:xfrm>
          <a:prstGeom prst="rect">
            <a:avLst/>
          </a:prstGeom>
          <a:noFill/>
        </p:spPr>
        <p:txBody>
          <a:bodyPr wrap="square">
            <a:spAutoFit/>
          </a:bodyPr>
          <a:lstStyle/>
          <a:p>
            <a:pPr algn="l"/>
            <a:r>
              <a:rPr sz="1050" b="1" i="0">
                <a:solidFill>
                  <a:srgbClr val="F59E0B"/>
                </a:solidFill>
              </a:rPr>
              <a:t>Yield Realization %</a:t>
            </a:r>
          </a:p>
        </p:txBody>
      </p:sp>
      <p:sp>
        <p:nvSpPr>
          <p:cNvPr id="29" name="TextBox 28"/>
          <p:cNvSpPr txBox="1"/>
          <p:nvPr/>
        </p:nvSpPr>
        <p:spPr>
          <a:xfrm>
            <a:off x="4114800" y="5586984"/>
            <a:ext cx="2743200" cy="347472"/>
          </a:xfrm>
          <a:prstGeom prst="rect">
            <a:avLst/>
          </a:prstGeom>
          <a:noFill/>
        </p:spPr>
        <p:txBody>
          <a:bodyPr wrap="square">
            <a:spAutoFit/>
          </a:bodyPr>
          <a:lstStyle/>
          <a:p>
            <a:pPr algn="r"/>
            <a:r>
              <a:rPr sz="1050" b="1" i="0">
                <a:solidFill>
                  <a:srgbClr val="F59E0B"/>
                </a:solidFill>
              </a:rPr>
              <a:t>Actual Yield ÷ Planned Yield × 100%</a:t>
            </a:r>
          </a:p>
        </p:txBody>
      </p:sp>
      <p:sp>
        <p:nvSpPr>
          <p:cNvPr id="30" name="Rectangle 29"/>
          <p:cNvSpPr/>
          <p:nvPr/>
        </p:nvSpPr>
        <p:spPr>
          <a:xfrm>
            <a:off x="7223760" y="2011680"/>
            <a:ext cx="4572000" cy="3840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0" y="2103120"/>
            <a:ext cx="4206240" cy="347472"/>
          </a:xfrm>
          <a:prstGeom prst="rect">
            <a:avLst/>
          </a:prstGeom>
          <a:noFill/>
        </p:spPr>
        <p:txBody>
          <a:bodyPr wrap="square">
            <a:spAutoFit/>
          </a:bodyPr>
          <a:lstStyle/>
          <a:p>
            <a:pPr algn="l"/>
            <a:r>
              <a:rPr sz="1300" b="1" i="0">
                <a:solidFill>
                  <a:srgbClr val="FFFFFF"/>
                </a:solidFill>
              </a:rPr>
              <a:t>🔮  Yield Forecast Engine</a:t>
            </a:r>
          </a:p>
        </p:txBody>
      </p:sp>
      <p:sp>
        <p:nvSpPr>
          <p:cNvPr id="32" name="TextBox 31"/>
          <p:cNvSpPr txBox="1"/>
          <p:nvPr/>
        </p:nvSpPr>
        <p:spPr>
          <a:xfrm>
            <a:off x="7406640" y="2514600"/>
            <a:ext cx="4206240" cy="411480"/>
          </a:xfrm>
          <a:prstGeom prst="rect">
            <a:avLst/>
          </a:prstGeom>
          <a:noFill/>
        </p:spPr>
        <p:txBody>
          <a:bodyPr wrap="square">
            <a:spAutoFit/>
          </a:bodyPr>
          <a:lstStyle/>
          <a:p>
            <a:pPr algn="l"/>
            <a:r>
              <a:rPr sz="1000" b="0" i="1">
                <a:solidFill>
                  <a:srgbClr val="93C5FD"/>
                </a:solidFill>
              </a:rPr>
              <a:t>Tap 'Interactive Forecast Tool' at the bottom of the analytics screen</a:t>
            </a:r>
          </a:p>
        </p:txBody>
      </p:sp>
      <p:sp>
        <p:nvSpPr>
          <p:cNvPr id="33" name="TextBox 32"/>
          <p:cNvSpPr txBox="1"/>
          <p:nvPr/>
        </p:nvSpPr>
        <p:spPr>
          <a:xfrm>
            <a:off x="7406640" y="2971800"/>
            <a:ext cx="4206240" cy="347472"/>
          </a:xfrm>
          <a:prstGeom prst="rect">
            <a:avLst/>
          </a:prstGeom>
          <a:noFill/>
        </p:spPr>
        <p:txBody>
          <a:bodyPr wrap="square">
            <a:spAutoFit/>
          </a:bodyPr>
          <a:lstStyle/>
          <a:p>
            <a:pPr algn="l"/>
            <a:r>
              <a:rPr sz="1050" b="0" i="0">
                <a:solidFill>
                  <a:srgbClr val="FFFFFF"/>
                </a:solidFill>
              </a:rPr>
              <a:t>▶  Set Plantable Area → e.g., 5.0 ha</a:t>
            </a:r>
          </a:p>
        </p:txBody>
      </p:sp>
      <p:sp>
        <p:nvSpPr>
          <p:cNvPr id="34" name="TextBox 33"/>
          <p:cNvSpPr txBox="1"/>
          <p:nvPr/>
        </p:nvSpPr>
        <p:spPr>
          <a:xfrm>
            <a:off x="7406640" y="3374136"/>
            <a:ext cx="4206240" cy="347472"/>
          </a:xfrm>
          <a:prstGeom prst="rect">
            <a:avLst/>
          </a:prstGeom>
          <a:noFill/>
        </p:spPr>
        <p:txBody>
          <a:bodyPr wrap="square">
            <a:spAutoFit/>
          </a:bodyPr>
          <a:lstStyle/>
          <a:p>
            <a:pPr algn="l"/>
            <a:r>
              <a:rPr sz="1050" b="0" i="0">
                <a:solidFill>
                  <a:srgbClr val="FFFFFF"/>
                </a:solidFill>
              </a:rPr>
              <a:t>▶  Set Field Health → Excellent / Good / Fair / Poor</a:t>
            </a:r>
          </a:p>
        </p:txBody>
      </p:sp>
      <p:sp>
        <p:nvSpPr>
          <p:cNvPr id="35" name="TextBox 34"/>
          <p:cNvSpPr txBox="1"/>
          <p:nvPr/>
        </p:nvSpPr>
        <p:spPr>
          <a:xfrm>
            <a:off x="7406640" y="3776472"/>
            <a:ext cx="4206240" cy="347472"/>
          </a:xfrm>
          <a:prstGeom prst="rect">
            <a:avLst/>
          </a:prstGeom>
          <a:noFill/>
        </p:spPr>
        <p:txBody>
          <a:bodyPr wrap="square">
            <a:spAutoFit/>
          </a:bodyPr>
          <a:lstStyle/>
          <a:p>
            <a:pPr algn="l"/>
            <a:r>
              <a:rPr sz="1050" b="0" i="0">
                <a:solidFill>
                  <a:srgbClr val="FFFFFF"/>
                </a:solidFill>
              </a:rPr>
              <a:t>▶  Select Crop Variety → KU50 / Golden Yellow</a:t>
            </a:r>
          </a:p>
        </p:txBody>
      </p:sp>
      <p:sp>
        <p:nvSpPr>
          <p:cNvPr id="36" name="TextBox 35"/>
          <p:cNvSpPr txBox="1"/>
          <p:nvPr/>
        </p:nvSpPr>
        <p:spPr>
          <a:xfrm>
            <a:off x="7406640" y="4178808"/>
            <a:ext cx="4206240" cy="347472"/>
          </a:xfrm>
          <a:prstGeom prst="rect">
            <a:avLst/>
          </a:prstGeom>
          <a:noFill/>
        </p:spPr>
        <p:txBody>
          <a:bodyPr wrap="square">
            <a:spAutoFit/>
          </a:bodyPr>
          <a:lstStyle/>
          <a:p>
            <a:pPr algn="l"/>
            <a:r>
              <a:rPr sz="1050" b="0" i="0">
                <a:solidFill>
                  <a:srgbClr val="FFFFFF"/>
                </a:solidFill>
              </a:rPr>
              <a:t>▶  Set Projected Offtake Price → e.g., ₱4.20/kg</a:t>
            </a:r>
          </a:p>
        </p:txBody>
      </p:sp>
      <p:sp>
        <p:nvSpPr>
          <p:cNvPr id="37" name="TextBox 36"/>
          <p:cNvSpPr txBox="1"/>
          <p:nvPr/>
        </p:nvSpPr>
        <p:spPr>
          <a:xfrm>
            <a:off x="7406640" y="4581144"/>
            <a:ext cx="4206240" cy="347472"/>
          </a:xfrm>
          <a:prstGeom prst="rect">
            <a:avLst/>
          </a:prstGeom>
          <a:noFill/>
        </p:spPr>
        <p:txBody>
          <a:bodyPr wrap="square">
            <a:spAutoFit/>
          </a:bodyPr>
          <a:lstStyle/>
          <a:p>
            <a:pPr algn="l"/>
            <a:r>
              <a:rPr sz="1050" b="0" i="0">
                <a:solidFill>
                  <a:srgbClr val="FFFFFF"/>
                </a:solidFill>
              </a:rPr>
              <a:t>▶  Tap 'Generate Forecast'</a:t>
            </a:r>
          </a:p>
        </p:txBody>
      </p:sp>
      <p:sp>
        <p:nvSpPr>
          <p:cNvPr id="38" name="TextBox 37"/>
          <p:cNvSpPr txBox="1"/>
          <p:nvPr/>
        </p:nvSpPr>
        <p:spPr>
          <a:xfrm>
            <a:off x="7406640" y="4983480"/>
            <a:ext cx="4206240" cy="685800"/>
          </a:xfrm>
          <a:prstGeom prst="rect">
            <a:avLst/>
          </a:prstGeom>
          <a:noFill/>
        </p:spPr>
        <p:txBody>
          <a:bodyPr wrap="square">
            <a:spAutoFit/>
          </a:bodyPr>
          <a:lstStyle/>
          <a:p>
            <a:pPr algn="l"/>
            <a:r>
              <a:rPr sz="1000" b="0" i="1">
                <a:solidFill>
                  <a:srgbClr val="93C5FD"/>
                </a:solidFill>
              </a:rPr>
              <a:t>Output: Projected Harvest kg / Gross Revenue / Operating Costs / Net Margin %</a:t>
            </a:r>
          </a:p>
        </p:txBody>
      </p:sp>
      <p:sp>
        <p:nvSpPr>
          <p:cNvPr id="39" name="Rectangle 38"/>
          <p:cNvSpPr/>
          <p:nvPr/>
        </p:nvSpPr>
        <p:spPr>
          <a:xfrm>
            <a:off x="365760" y="5961888"/>
            <a:ext cx="11430000" cy="566928"/>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6016752"/>
            <a:ext cx="10972800" cy="457200"/>
          </a:xfrm>
          <a:prstGeom prst="rect">
            <a:avLst/>
          </a:prstGeom>
          <a:noFill/>
        </p:spPr>
        <p:txBody>
          <a:bodyPr wrap="square">
            <a:spAutoFit/>
          </a:bodyPr>
          <a:lstStyle/>
          <a:p>
            <a:pPr algn="l"/>
            <a:r>
              <a:rPr sz="1100" b="0" i="1">
                <a:solidFill>
                  <a:srgbClr val="064E3B"/>
                </a:solidFill>
              </a:rPr>
              <a:t>💡  Run a fresh P&amp;L analysis after every 3rd week of harvest to catch margin drift early and adjust input purchasing decisions for the next growing season.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rPr>
              <a:t>Quick Reference — Complete Module Checklist</a:t>
            </a:r>
          </a:p>
        </p:txBody>
      </p:sp>
      <p:sp>
        <p:nvSpPr>
          <p:cNvPr id="5" name="TextBox 4"/>
          <p:cNvSpPr txBox="1"/>
          <p:nvPr/>
        </p:nvSpPr>
        <p:spPr>
          <a:xfrm>
            <a:off x="457200" y="731520"/>
            <a:ext cx="11274552" cy="365760"/>
          </a:xfrm>
          <a:prstGeom prst="rect">
            <a:avLst/>
          </a:prstGeom>
          <a:noFill/>
        </p:spPr>
        <p:txBody>
          <a:bodyPr wrap="square">
            <a:spAutoFit/>
          </a:bodyPr>
          <a:lstStyle/>
          <a:p>
            <a:pPr algn="l"/>
            <a:r>
              <a:rPr sz="1300" b="0" i="0">
                <a:solidFill>
                  <a:srgbClr val="A7F3D0"/>
                </a:solidFill>
              </a:rPr>
              <a:t>Use this before every harvest run to ensure all operational modules are properly set up</a:t>
            </a:r>
          </a:p>
        </p:txBody>
      </p:sp>
      <p:sp>
        <p:nvSpPr>
          <p:cNvPr id="6" name="Rectangle 5"/>
          <p:cNvSpPr/>
          <p:nvPr/>
        </p:nvSpPr>
        <p:spPr>
          <a:xfrm>
            <a:off x="457200" y="1463040"/>
            <a:ext cx="5577840" cy="822960"/>
          </a:xfrm>
          <a:prstGeom prst="rect">
            <a:avLst/>
          </a:prstGeom>
          <a:solidFill>
            <a:srgbClr val="0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08760"/>
            <a:ext cx="5303520" cy="347472"/>
          </a:xfrm>
          <a:prstGeom prst="rect">
            <a:avLst/>
          </a:prstGeom>
          <a:noFill/>
        </p:spPr>
        <p:txBody>
          <a:bodyPr wrap="square">
            <a:spAutoFit/>
          </a:bodyPr>
          <a:lstStyle/>
          <a:p>
            <a:pPr algn="l"/>
            <a:r>
              <a:rPr sz="1150" b="1" i="0">
                <a:solidFill>
                  <a:srgbClr val="F59E0B"/>
                </a:solidFill>
              </a:rPr>
              <a:t>✅ Module 1  Operator Command Center</a:t>
            </a:r>
          </a:p>
        </p:txBody>
      </p:sp>
      <p:sp>
        <p:nvSpPr>
          <p:cNvPr id="8" name="TextBox 7"/>
          <p:cNvSpPr txBox="1"/>
          <p:nvPr/>
        </p:nvSpPr>
        <p:spPr>
          <a:xfrm>
            <a:off x="594360" y="1883664"/>
            <a:ext cx="5303520" cy="347472"/>
          </a:xfrm>
          <a:prstGeom prst="rect">
            <a:avLst/>
          </a:prstGeom>
          <a:noFill/>
        </p:spPr>
        <p:txBody>
          <a:bodyPr wrap="square">
            <a:spAutoFit/>
          </a:bodyPr>
          <a:lstStyle/>
          <a:p>
            <a:pPr algn="l"/>
            <a:r>
              <a:rPr sz="1000" b="0" i="0">
                <a:solidFill>
                  <a:srgbClr val="D1FAE5"/>
                </a:solidFill>
              </a:rPr>
              <a:t>Review daily KPIs and pending settlement alerts</a:t>
            </a:r>
          </a:p>
        </p:txBody>
      </p:sp>
      <p:sp>
        <p:nvSpPr>
          <p:cNvPr id="9" name="Rectangle 8"/>
          <p:cNvSpPr/>
          <p:nvPr/>
        </p:nvSpPr>
        <p:spPr>
          <a:xfrm>
            <a:off x="6309360" y="1463040"/>
            <a:ext cx="5577840" cy="822960"/>
          </a:xfrm>
          <a:prstGeom prst="rect">
            <a:avLst/>
          </a:prstGeom>
          <a:solidFill>
            <a:srgbClr val="0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08760"/>
            <a:ext cx="5303520" cy="347472"/>
          </a:xfrm>
          <a:prstGeom prst="rect">
            <a:avLst/>
          </a:prstGeom>
          <a:noFill/>
        </p:spPr>
        <p:txBody>
          <a:bodyPr wrap="square">
            <a:spAutoFit/>
          </a:bodyPr>
          <a:lstStyle/>
          <a:p>
            <a:pPr algn="l"/>
            <a:r>
              <a:rPr sz="1150" b="1" i="0">
                <a:solidFill>
                  <a:srgbClr val="F59E0B"/>
                </a:solidFill>
              </a:rPr>
              <a:t>✅ Module 2  Land Parcels Registry</a:t>
            </a:r>
          </a:p>
        </p:txBody>
      </p:sp>
      <p:sp>
        <p:nvSpPr>
          <p:cNvPr id="11" name="TextBox 10"/>
          <p:cNvSpPr txBox="1"/>
          <p:nvPr/>
        </p:nvSpPr>
        <p:spPr>
          <a:xfrm>
            <a:off x="6446520" y="1883664"/>
            <a:ext cx="5303520" cy="347472"/>
          </a:xfrm>
          <a:prstGeom prst="rect">
            <a:avLst/>
          </a:prstGeom>
          <a:noFill/>
        </p:spPr>
        <p:txBody>
          <a:bodyPr wrap="square">
            <a:spAutoFit/>
          </a:bodyPr>
          <a:lstStyle/>
          <a:p>
            <a:pPr algn="l"/>
            <a:r>
              <a:rPr sz="1000" b="0" i="0">
                <a:solidFill>
                  <a:srgbClr val="D1FAE5"/>
                </a:solidFill>
              </a:rPr>
              <a:t>Parcel registered with correct hectares and landowner details</a:t>
            </a:r>
          </a:p>
        </p:txBody>
      </p:sp>
      <p:sp>
        <p:nvSpPr>
          <p:cNvPr id="12" name="Rectangle 11"/>
          <p:cNvSpPr/>
          <p:nvPr/>
        </p:nvSpPr>
        <p:spPr>
          <a:xfrm>
            <a:off x="457200" y="2423160"/>
            <a:ext cx="5577840" cy="822960"/>
          </a:xfrm>
          <a:prstGeom prst="rect">
            <a:avLst/>
          </a:prstGeom>
          <a:solidFill>
            <a:srgbClr val="0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468880"/>
            <a:ext cx="5303520" cy="347472"/>
          </a:xfrm>
          <a:prstGeom prst="rect">
            <a:avLst/>
          </a:prstGeom>
          <a:noFill/>
        </p:spPr>
        <p:txBody>
          <a:bodyPr wrap="square">
            <a:spAutoFit/>
          </a:bodyPr>
          <a:lstStyle/>
          <a:p>
            <a:pPr algn="l"/>
            <a:r>
              <a:rPr sz="1150" b="1" i="0">
                <a:solidFill>
                  <a:srgbClr val="F59E0B"/>
                </a:solidFill>
              </a:rPr>
              <a:t>✅ Module 3  GPS Boundary Mapping</a:t>
            </a:r>
          </a:p>
        </p:txBody>
      </p:sp>
      <p:sp>
        <p:nvSpPr>
          <p:cNvPr id="14" name="TextBox 13"/>
          <p:cNvSpPr txBox="1"/>
          <p:nvPr/>
        </p:nvSpPr>
        <p:spPr>
          <a:xfrm>
            <a:off x="594360" y="2843784"/>
            <a:ext cx="5303520" cy="347472"/>
          </a:xfrm>
          <a:prstGeom prst="rect">
            <a:avLst/>
          </a:prstGeom>
          <a:noFill/>
        </p:spPr>
        <p:txBody>
          <a:bodyPr wrap="square">
            <a:spAutoFit/>
          </a:bodyPr>
          <a:lstStyle/>
          <a:p>
            <a:pPr algn="l"/>
            <a:r>
              <a:rPr sz="1000" b="0" i="0">
                <a:solidFill>
                  <a:srgbClr val="D1FAE5"/>
                </a:solidFill>
              </a:rPr>
              <a:t>GPS polygon saved and visible on map</a:t>
            </a:r>
          </a:p>
        </p:txBody>
      </p:sp>
      <p:sp>
        <p:nvSpPr>
          <p:cNvPr id="15" name="Rectangle 14"/>
          <p:cNvSpPr/>
          <p:nvPr/>
        </p:nvSpPr>
        <p:spPr>
          <a:xfrm>
            <a:off x="6309360" y="2423160"/>
            <a:ext cx="5577840" cy="822960"/>
          </a:xfrm>
          <a:prstGeom prst="rect">
            <a:avLst/>
          </a:prstGeom>
          <a:solidFill>
            <a:srgbClr val="0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468880"/>
            <a:ext cx="5303520" cy="347472"/>
          </a:xfrm>
          <a:prstGeom prst="rect">
            <a:avLst/>
          </a:prstGeom>
          <a:noFill/>
        </p:spPr>
        <p:txBody>
          <a:bodyPr wrap="square">
            <a:spAutoFit/>
          </a:bodyPr>
          <a:lstStyle/>
          <a:p>
            <a:pPr algn="l"/>
            <a:r>
              <a:rPr sz="1150" b="1" i="0">
                <a:solidFill>
                  <a:srgbClr val="F59E0B"/>
                </a:solidFill>
              </a:rPr>
              <a:t>✅ Module 4  Cassava Crop Cycles</a:t>
            </a:r>
          </a:p>
        </p:txBody>
      </p:sp>
      <p:sp>
        <p:nvSpPr>
          <p:cNvPr id="17" name="TextBox 16"/>
          <p:cNvSpPr txBox="1"/>
          <p:nvPr/>
        </p:nvSpPr>
        <p:spPr>
          <a:xfrm>
            <a:off x="6446520" y="2843784"/>
            <a:ext cx="5303520" cy="347472"/>
          </a:xfrm>
          <a:prstGeom prst="rect">
            <a:avLst/>
          </a:prstGeom>
          <a:noFill/>
        </p:spPr>
        <p:txBody>
          <a:bodyPr wrap="square">
            <a:spAutoFit/>
          </a:bodyPr>
          <a:lstStyle/>
          <a:p>
            <a:pPr algn="l"/>
            <a:r>
              <a:rPr sz="1000" b="0" i="0">
                <a:solidFill>
                  <a:srgbClr val="D1FAE5"/>
                </a:solidFill>
              </a:rPr>
              <a:t>Crop cycle created with investor capital recorded</a:t>
            </a:r>
          </a:p>
        </p:txBody>
      </p:sp>
      <p:sp>
        <p:nvSpPr>
          <p:cNvPr id="18" name="Rectangle 17"/>
          <p:cNvSpPr/>
          <p:nvPr/>
        </p:nvSpPr>
        <p:spPr>
          <a:xfrm>
            <a:off x="457200" y="3383280"/>
            <a:ext cx="5577840" cy="822960"/>
          </a:xfrm>
          <a:prstGeom prst="rect">
            <a:avLst/>
          </a:prstGeom>
          <a:solidFill>
            <a:srgbClr val="0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429000"/>
            <a:ext cx="5303520" cy="347472"/>
          </a:xfrm>
          <a:prstGeom prst="rect">
            <a:avLst/>
          </a:prstGeom>
          <a:noFill/>
        </p:spPr>
        <p:txBody>
          <a:bodyPr wrap="square">
            <a:spAutoFit/>
          </a:bodyPr>
          <a:lstStyle/>
          <a:p>
            <a:pPr algn="l"/>
            <a:r>
              <a:rPr sz="1150" b="1" i="0">
                <a:solidFill>
                  <a:srgbClr val="F59E0B"/>
                </a:solidFill>
              </a:rPr>
              <a:t>✅ Module 5  Harvest Scale Terminal</a:t>
            </a:r>
          </a:p>
        </p:txBody>
      </p:sp>
      <p:sp>
        <p:nvSpPr>
          <p:cNvPr id="20" name="TextBox 19"/>
          <p:cNvSpPr txBox="1"/>
          <p:nvPr/>
        </p:nvSpPr>
        <p:spPr>
          <a:xfrm>
            <a:off x="594360" y="3803904"/>
            <a:ext cx="5303520" cy="347472"/>
          </a:xfrm>
          <a:prstGeom prst="rect">
            <a:avLst/>
          </a:prstGeom>
          <a:noFill/>
        </p:spPr>
        <p:txBody>
          <a:bodyPr wrap="square">
            <a:spAutoFit/>
          </a:bodyPr>
          <a:lstStyle/>
          <a:p>
            <a:pPr algn="l"/>
            <a:r>
              <a:rPr sz="1000" b="0" i="0">
                <a:solidFill>
                  <a:srgbClr val="D1FAE5"/>
                </a:solidFill>
              </a:rPr>
              <a:t>Tare weight zeroed; supervisor assigned to weigh-in</a:t>
            </a:r>
          </a:p>
        </p:txBody>
      </p:sp>
      <p:sp>
        <p:nvSpPr>
          <p:cNvPr id="21" name="Rectangle 20"/>
          <p:cNvSpPr/>
          <p:nvPr/>
        </p:nvSpPr>
        <p:spPr>
          <a:xfrm>
            <a:off x="6309360" y="3383280"/>
            <a:ext cx="5577840" cy="822960"/>
          </a:xfrm>
          <a:prstGeom prst="rect">
            <a:avLst/>
          </a:prstGeom>
          <a:solidFill>
            <a:srgbClr val="0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3429000"/>
            <a:ext cx="5303520" cy="347472"/>
          </a:xfrm>
          <a:prstGeom prst="rect">
            <a:avLst/>
          </a:prstGeom>
          <a:noFill/>
        </p:spPr>
        <p:txBody>
          <a:bodyPr wrap="square">
            <a:spAutoFit/>
          </a:bodyPr>
          <a:lstStyle/>
          <a:p>
            <a:pPr algn="l"/>
            <a:r>
              <a:rPr sz="1150" b="1" i="0">
                <a:solidFill>
                  <a:srgbClr val="F59E0B"/>
                </a:solidFill>
              </a:rPr>
              <a:t>✅ Module 6  Land Owner Settlements</a:t>
            </a:r>
          </a:p>
        </p:txBody>
      </p:sp>
      <p:sp>
        <p:nvSpPr>
          <p:cNvPr id="23" name="TextBox 22"/>
          <p:cNvSpPr txBox="1"/>
          <p:nvPr/>
        </p:nvSpPr>
        <p:spPr>
          <a:xfrm>
            <a:off x="6446520" y="3803904"/>
            <a:ext cx="5303520" cy="347472"/>
          </a:xfrm>
          <a:prstGeom prst="rect">
            <a:avLst/>
          </a:prstGeom>
          <a:noFill/>
        </p:spPr>
        <p:txBody>
          <a:bodyPr wrap="square">
            <a:spAutoFit/>
          </a:bodyPr>
          <a:lstStyle/>
          <a:p>
            <a:pPr algn="l"/>
            <a:r>
              <a:rPr sz="1000" b="0" i="0">
                <a:solidFill>
                  <a:srgbClr val="D1FAE5"/>
                </a:solidFill>
              </a:rPr>
              <a:t>Weekly settlement computed and disbursed every Saturday</a:t>
            </a:r>
          </a:p>
        </p:txBody>
      </p:sp>
      <p:sp>
        <p:nvSpPr>
          <p:cNvPr id="24" name="Rectangle 23"/>
          <p:cNvSpPr/>
          <p:nvPr/>
        </p:nvSpPr>
        <p:spPr>
          <a:xfrm>
            <a:off x="457200" y="4343400"/>
            <a:ext cx="5577840" cy="822960"/>
          </a:xfrm>
          <a:prstGeom prst="rect">
            <a:avLst/>
          </a:prstGeom>
          <a:solidFill>
            <a:srgbClr val="0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389120"/>
            <a:ext cx="5303520" cy="347472"/>
          </a:xfrm>
          <a:prstGeom prst="rect">
            <a:avLst/>
          </a:prstGeom>
          <a:noFill/>
        </p:spPr>
        <p:txBody>
          <a:bodyPr wrap="square">
            <a:spAutoFit/>
          </a:bodyPr>
          <a:lstStyle/>
          <a:p>
            <a:pPr algn="l"/>
            <a:r>
              <a:rPr sz="1150" b="1" i="0">
                <a:solidFill>
                  <a:srgbClr val="F59E0B"/>
                </a:solidFill>
              </a:rPr>
              <a:t>✅ Module 7  BioGreen Investor Ledger</a:t>
            </a:r>
          </a:p>
        </p:txBody>
      </p:sp>
      <p:sp>
        <p:nvSpPr>
          <p:cNvPr id="26" name="TextBox 25"/>
          <p:cNvSpPr txBox="1"/>
          <p:nvPr/>
        </p:nvSpPr>
        <p:spPr>
          <a:xfrm>
            <a:off x="594360" y="4764024"/>
            <a:ext cx="5303520" cy="347472"/>
          </a:xfrm>
          <a:prstGeom prst="rect">
            <a:avLst/>
          </a:prstGeom>
          <a:noFill/>
        </p:spPr>
        <p:txBody>
          <a:bodyPr wrap="square">
            <a:spAutoFit/>
          </a:bodyPr>
          <a:lstStyle/>
          <a:p>
            <a:pPr algn="l"/>
            <a:r>
              <a:rPr sz="1000" b="0" i="0">
                <a:solidFill>
                  <a:srgbClr val="D1FAE5"/>
                </a:solidFill>
              </a:rPr>
              <a:t>Capital injection recorded; offtake deliveries logged</a:t>
            </a:r>
          </a:p>
        </p:txBody>
      </p:sp>
      <p:sp>
        <p:nvSpPr>
          <p:cNvPr id="27" name="Rectangle 26"/>
          <p:cNvSpPr/>
          <p:nvPr/>
        </p:nvSpPr>
        <p:spPr>
          <a:xfrm>
            <a:off x="6309360" y="4343400"/>
            <a:ext cx="5577840" cy="822960"/>
          </a:xfrm>
          <a:prstGeom prst="rect">
            <a:avLst/>
          </a:prstGeom>
          <a:solidFill>
            <a:srgbClr val="0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4389120"/>
            <a:ext cx="5303520" cy="347472"/>
          </a:xfrm>
          <a:prstGeom prst="rect">
            <a:avLst/>
          </a:prstGeom>
          <a:noFill/>
        </p:spPr>
        <p:txBody>
          <a:bodyPr wrap="square">
            <a:spAutoFit/>
          </a:bodyPr>
          <a:lstStyle/>
          <a:p>
            <a:pPr algn="l"/>
            <a:r>
              <a:rPr sz="1150" b="1" i="0">
                <a:solidFill>
                  <a:srgbClr val="F59E0B"/>
                </a:solidFill>
              </a:rPr>
              <a:t>✅ Module 8  Farm Labor &amp; Payroll</a:t>
            </a:r>
          </a:p>
        </p:txBody>
      </p:sp>
      <p:sp>
        <p:nvSpPr>
          <p:cNvPr id="29" name="TextBox 28"/>
          <p:cNvSpPr txBox="1"/>
          <p:nvPr/>
        </p:nvSpPr>
        <p:spPr>
          <a:xfrm>
            <a:off x="6446520" y="4764024"/>
            <a:ext cx="5303520" cy="347472"/>
          </a:xfrm>
          <a:prstGeom prst="rect">
            <a:avLst/>
          </a:prstGeom>
          <a:noFill/>
        </p:spPr>
        <p:txBody>
          <a:bodyPr wrap="square">
            <a:spAutoFit/>
          </a:bodyPr>
          <a:lstStyle/>
          <a:p>
            <a:pPr algn="l"/>
            <a:r>
              <a:rPr sz="1000" b="0" i="0">
                <a:solidFill>
                  <a:srgbClr val="D1FAE5"/>
                </a:solidFill>
              </a:rPr>
              <a:t>All labor tasks logged; payroll disbursed and marked paid</a:t>
            </a:r>
          </a:p>
        </p:txBody>
      </p:sp>
      <p:sp>
        <p:nvSpPr>
          <p:cNvPr id="30" name="Rectangle 29"/>
          <p:cNvSpPr/>
          <p:nvPr/>
        </p:nvSpPr>
        <p:spPr>
          <a:xfrm>
            <a:off x="457200" y="5303520"/>
            <a:ext cx="5577840" cy="822960"/>
          </a:xfrm>
          <a:prstGeom prst="rect">
            <a:avLst/>
          </a:prstGeom>
          <a:solidFill>
            <a:srgbClr val="0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5349240"/>
            <a:ext cx="5303520" cy="347472"/>
          </a:xfrm>
          <a:prstGeom prst="rect">
            <a:avLst/>
          </a:prstGeom>
          <a:noFill/>
        </p:spPr>
        <p:txBody>
          <a:bodyPr wrap="square">
            <a:spAutoFit/>
          </a:bodyPr>
          <a:lstStyle/>
          <a:p>
            <a:pPr algn="l"/>
            <a:r>
              <a:rPr sz="1150" b="1" i="0">
                <a:solidFill>
                  <a:srgbClr val="F59E0B"/>
                </a:solidFill>
              </a:rPr>
              <a:t>✅ Module 9  Farm Input Expenses</a:t>
            </a:r>
          </a:p>
        </p:txBody>
      </p:sp>
      <p:sp>
        <p:nvSpPr>
          <p:cNvPr id="32" name="TextBox 31"/>
          <p:cNvSpPr txBox="1"/>
          <p:nvPr/>
        </p:nvSpPr>
        <p:spPr>
          <a:xfrm>
            <a:off x="594360" y="5724144"/>
            <a:ext cx="5303520" cy="347472"/>
          </a:xfrm>
          <a:prstGeom prst="rect">
            <a:avLst/>
          </a:prstGeom>
          <a:noFill/>
        </p:spPr>
        <p:txBody>
          <a:bodyPr wrap="square">
            <a:spAutoFit/>
          </a:bodyPr>
          <a:lstStyle/>
          <a:p>
            <a:pPr algn="l"/>
            <a:r>
              <a:rPr sz="1000" b="0" i="0">
                <a:solidFill>
                  <a:srgbClr val="D1FAE5"/>
                </a:solidFill>
              </a:rPr>
              <a:t>All inputs receipted and encoded against correct cycle</a:t>
            </a:r>
          </a:p>
        </p:txBody>
      </p:sp>
      <p:sp>
        <p:nvSpPr>
          <p:cNvPr id="33" name="Rectangle 32"/>
          <p:cNvSpPr/>
          <p:nvPr/>
        </p:nvSpPr>
        <p:spPr>
          <a:xfrm>
            <a:off x="6309360" y="5303520"/>
            <a:ext cx="5577840" cy="822960"/>
          </a:xfrm>
          <a:prstGeom prst="rect">
            <a:avLst/>
          </a:prstGeom>
          <a:solidFill>
            <a:srgbClr val="0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5349240"/>
            <a:ext cx="5303520" cy="347472"/>
          </a:xfrm>
          <a:prstGeom prst="rect">
            <a:avLst/>
          </a:prstGeom>
          <a:noFill/>
        </p:spPr>
        <p:txBody>
          <a:bodyPr wrap="square">
            <a:spAutoFit/>
          </a:bodyPr>
          <a:lstStyle/>
          <a:p>
            <a:pPr algn="l"/>
            <a:r>
              <a:rPr sz="1150" b="1" i="0">
                <a:solidFill>
                  <a:srgbClr val="F59E0B"/>
                </a:solidFill>
              </a:rPr>
              <a:t>✅ Module 10  P&amp;L &amp; Yield Analytics</a:t>
            </a:r>
          </a:p>
        </p:txBody>
      </p:sp>
      <p:sp>
        <p:nvSpPr>
          <p:cNvPr id="35" name="TextBox 34"/>
          <p:cNvSpPr txBox="1"/>
          <p:nvPr/>
        </p:nvSpPr>
        <p:spPr>
          <a:xfrm>
            <a:off x="6446520" y="5724144"/>
            <a:ext cx="5303520" cy="347472"/>
          </a:xfrm>
          <a:prstGeom prst="rect">
            <a:avLst/>
          </a:prstGeom>
          <a:noFill/>
        </p:spPr>
        <p:txBody>
          <a:bodyPr wrap="square">
            <a:spAutoFit/>
          </a:bodyPr>
          <a:lstStyle/>
          <a:p>
            <a:pPr algn="l"/>
            <a:r>
              <a:rPr sz="1000" b="0" i="0">
                <a:solidFill>
                  <a:srgbClr val="D1FAE5"/>
                </a:solidFill>
              </a:rPr>
              <a:t>Cycle P&amp;L reviewed; yield forecast updated for next season</a:t>
            </a:r>
          </a:p>
        </p:txBody>
      </p:sp>
      <p:sp>
        <p:nvSpPr>
          <p:cNvPr id="36" name="Rectangle 35"/>
          <p:cNvSpPr/>
          <p:nvPr/>
        </p:nvSpPr>
        <p:spPr>
          <a:xfrm>
            <a:off x="0" y="6537960"/>
            <a:ext cx="12188952" cy="32004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565392"/>
            <a:ext cx="7315200" cy="274320"/>
          </a:xfrm>
          <a:prstGeom prst="rect">
            <a:avLst/>
          </a:prstGeom>
          <a:noFill/>
        </p:spPr>
        <p:txBody>
          <a:bodyPr wrap="square">
            <a:spAutoFit/>
          </a:bodyPr>
          <a:lstStyle/>
          <a:p>
            <a:pPr algn="l"/>
            <a:r>
              <a:rPr sz="800" b="0" i="0">
                <a:solidFill>
                  <a:srgbClr val="9CA3AF"/>
                </a:solidFill>
              </a:rPr>
              <a:t>JetFarm Agribusiness Outgrower Platform  |  Confidential</a:t>
            </a:r>
          </a:p>
        </p:txBody>
      </p:sp>
      <p:sp>
        <p:nvSpPr>
          <p:cNvPr id="38" name="TextBox 37"/>
          <p:cNvSpPr txBox="1"/>
          <p:nvPr/>
        </p:nvSpPr>
        <p:spPr>
          <a:xfrm>
            <a:off x="10360152" y="6565392"/>
            <a:ext cx="1645920" cy="274320"/>
          </a:xfrm>
          <a:prstGeom prst="rect">
            <a:avLst/>
          </a:prstGeom>
          <a:noFill/>
        </p:spPr>
        <p:txBody>
          <a:bodyPr wrap="square">
            <a:spAutoFit/>
          </a:bodyPr>
          <a:lstStyle/>
          <a:p>
            <a:pPr algn="r"/>
            <a:r>
              <a:rPr sz="800" b="0" i="0">
                <a:solidFill>
                  <a:srgbClr val="9CA3AF"/>
                </a:solidFill>
              </a:rPr>
              <a:t>Slide 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